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3" r:id="rId1"/>
  </p:sldMasterIdLst>
  <p:notesMasterIdLst>
    <p:notesMasterId r:id="rId106"/>
  </p:notesMasterIdLst>
  <p:sldIdLst>
    <p:sldId id="256" r:id="rId2"/>
    <p:sldId id="263" r:id="rId3"/>
    <p:sldId id="264" r:id="rId4"/>
    <p:sldId id="265" r:id="rId5"/>
    <p:sldId id="266" r:id="rId6"/>
    <p:sldId id="257" r:id="rId7"/>
    <p:sldId id="258" r:id="rId8"/>
    <p:sldId id="267" r:id="rId9"/>
    <p:sldId id="268" r:id="rId10"/>
    <p:sldId id="269" r:id="rId11"/>
    <p:sldId id="259" r:id="rId12"/>
    <p:sldId id="260" r:id="rId13"/>
    <p:sldId id="261" r:id="rId14"/>
    <p:sldId id="270" r:id="rId15"/>
    <p:sldId id="271" r:id="rId16"/>
    <p:sldId id="272" r:id="rId17"/>
    <p:sldId id="262" r:id="rId18"/>
    <p:sldId id="273" r:id="rId19"/>
    <p:sldId id="274" r:id="rId20"/>
    <p:sldId id="275" r:id="rId21"/>
    <p:sldId id="276" r:id="rId22"/>
    <p:sldId id="277" r:id="rId23"/>
    <p:sldId id="278" r:id="rId24"/>
    <p:sldId id="280" r:id="rId25"/>
    <p:sldId id="281" r:id="rId26"/>
    <p:sldId id="282" r:id="rId27"/>
    <p:sldId id="283" r:id="rId28"/>
    <p:sldId id="284" r:id="rId29"/>
    <p:sldId id="279"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323" r:id="rId44"/>
    <p:sldId id="324" r:id="rId45"/>
    <p:sldId id="325" r:id="rId46"/>
    <p:sldId id="298" r:id="rId47"/>
    <p:sldId id="299" r:id="rId48"/>
    <p:sldId id="300" r:id="rId49"/>
    <p:sldId id="301" r:id="rId50"/>
    <p:sldId id="302"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21" r:id="rId67"/>
    <p:sldId id="322" r:id="rId68"/>
    <p:sldId id="326" r:id="rId69"/>
    <p:sldId id="327" r:id="rId70"/>
    <p:sldId id="328" r:id="rId71"/>
    <p:sldId id="329" r:id="rId72"/>
    <p:sldId id="330" r:id="rId73"/>
    <p:sldId id="331" r:id="rId74"/>
    <p:sldId id="332" r:id="rId75"/>
    <p:sldId id="333" r:id="rId76"/>
    <p:sldId id="334" r:id="rId77"/>
    <p:sldId id="335" r:id="rId78"/>
    <p:sldId id="336" r:id="rId79"/>
    <p:sldId id="337" r:id="rId80"/>
    <p:sldId id="338" r:id="rId81"/>
    <p:sldId id="339" r:id="rId82"/>
    <p:sldId id="340" r:id="rId83"/>
    <p:sldId id="341" r:id="rId84"/>
    <p:sldId id="342" r:id="rId85"/>
    <p:sldId id="343" r:id="rId86"/>
    <p:sldId id="344" r:id="rId87"/>
    <p:sldId id="345" r:id="rId88"/>
    <p:sldId id="346" r:id="rId89"/>
    <p:sldId id="347" r:id="rId90"/>
    <p:sldId id="348" r:id="rId91"/>
    <p:sldId id="349" r:id="rId92"/>
    <p:sldId id="350" r:id="rId93"/>
    <p:sldId id="351" r:id="rId94"/>
    <p:sldId id="352" r:id="rId95"/>
    <p:sldId id="353" r:id="rId96"/>
    <p:sldId id="354" r:id="rId97"/>
    <p:sldId id="355" r:id="rId98"/>
    <p:sldId id="356" r:id="rId99"/>
    <p:sldId id="357" r:id="rId100"/>
    <p:sldId id="358" r:id="rId101"/>
    <p:sldId id="359" r:id="rId102"/>
    <p:sldId id="360" r:id="rId103"/>
    <p:sldId id="361" r:id="rId104"/>
    <p:sldId id="362" r:id="rId105"/>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i ekici" userId="c23b7aad42bda20f" providerId="LiveId" clId="{83DE8846-9D9D-4F29-8E47-E255B136136F}"/>
    <pc:docChg chg="undo custSel addSld modSld sldOrd">
      <pc:chgData name="sami ekici" userId="c23b7aad42bda20f" providerId="LiveId" clId="{83DE8846-9D9D-4F29-8E47-E255B136136F}" dt="2020-05-05T00:00:06.350" v="791" actId="20577"/>
      <pc:docMkLst>
        <pc:docMk/>
      </pc:docMkLst>
      <pc:sldChg chg="modSp new mod">
        <pc:chgData name="sami ekici" userId="c23b7aad42bda20f" providerId="LiveId" clId="{83DE8846-9D9D-4F29-8E47-E255B136136F}" dt="2020-05-04T21:07:49.658" v="67" actId="122"/>
        <pc:sldMkLst>
          <pc:docMk/>
          <pc:sldMk cId="1303154034" sldId="256"/>
        </pc:sldMkLst>
        <pc:spChg chg="mod">
          <ac:chgData name="sami ekici" userId="c23b7aad42bda20f" providerId="LiveId" clId="{83DE8846-9D9D-4F29-8E47-E255B136136F}" dt="2020-05-04T21:07:49.658" v="67" actId="122"/>
          <ac:spMkLst>
            <pc:docMk/>
            <pc:sldMk cId="1303154034" sldId="256"/>
            <ac:spMk id="2" creationId="{0D0B18B7-3BED-4B47-8884-D32F592D00D5}"/>
          </ac:spMkLst>
        </pc:spChg>
        <pc:spChg chg="mod">
          <ac:chgData name="sami ekici" userId="c23b7aad42bda20f" providerId="LiveId" clId="{83DE8846-9D9D-4F29-8E47-E255B136136F}" dt="2020-05-04T21:07:45.359" v="66" actId="122"/>
          <ac:spMkLst>
            <pc:docMk/>
            <pc:sldMk cId="1303154034" sldId="256"/>
            <ac:spMk id="3" creationId="{8F9307F7-2548-4F8B-9360-AFD8A4C50DD8}"/>
          </ac:spMkLst>
        </pc:spChg>
      </pc:sldChg>
      <pc:sldChg chg="modSp new mod">
        <pc:chgData name="sami ekici" userId="c23b7aad42bda20f" providerId="LiveId" clId="{83DE8846-9D9D-4F29-8E47-E255B136136F}" dt="2020-05-04T21:26:10.775" v="420" actId="27636"/>
        <pc:sldMkLst>
          <pc:docMk/>
          <pc:sldMk cId="3956895247" sldId="257"/>
        </pc:sldMkLst>
        <pc:spChg chg="mod">
          <ac:chgData name="sami ekici" userId="c23b7aad42bda20f" providerId="LiveId" clId="{83DE8846-9D9D-4F29-8E47-E255B136136F}" dt="2020-05-04T21:09:23.900" v="70" actId="27636"/>
          <ac:spMkLst>
            <pc:docMk/>
            <pc:sldMk cId="3956895247" sldId="257"/>
            <ac:spMk id="2" creationId="{B5318DC6-EDEB-4922-AA28-D17F05F59B1B}"/>
          </ac:spMkLst>
        </pc:spChg>
        <pc:spChg chg="mod">
          <ac:chgData name="sami ekici" userId="c23b7aad42bda20f" providerId="LiveId" clId="{83DE8846-9D9D-4F29-8E47-E255B136136F}" dt="2020-05-04T21:26:10.775" v="420" actId="27636"/>
          <ac:spMkLst>
            <pc:docMk/>
            <pc:sldMk cId="3956895247" sldId="257"/>
            <ac:spMk id="3" creationId="{488FFE75-266C-4774-81C9-73798C3BBA43}"/>
          </ac:spMkLst>
        </pc:spChg>
      </pc:sldChg>
      <pc:sldChg chg="addSp delSp modSp new mod">
        <pc:chgData name="sami ekici" userId="c23b7aad42bda20f" providerId="LiveId" clId="{83DE8846-9D9D-4F29-8E47-E255B136136F}" dt="2020-05-04T21:39:29.943" v="463" actId="1076"/>
        <pc:sldMkLst>
          <pc:docMk/>
          <pc:sldMk cId="1683994754" sldId="258"/>
        </pc:sldMkLst>
        <pc:spChg chg="mod">
          <ac:chgData name="sami ekici" userId="c23b7aad42bda20f" providerId="LiveId" clId="{83DE8846-9D9D-4F29-8E47-E255B136136F}" dt="2020-05-04T21:27:19.613" v="451" actId="20577"/>
          <ac:spMkLst>
            <pc:docMk/>
            <pc:sldMk cId="1683994754" sldId="258"/>
            <ac:spMk id="2" creationId="{1CC73E32-2E09-42B9-A0CD-E467680B2403}"/>
          </ac:spMkLst>
        </pc:spChg>
        <pc:spChg chg="add del mod">
          <ac:chgData name="sami ekici" userId="c23b7aad42bda20f" providerId="LiveId" clId="{83DE8846-9D9D-4F29-8E47-E255B136136F}" dt="2020-05-04T21:39:20.121" v="462" actId="20577"/>
          <ac:spMkLst>
            <pc:docMk/>
            <pc:sldMk cId="1683994754" sldId="258"/>
            <ac:spMk id="3" creationId="{93030B1F-C08F-4246-9179-FBFF5C56A538}"/>
          </ac:spMkLst>
        </pc:spChg>
        <pc:picChg chg="add del mod">
          <ac:chgData name="sami ekici" userId="c23b7aad42bda20f" providerId="LiveId" clId="{83DE8846-9D9D-4F29-8E47-E255B136136F}" dt="2020-05-04T21:25:39.715" v="412"/>
          <ac:picMkLst>
            <pc:docMk/>
            <pc:sldMk cId="1683994754" sldId="258"/>
            <ac:picMk id="1026" creationId="{04040FFD-0D3B-4E97-8E87-B4617841576D}"/>
          </ac:picMkLst>
        </pc:picChg>
        <pc:picChg chg="add mod">
          <ac:chgData name="sami ekici" userId="c23b7aad42bda20f" providerId="LiveId" clId="{83DE8846-9D9D-4F29-8E47-E255B136136F}" dt="2020-05-04T21:39:29.943" v="463" actId="1076"/>
          <ac:picMkLst>
            <pc:docMk/>
            <pc:sldMk cId="1683994754" sldId="258"/>
            <ac:picMk id="1028" creationId="{2EE02255-1F52-480B-B41F-9C098409B99B}"/>
          </ac:picMkLst>
        </pc:picChg>
      </pc:sldChg>
      <pc:sldChg chg="addSp delSp modSp new mod">
        <pc:chgData name="sami ekici" userId="c23b7aad42bda20f" providerId="LiveId" clId="{83DE8846-9D9D-4F29-8E47-E255B136136F}" dt="2020-05-04T21:45:20.171" v="502" actId="1076"/>
        <pc:sldMkLst>
          <pc:docMk/>
          <pc:sldMk cId="757171665" sldId="259"/>
        </pc:sldMkLst>
        <pc:spChg chg="del">
          <ac:chgData name="sami ekici" userId="c23b7aad42bda20f" providerId="LiveId" clId="{83DE8846-9D9D-4F29-8E47-E255B136136F}" dt="2020-05-04T21:41:04.405" v="464" actId="478"/>
          <ac:spMkLst>
            <pc:docMk/>
            <pc:sldMk cId="757171665" sldId="259"/>
            <ac:spMk id="2" creationId="{C0278DBC-A0CA-4584-8FA8-D67AAC80CC83}"/>
          </ac:spMkLst>
        </pc:spChg>
        <pc:spChg chg="mod">
          <ac:chgData name="sami ekici" userId="c23b7aad42bda20f" providerId="LiveId" clId="{83DE8846-9D9D-4F29-8E47-E255B136136F}" dt="2020-05-04T21:43:51.905" v="499" actId="20577"/>
          <ac:spMkLst>
            <pc:docMk/>
            <pc:sldMk cId="757171665" sldId="259"/>
            <ac:spMk id="3" creationId="{255CD2E4-DE55-49EF-A93B-39B9FA0F8641}"/>
          </ac:spMkLst>
        </pc:spChg>
        <pc:spChg chg="add del mod">
          <ac:chgData name="sami ekici" userId="c23b7aad42bda20f" providerId="LiveId" clId="{83DE8846-9D9D-4F29-8E47-E255B136136F}" dt="2020-05-04T21:42:50.001" v="481"/>
          <ac:spMkLst>
            <pc:docMk/>
            <pc:sldMk cId="757171665" sldId="259"/>
            <ac:spMk id="4" creationId="{F9BEC4ED-B8DD-4286-BF2F-6F26A1BCB127}"/>
          </ac:spMkLst>
        </pc:spChg>
        <pc:picChg chg="add mod">
          <ac:chgData name="sami ekici" userId="c23b7aad42bda20f" providerId="LiveId" clId="{83DE8846-9D9D-4F29-8E47-E255B136136F}" dt="2020-05-04T21:45:20.171" v="502" actId="1076"/>
          <ac:picMkLst>
            <pc:docMk/>
            <pc:sldMk cId="757171665" sldId="259"/>
            <ac:picMk id="2050" creationId="{3CB14C42-4D01-414D-A04C-1085890939DC}"/>
          </ac:picMkLst>
        </pc:picChg>
      </pc:sldChg>
      <pc:sldChg chg="addSp modSp new mod">
        <pc:chgData name="sami ekici" userId="c23b7aad42bda20f" providerId="LiveId" clId="{83DE8846-9D9D-4F29-8E47-E255B136136F}" dt="2020-05-04T21:47:33.218" v="514" actId="1076"/>
        <pc:sldMkLst>
          <pc:docMk/>
          <pc:sldMk cId="2487113671" sldId="260"/>
        </pc:sldMkLst>
        <pc:spChg chg="mod">
          <ac:chgData name="sami ekici" userId="c23b7aad42bda20f" providerId="LiveId" clId="{83DE8846-9D9D-4F29-8E47-E255B136136F}" dt="2020-05-04T21:46:03.218" v="504"/>
          <ac:spMkLst>
            <pc:docMk/>
            <pc:sldMk cId="2487113671" sldId="260"/>
            <ac:spMk id="2" creationId="{ACFA9B93-CF9B-41B4-90C0-106E5351356A}"/>
          </ac:spMkLst>
        </pc:spChg>
        <pc:spChg chg="mod">
          <ac:chgData name="sami ekici" userId="c23b7aad42bda20f" providerId="LiveId" clId="{83DE8846-9D9D-4F29-8E47-E255B136136F}" dt="2020-05-04T21:47:22.849" v="513" actId="1076"/>
          <ac:spMkLst>
            <pc:docMk/>
            <pc:sldMk cId="2487113671" sldId="260"/>
            <ac:spMk id="3" creationId="{2D98C7A7-1F0D-47C2-9699-98F81B0CCFDA}"/>
          </ac:spMkLst>
        </pc:spChg>
        <pc:picChg chg="add mod">
          <ac:chgData name="sami ekici" userId="c23b7aad42bda20f" providerId="LiveId" clId="{83DE8846-9D9D-4F29-8E47-E255B136136F}" dt="2020-05-04T21:47:33.218" v="514" actId="1076"/>
          <ac:picMkLst>
            <pc:docMk/>
            <pc:sldMk cId="2487113671" sldId="260"/>
            <ac:picMk id="3074" creationId="{4032EBB9-45F7-4723-8EB4-326ECC035BA7}"/>
          </ac:picMkLst>
        </pc:picChg>
      </pc:sldChg>
      <pc:sldChg chg="addSp delSp modSp new mod">
        <pc:chgData name="sami ekici" userId="c23b7aad42bda20f" providerId="LiveId" clId="{83DE8846-9D9D-4F29-8E47-E255B136136F}" dt="2020-05-04T21:51:10.927" v="535" actId="5793"/>
        <pc:sldMkLst>
          <pc:docMk/>
          <pc:sldMk cId="2279871474" sldId="261"/>
        </pc:sldMkLst>
        <pc:spChg chg="del">
          <ac:chgData name="sami ekici" userId="c23b7aad42bda20f" providerId="LiveId" clId="{83DE8846-9D9D-4F29-8E47-E255B136136F}" dt="2020-05-04T21:50:03.262" v="516" actId="478"/>
          <ac:spMkLst>
            <pc:docMk/>
            <pc:sldMk cId="2279871474" sldId="261"/>
            <ac:spMk id="2" creationId="{3F63E104-297F-4620-A63E-B98EE58A0724}"/>
          </ac:spMkLst>
        </pc:spChg>
        <pc:spChg chg="mod">
          <ac:chgData name="sami ekici" userId="c23b7aad42bda20f" providerId="LiveId" clId="{83DE8846-9D9D-4F29-8E47-E255B136136F}" dt="2020-05-04T21:51:10.927" v="535" actId="5793"/>
          <ac:spMkLst>
            <pc:docMk/>
            <pc:sldMk cId="2279871474" sldId="261"/>
            <ac:spMk id="3" creationId="{8BC2B555-C71F-4BB4-9B8C-D20AA2F7943E}"/>
          </ac:spMkLst>
        </pc:spChg>
        <pc:picChg chg="add mod">
          <ac:chgData name="sami ekici" userId="c23b7aad42bda20f" providerId="LiveId" clId="{83DE8846-9D9D-4F29-8E47-E255B136136F}" dt="2020-05-04T21:50:40.818" v="522" actId="14100"/>
          <ac:picMkLst>
            <pc:docMk/>
            <pc:sldMk cId="2279871474" sldId="261"/>
            <ac:picMk id="4098" creationId="{057786B4-C82A-43B7-84AB-BA76B1306242}"/>
          </ac:picMkLst>
        </pc:picChg>
      </pc:sldChg>
      <pc:sldChg chg="addSp delSp modSp new mod">
        <pc:chgData name="sami ekici" userId="c23b7aad42bda20f" providerId="LiveId" clId="{83DE8846-9D9D-4F29-8E47-E255B136136F}" dt="2020-05-05T00:00:06.350" v="791" actId="20577"/>
        <pc:sldMkLst>
          <pc:docMk/>
          <pc:sldMk cId="1984045246" sldId="262"/>
        </pc:sldMkLst>
        <pc:spChg chg="del">
          <ac:chgData name="sami ekici" userId="c23b7aad42bda20f" providerId="LiveId" clId="{83DE8846-9D9D-4F29-8E47-E255B136136F}" dt="2020-05-04T21:52:20.637" v="537" actId="478"/>
          <ac:spMkLst>
            <pc:docMk/>
            <pc:sldMk cId="1984045246" sldId="262"/>
            <ac:spMk id="2" creationId="{2E230982-95A8-4C6B-B789-7FDCA06BDDF9}"/>
          </ac:spMkLst>
        </pc:spChg>
        <pc:spChg chg="mod">
          <ac:chgData name="sami ekici" userId="c23b7aad42bda20f" providerId="LiveId" clId="{83DE8846-9D9D-4F29-8E47-E255B136136F}" dt="2020-05-05T00:00:06.350" v="791" actId="20577"/>
          <ac:spMkLst>
            <pc:docMk/>
            <pc:sldMk cId="1984045246" sldId="262"/>
            <ac:spMk id="3" creationId="{E89F4758-BC67-4BE1-9A3A-BC1213FE4797}"/>
          </ac:spMkLst>
        </pc:spChg>
        <pc:spChg chg="add del">
          <ac:chgData name="sami ekici" userId="c23b7aad42bda20f" providerId="LiveId" clId="{83DE8846-9D9D-4F29-8E47-E255B136136F}" dt="2020-05-04T21:52:32.095" v="540"/>
          <ac:spMkLst>
            <pc:docMk/>
            <pc:sldMk cId="1984045246" sldId="262"/>
            <ac:spMk id="4" creationId="{4AB99ED0-8192-417E-AA43-6D4470356869}"/>
          </ac:spMkLst>
        </pc:spChg>
        <pc:spChg chg="add del">
          <ac:chgData name="sami ekici" userId="c23b7aad42bda20f" providerId="LiveId" clId="{83DE8846-9D9D-4F29-8E47-E255B136136F}" dt="2020-05-04T21:52:40.107" v="542"/>
          <ac:spMkLst>
            <pc:docMk/>
            <pc:sldMk cId="1984045246" sldId="262"/>
            <ac:spMk id="5" creationId="{805A7D1B-4799-4163-A013-0C78BCB61A11}"/>
          </ac:spMkLst>
        </pc:spChg>
        <pc:picChg chg="add del mod">
          <ac:chgData name="sami ekici" userId="c23b7aad42bda20f" providerId="LiveId" clId="{83DE8846-9D9D-4F29-8E47-E255B136136F}" dt="2020-05-04T21:58:38.284" v="551" actId="1076"/>
          <ac:picMkLst>
            <pc:docMk/>
            <pc:sldMk cId="1984045246" sldId="262"/>
            <ac:picMk id="7" creationId="{1ADD5C60-1306-4F27-B66E-1C6B7B271695}"/>
          </ac:picMkLst>
        </pc:picChg>
        <pc:picChg chg="add del">
          <ac:chgData name="sami ekici" userId="c23b7aad42bda20f" providerId="LiveId" clId="{83DE8846-9D9D-4F29-8E47-E255B136136F}" dt="2020-05-04T21:52:32.095" v="540"/>
          <ac:picMkLst>
            <pc:docMk/>
            <pc:sldMk cId="1984045246" sldId="262"/>
            <ac:picMk id="5122" creationId="{C68B0195-C856-4C69-A5F1-F3A19F74192C}"/>
          </ac:picMkLst>
        </pc:picChg>
        <pc:picChg chg="add del">
          <ac:chgData name="sami ekici" userId="c23b7aad42bda20f" providerId="LiveId" clId="{83DE8846-9D9D-4F29-8E47-E255B136136F}" dt="2020-05-04T21:52:40.107" v="542"/>
          <ac:picMkLst>
            <pc:docMk/>
            <pc:sldMk cId="1984045246" sldId="262"/>
            <ac:picMk id="5124" creationId="{87B0379F-2A31-45A5-8057-233FCD6D0279}"/>
          </ac:picMkLst>
        </pc:picChg>
        <pc:picChg chg="add del">
          <ac:chgData name="sami ekici" userId="c23b7aad42bda20f" providerId="LiveId" clId="{83DE8846-9D9D-4F29-8E47-E255B136136F}" dt="2020-05-04T21:53:18.986" v="545"/>
          <ac:picMkLst>
            <pc:docMk/>
            <pc:sldMk cId="1984045246" sldId="262"/>
            <ac:picMk id="5126" creationId="{4E1ADF26-1BBC-4668-834D-A212757979F8}"/>
          </ac:picMkLst>
        </pc:picChg>
      </pc:sldChg>
      <pc:sldChg chg="modSp new mod ord">
        <pc:chgData name="sami ekici" userId="c23b7aad42bda20f" providerId="LiveId" clId="{83DE8846-9D9D-4F29-8E47-E255B136136F}" dt="2020-05-04T23:08:11.868" v="596" actId="20577"/>
        <pc:sldMkLst>
          <pc:docMk/>
          <pc:sldMk cId="4197986975" sldId="263"/>
        </pc:sldMkLst>
        <pc:spChg chg="mod">
          <ac:chgData name="sami ekici" userId="c23b7aad42bda20f" providerId="LiveId" clId="{83DE8846-9D9D-4F29-8E47-E255B136136F}" dt="2020-05-04T23:07:29.897" v="593" actId="20577"/>
          <ac:spMkLst>
            <pc:docMk/>
            <pc:sldMk cId="4197986975" sldId="263"/>
            <ac:spMk id="2" creationId="{AC137351-3006-4ACB-B3C4-ECD2533BFF43}"/>
          </ac:spMkLst>
        </pc:spChg>
        <pc:spChg chg="mod">
          <ac:chgData name="sami ekici" userId="c23b7aad42bda20f" providerId="LiveId" clId="{83DE8846-9D9D-4F29-8E47-E255B136136F}" dt="2020-05-04T23:08:11.868" v="596" actId="20577"/>
          <ac:spMkLst>
            <pc:docMk/>
            <pc:sldMk cId="4197986975" sldId="263"/>
            <ac:spMk id="3" creationId="{9E4B35BF-974D-48D5-AFAB-1B43041650ED}"/>
          </ac:spMkLst>
        </pc:spChg>
      </pc:sldChg>
      <pc:sldChg chg="modSp new mod">
        <pc:chgData name="sami ekici" userId="c23b7aad42bda20f" providerId="LiveId" clId="{83DE8846-9D9D-4F29-8E47-E255B136136F}" dt="2020-05-04T23:09:53.501" v="601" actId="255"/>
        <pc:sldMkLst>
          <pc:docMk/>
          <pc:sldMk cId="3878601350" sldId="264"/>
        </pc:sldMkLst>
        <pc:spChg chg="mod">
          <ac:chgData name="sami ekici" userId="c23b7aad42bda20f" providerId="LiveId" clId="{83DE8846-9D9D-4F29-8E47-E255B136136F}" dt="2020-05-04T23:09:11.447" v="598"/>
          <ac:spMkLst>
            <pc:docMk/>
            <pc:sldMk cId="3878601350" sldId="264"/>
            <ac:spMk id="2" creationId="{82ACA525-B4DC-497D-A0EC-1C40C71254A9}"/>
          </ac:spMkLst>
        </pc:spChg>
        <pc:spChg chg="mod">
          <ac:chgData name="sami ekici" userId="c23b7aad42bda20f" providerId="LiveId" clId="{83DE8846-9D9D-4F29-8E47-E255B136136F}" dt="2020-05-04T23:09:53.501" v="601" actId="255"/>
          <ac:spMkLst>
            <pc:docMk/>
            <pc:sldMk cId="3878601350" sldId="264"/>
            <ac:spMk id="3" creationId="{7F01965C-EE41-469D-9485-EDBBBE12412A}"/>
          </ac:spMkLst>
        </pc:spChg>
      </pc:sldChg>
      <pc:sldChg chg="modSp new mod">
        <pc:chgData name="sami ekici" userId="c23b7aad42bda20f" providerId="LiveId" clId="{83DE8846-9D9D-4F29-8E47-E255B136136F}" dt="2020-05-04T23:12:19.368" v="640" actId="255"/>
        <pc:sldMkLst>
          <pc:docMk/>
          <pc:sldMk cId="4104031328" sldId="265"/>
        </pc:sldMkLst>
        <pc:spChg chg="mod">
          <ac:chgData name="sami ekici" userId="c23b7aad42bda20f" providerId="LiveId" clId="{83DE8846-9D9D-4F29-8E47-E255B136136F}" dt="2020-05-04T23:11:13.068" v="603"/>
          <ac:spMkLst>
            <pc:docMk/>
            <pc:sldMk cId="4104031328" sldId="265"/>
            <ac:spMk id="2" creationId="{74238818-CC86-45A1-890A-65F51DB30E79}"/>
          </ac:spMkLst>
        </pc:spChg>
        <pc:spChg chg="mod">
          <ac:chgData name="sami ekici" userId="c23b7aad42bda20f" providerId="LiveId" clId="{83DE8846-9D9D-4F29-8E47-E255B136136F}" dt="2020-05-04T23:12:19.368" v="640" actId="255"/>
          <ac:spMkLst>
            <pc:docMk/>
            <pc:sldMk cId="4104031328" sldId="265"/>
            <ac:spMk id="3" creationId="{9E610990-C763-4675-A376-4F16FEC27323}"/>
          </ac:spMkLst>
        </pc:spChg>
      </pc:sldChg>
      <pc:sldChg chg="modSp new mod">
        <pc:chgData name="sami ekici" userId="c23b7aad42bda20f" providerId="LiveId" clId="{83DE8846-9D9D-4F29-8E47-E255B136136F}" dt="2020-05-04T23:14:18.132" v="659" actId="20577"/>
        <pc:sldMkLst>
          <pc:docMk/>
          <pc:sldMk cId="1739974057" sldId="266"/>
        </pc:sldMkLst>
        <pc:spChg chg="mod">
          <ac:chgData name="sami ekici" userId="c23b7aad42bda20f" providerId="LiveId" clId="{83DE8846-9D9D-4F29-8E47-E255B136136F}" dt="2020-05-04T23:12:55.239" v="653" actId="20577"/>
          <ac:spMkLst>
            <pc:docMk/>
            <pc:sldMk cId="1739974057" sldId="266"/>
            <ac:spMk id="2" creationId="{05A66D37-7B0D-4FF8-85DA-639169C6C7B2}"/>
          </ac:spMkLst>
        </pc:spChg>
        <pc:spChg chg="mod">
          <ac:chgData name="sami ekici" userId="c23b7aad42bda20f" providerId="LiveId" clId="{83DE8846-9D9D-4F29-8E47-E255B136136F}" dt="2020-05-04T23:14:18.132" v="659" actId="20577"/>
          <ac:spMkLst>
            <pc:docMk/>
            <pc:sldMk cId="1739974057" sldId="266"/>
            <ac:spMk id="3" creationId="{E7906AA9-CD25-41DA-9E19-064C06EA379D}"/>
          </ac:spMkLst>
        </pc:spChg>
      </pc:sldChg>
      <pc:sldChg chg="modSp new mod ord">
        <pc:chgData name="sami ekici" userId="c23b7aad42bda20f" providerId="LiveId" clId="{83DE8846-9D9D-4F29-8E47-E255B136136F}" dt="2020-05-04T23:24:02.495" v="666" actId="20577"/>
        <pc:sldMkLst>
          <pc:docMk/>
          <pc:sldMk cId="2032742062" sldId="267"/>
        </pc:sldMkLst>
        <pc:spChg chg="mod">
          <ac:chgData name="sami ekici" userId="c23b7aad42bda20f" providerId="LiveId" clId="{83DE8846-9D9D-4F29-8E47-E255B136136F}" dt="2020-05-04T23:23:13.647" v="663"/>
          <ac:spMkLst>
            <pc:docMk/>
            <pc:sldMk cId="2032742062" sldId="267"/>
            <ac:spMk id="2" creationId="{6FC4ED9E-B745-40DD-9454-07E351042929}"/>
          </ac:spMkLst>
        </pc:spChg>
        <pc:spChg chg="mod">
          <ac:chgData name="sami ekici" userId="c23b7aad42bda20f" providerId="LiveId" clId="{83DE8846-9D9D-4F29-8E47-E255B136136F}" dt="2020-05-04T23:24:02.495" v="666" actId="20577"/>
          <ac:spMkLst>
            <pc:docMk/>
            <pc:sldMk cId="2032742062" sldId="267"/>
            <ac:spMk id="3" creationId="{97E99525-D063-4644-B7A3-A528DFC72622}"/>
          </ac:spMkLst>
        </pc:spChg>
      </pc:sldChg>
      <pc:sldChg chg="addSp delSp modSp new mod">
        <pc:chgData name="sami ekici" userId="c23b7aad42bda20f" providerId="LiveId" clId="{83DE8846-9D9D-4F29-8E47-E255B136136F}" dt="2020-05-04T23:29:08.399" v="717" actId="20577"/>
        <pc:sldMkLst>
          <pc:docMk/>
          <pc:sldMk cId="1310550182" sldId="268"/>
        </pc:sldMkLst>
        <pc:spChg chg="del">
          <ac:chgData name="sami ekici" userId="c23b7aad42bda20f" providerId="LiveId" clId="{83DE8846-9D9D-4F29-8E47-E255B136136F}" dt="2020-05-04T23:24:54.147" v="669" actId="478"/>
          <ac:spMkLst>
            <pc:docMk/>
            <pc:sldMk cId="1310550182" sldId="268"/>
            <ac:spMk id="2" creationId="{741EF863-D98D-4614-964B-4E6F652EF2A7}"/>
          </ac:spMkLst>
        </pc:spChg>
        <pc:spChg chg="mod">
          <ac:chgData name="sami ekici" userId="c23b7aad42bda20f" providerId="LiveId" clId="{83DE8846-9D9D-4F29-8E47-E255B136136F}" dt="2020-05-04T23:29:08.399" v="717" actId="20577"/>
          <ac:spMkLst>
            <pc:docMk/>
            <pc:sldMk cId="1310550182" sldId="268"/>
            <ac:spMk id="3" creationId="{C21F386B-A6CF-4E43-BCAA-0753E9862F96}"/>
          </ac:spMkLst>
        </pc:spChg>
        <pc:picChg chg="add mod">
          <ac:chgData name="sami ekici" userId="c23b7aad42bda20f" providerId="LiveId" clId="{83DE8846-9D9D-4F29-8E47-E255B136136F}" dt="2020-05-04T23:28:33.681" v="690" actId="1076"/>
          <ac:picMkLst>
            <pc:docMk/>
            <pc:sldMk cId="1310550182" sldId="268"/>
            <ac:picMk id="6146" creationId="{8643EDD0-AD27-49DB-9C91-E2EAE5FF022D}"/>
          </ac:picMkLst>
        </pc:picChg>
      </pc:sldChg>
      <pc:sldChg chg="addSp delSp modSp new mod">
        <pc:chgData name="sami ekici" userId="c23b7aad42bda20f" providerId="LiveId" clId="{83DE8846-9D9D-4F29-8E47-E255B136136F}" dt="2020-05-04T23:30:27.489" v="729" actId="20577"/>
        <pc:sldMkLst>
          <pc:docMk/>
          <pc:sldMk cId="4291208120" sldId="269"/>
        </pc:sldMkLst>
        <pc:spChg chg="del">
          <ac:chgData name="sami ekici" userId="c23b7aad42bda20f" providerId="LiveId" clId="{83DE8846-9D9D-4F29-8E47-E255B136136F}" dt="2020-05-04T23:29:22.211" v="719" actId="478"/>
          <ac:spMkLst>
            <pc:docMk/>
            <pc:sldMk cId="4291208120" sldId="269"/>
            <ac:spMk id="2" creationId="{483CE831-B708-4D07-A93C-44F1FD6447E1}"/>
          </ac:spMkLst>
        </pc:spChg>
        <pc:spChg chg="add del mod">
          <ac:chgData name="sami ekici" userId="c23b7aad42bda20f" providerId="LiveId" clId="{83DE8846-9D9D-4F29-8E47-E255B136136F}" dt="2020-05-04T23:30:27.489" v="729" actId="20577"/>
          <ac:spMkLst>
            <pc:docMk/>
            <pc:sldMk cId="4291208120" sldId="269"/>
            <ac:spMk id="3" creationId="{05C81BF4-A64F-4C53-AA6A-046082779DC4}"/>
          </ac:spMkLst>
        </pc:spChg>
        <pc:picChg chg="add del mod">
          <ac:chgData name="sami ekici" userId="c23b7aad42bda20f" providerId="LiveId" clId="{83DE8846-9D9D-4F29-8E47-E255B136136F}" dt="2020-05-04T23:29:46.184" v="723"/>
          <ac:picMkLst>
            <pc:docMk/>
            <pc:sldMk cId="4291208120" sldId="269"/>
            <ac:picMk id="7170" creationId="{C875AA09-6A30-4F19-8889-9F85959EB054}"/>
          </ac:picMkLst>
        </pc:picChg>
        <pc:picChg chg="add mod">
          <ac:chgData name="sami ekici" userId="c23b7aad42bda20f" providerId="LiveId" clId="{83DE8846-9D9D-4F29-8E47-E255B136136F}" dt="2020-05-04T23:30:22.421" v="728" actId="1076"/>
          <ac:picMkLst>
            <pc:docMk/>
            <pc:sldMk cId="4291208120" sldId="269"/>
            <ac:picMk id="7172" creationId="{6B7DBCD6-2B6F-4E48-80D1-A39ED2083751}"/>
          </ac:picMkLst>
        </pc:picChg>
      </pc:sldChg>
      <pc:sldChg chg="addSp delSp modSp new mod">
        <pc:chgData name="sami ekici" userId="c23b7aad42bda20f" providerId="LiveId" clId="{83DE8846-9D9D-4F29-8E47-E255B136136F}" dt="2020-05-04T23:57:08.938" v="756" actId="20577"/>
        <pc:sldMkLst>
          <pc:docMk/>
          <pc:sldMk cId="719823280" sldId="270"/>
        </pc:sldMkLst>
        <pc:spChg chg="mod">
          <ac:chgData name="sami ekici" userId="c23b7aad42bda20f" providerId="LiveId" clId="{83DE8846-9D9D-4F29-8E47-E255B136136F}" dt="2020-05-04T23:53:46.736" v="741" actId="20577"/>
          <ac:spMkLst>
            <pc:docMk/>
            <pc:sldMk cId="719823280" sldId="270"/>
            <ac:spMk id="2" creationId="{CA8EAAAC-A2A1-407D-BA6E-88BB1B7FE40A}"/>
          </ac:spMkLst>
        </pc:spChg>
        <pc:spChg chg="mod">
          <ac:chgData name="sami ekici" userId="c23b7aad42bda20f" providerId="LiveId" clId="{83DE8846-9D9D-4F29-8E47-E255B136136F}" dt="2020-05-04T23:57:08.938" v="756" actId="20577"/>
          <ac:spMkLst>
            <pc:docMk/>
            <pc:sldMk cId="719823280" sldId="270"/>
            <ac:spMk id="3" creationId="{57D410B8-AF95-401F-A56D-8C86EF083E34}"/>
          </ac:spMkLst>
        </pc:spChg>
        <pc:spChg chg="add del">
          <ac:chgData name="sami ekici" userId="c23b7aad42bda20f" providerId="LiveId" clId="{83DE8846-9D9D-4F29-8E47-E255B136136F}" dt="2020-05-04T23:55:35.294" v="745"/>
          <ac:spMkLst>
            <pc:docMk/>
            <pc:sldMk cId="719823280" sldId="270"/>
            <ac:spMk id="4" creationId="{90CD6461-25F9-4B9E-8949-F3D3B880BAC0}"/>
          </ac:spMkLst>
        </pc:spChg>
        <pc:spChg chg="add del">
          <ac:chgData name="sami ekici" userId="c23b7aad42bda20f" providerId="LiveId" clId="{83DE8846-9D9D-4F29-8E47-E255B136136F}" dt="2020-05-04T23:55:39.734" v="747"/>
          <ac:spMkLst>
            <pc:docMk/>
            <pc:sldMk cId="719823280" sldId="270"/>
            <ac:spMk id="5" creationId="{CA668E70-F017-4B77-9318-C46D0FE3C1C5}"/>
          </ac:spMkLst>
        </pc:spChg>
        <pc:spChg chg="add del">
          <ac:chgData name="sami ekici" userId="c23b7aad42bda20f" providerId="LiveId" clId="{83DE8846-9D9D-4F29-8E47-E255B136136F}" dt="2020-05-04T23:56:05.584" v="749"/>
          <ac:spMkLst>
            <pc:docMk/>
            <pc:sldMk cId="719823280" sldId="270"/>
            <ac:spMk id="6" creationId="{297747D6-68F4-4BF2-9127-6F3736337898}"/>
          </ac:spMkLst>
        </pc:spChg>
        <pc:spChg chg="add del mod">
          <ac:chgData name="sami ekici" userId="c23b7aad42bda20f" providerId="LiveId" clId="{83DE8846-9D9D-4F29-8E47-E255B136136F}" dt="2020-05-04T23:56:56.840" v="755" actId="478"/>
          <ac:spMkLst>
            <pc:docMk/>
            <pc:sldMk cId="719823280" sldId="270"/>
            <ac:spMk id="7" creationId="{CDF70E83-9A9A-4D0A-9523-656028470778}"/>
          </ac:spMkLst>
        </pc:spChg>
      </pc:sldChg>
      <pc:sldChg chg="modSp new mod">
        <pc:chgData name="sami ekici" userId="c23b7aad42bda20f" providerId="LiveId" clId="{83DE8846-9D9D-4F29-8E47-E255B136136F}" dt="2020-05-04T23:58:29.516" v="771" actId="20577"/>
        <pc:sldMkLst>
          <pc:docMk/>
          <pc:sldMk cId="1167886452" sldId="271"/>
        </pc:sldMkLst>
        <pc:spChg chg="mod">
          <ac:chgData name="sami ekici" userId="c23b7aad42bda20f" providerId="LiveId" clId="{83DE8846-9D9D-4F29-8E47-E255B136136F}" dt="2020-05-04T23:57:55.911" v="768" actId="20577"/>
          <ac:spMkLst>
            <pc:docMk/>
            <pc:sldMk cId="1167886452" sldId="271"/>
            <ac:spMk id="2" creationId="{2CD40F16-45BB-4C25-9F82-E031EF07B664}"/>
          </ac:spMkLst>
        </pc:spChg>
        <pc:spChg chg="mod">
          <ac:chgData name="sami ekici" userId="c23b7aad42bda20f" providerId="LiveId" clId="{83DE8846-9D9D-4F29-8E47-E255B136136F}" dt="2020-05-04T23:58:29.516" v="771" actId="20577"/>
          <ac:spMkLst>
            <pc:docMk/>
            <pc:sldMk cId="1167886452" sldId="271"/>
            <ac:spMk id="3" creationId="{1095C48F-095C-4571-9CDE-0B74C3F986F1}"/>
          </ac:spMkLst>
        </pc:spChg>
      </pc:sldChg>
      <pc:sldChg chg="addSp delSp modSp new mod">
        <pc:chgData name="sami ekici" userId="c23b7aad42bda20f" providerId="LiveId" clId="{83DE8846-9D9D-4F29-8E47-E255B136136F}" dt="2020-05-04T23:59:04.048" v="784" actId="20577"/>
        <pc:sldMkLst>
          <pc:docMk/>
          <pc:sldMk cId="328669806" sldId="272"/>
        </pc:sldMkLst>
        <pc:spChg chg="mod">
          <ac:chgData name="sami ekici" userId="c23b7aad42bda20f" providerId="LiveId" clId="{83DE8846-9D9D-4F29-8E47-E255B136136F}" dt="2020-05-04T23:59:04.048" v="784" actId="20577"/>
          <ac:spMkLst>
            <pc:docMk/>
            <pc:sldMk cId="328669806" sldId="272"/>
            <ac:spMk id="2" creationId="{CD8EF228-EFC2-4DC1-B428-4776551537E9}"/>
          </ac:spMkLst>
        </pc:spChg>
        <pc:spChg chg="del">
          <ac:chgData name="sami ekici" userId="c23b7aad42bda20f" providerId="LiveId" clId="{83DE8846-9D9D-4F29-8E47-E255B136136F}" dt="2020-05-04T23:58:55.552" v="773"/>
          <ac:spMkLst>
            <pc:docMk/>
            <pc:sldMk cId="328669806" sldId="272"/>
            <ac:spMk id="3" creationId="{3DDFF754-80D8-4D79-9BD5-BC84D2348C27}"/>
          </ac:spMkLst>
        </pc:spChg>
        <pc:picChg chg="add mod">
          <ac:chgData name="sami ekici" userId="c23b7aad42bda20f" providerId="LiveId" clId="{83DE8846-9D9D-4F29-8E47-E255B136136F}" dt="2020-05-04T23:58:55.552" v="773"/>
          <ac:picMkLst>
            <pc:docMk/>
            <pc:sldMk cId="328669806" sldId="272"/>
            <ac:picMk id="9218" creationId="{96DCB83F-49DE-4EED-8C8E-2A1592F6F5C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B8AACCF8-D2A6-4E90-A675-FC3BA8FD37DD}" type="datetimeFigureOut">
              <a:rPr lang="en-US" smtClean="0"/>
              <a:t>5/16/2025</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0BDD5F7E-1D71-43FA-A1B4-337BD9346194}" type="slidenum">
              <a:rPr lang="en-US" smtClean="0"/>
              <a:t>‹#›</a:t>
            </a:fld>
            <a:endParaRPr lang="en-US"/>
          </a:p>
        </p:txBody>
      </p:sp>
    </p:spTree>
    <p:extLst>
      <p:ext uri="{BB962C8B-B14F-4D97-AF65-F5344CB8AC3E}">
        <p14:creationId xmlns:p14="http://schemas.microsoft.com/office/powerpoint/2010/main" val="3772226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2D0C637-00DE-42F4-97AB-16C5FC7223C2}" type="datetime1">
              <a:rPr lang="tr-TR" smtClean="0"/>
              <a:t>16.05.2025</a:t>
            </a:fld>
            <a:endParaRPr lang="tr-TR"/>
          </a:p>
        </p:txBody>
      </p:sp>
      <p:sp>
        <p:nvSpPr>
          <p:cNvPr id="5" name="Footer Placeholder 4"/>
          <p:cNvSpPr>
            <a:spLocks noGrp="1"/>
          </p:cNvSpPr>
          <p:nvPr>
            <p:ph type="ftr" sz="quarter" idx="11"/>
          </p:nvPr>
        </p:nvSpPr>
        <p:spPr/>
        <p:txBody>
          <a:bodyPr/>
          <a:lstStyle/>
          <a:p>
            <a:endParaRPr lang="tr-T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C61373B-6CD7-433C-9DE2-D4B638969085}" type="slidenum">
              <a:rPr lang="tr-TR" smtClean="0"/>
              <a:t>‹#›</a:t>
            </a:fld>
            <a:endParaRPr lang="tr-TR"/>
          </a:p>
        </p:txBody>
      </p:sp>
    </p:spTree>
    <p:extLst>
      <p:ext uri="{BB962C8B-B14F-4D97-AF65-F5344CB8AC3E}">
        <p14:creationId xmlns:p14="http://schemas.microsoft.com/office/powerpoint/2010/main" val="1224625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C61373B-6CD7-433C-9DE2-D4B638969085}" type="slidenum">
              <a:rPr lang="tr-TR" smtClean="0"/>
              <a:t>‹#›</a:t>
            </a:fld>
            <a:endParaRPr lang="tr-TR"/>
          </a:p>
        </p:txBody>
      </p:sp>
    </p:spTree>
    <p:extLst>
      <p:ext uri="{BB962C8B-B14F-4D97-AF65-F5344CB8AC3E}">
        <p14:creationId xmlns:p14="http://schemas.microsoft.com/office/powerpoint/2010/main" val="3808990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8D6BE24-73F3-40CC-9F1A-7176CA1AEBFA}" type="datetime1">
              <a:rPr lang="tr-TR" smtClean="0"/>
              <a:t>16.05.2025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C61373B-6CD7-433C-9DE2-D4B638969085}" type="slidenum">
              <a:rPr lang="tr-TR" smtClean="0"/>
              <a:t>‹#›</a:t>
            </a:fld>
            <a:endParaRPr lang="tr-TR"/>
          </a:p>
        </p:txBody>
      </p:sp>
    </p:spTree>
    <p:extLst>
      <p:ext uri="{BB962C8B-B14F-4D97-AF65-F5344CB8AC3E}">
        <p14:creationId xmlns:p14="http://schemas.microsoft.com/office/powerpoint/2010/main" val="1548267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B11ACD-80A8-46B8-A7D1-BED302F4E842}" type="datetime1">
              <a:rPr lang="tr-TR" smtClean="0"/>
              <a:t>16.05.2025</a:t>
            </a:fld>
            <a:endParaRPr lang="tr-TR"/>
          </a:p>
        </p:txBody>
      </p:sp>
      <p:sp>
        <p:nvSpPr>
          <p:cNvPr id="6" name="Footer Placeholder 5"/>
          <p:cNvSpPr>
            <a:spLocks noGrp="1"/>
          </p:cNvSpPr>
          <p:nvPr>
            <p:ph type="ftr" sz="quarter" idx="11"/>
          </p:nvPr>
        </p:nvSpPr>
        <p:spPr/>
        <p:txBody>
          <a:bodyPr/>
          <a:lstStyle/>
          <a:p>
            <a:endParaRPr lang="tr-T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C61373B-6CD7-433C-9DE2-D4B638969085}" type="slidenum">
              <a:rPr lang="tr-TR" smtClean="0"/>
              <a:t>‹#›</a:t>
            </a:fld>
            <a:endParaRPr lang="tr-TR"/>
          </a:p>
        </p:txBody>
      </p:sp>
    </p:spTree>
    <p:extLst>
      <p:ext uri="{BB962C8B-B14F-4D97-AF65-F5344CB8AC3E}">
        <p14:creationId xmlns:p14="http://schemas.microsoft.com/office/powerpoint/2010/main" val="1780539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FE48521-F1F2-43D1-9A63-230BEC928145}" type="datetime1">
              <a:rPr lang="tr-TR" smtClean="0"/>
              <a:t>16.05.2025</a:t>
            </a:fld>
            <a:endParaRPr lang="tr-TR"/>
          </a:p>
        </p:txBody>
      </p:sp>
      <p:sp>
        <p:nvSpPr>
          <p:cNvPr id="8" name="Footer Placeholder 7"/>
          <p:cNvSpPr>
            <a:spLocks noGrp="1"/>
          </p:cNvSpPr>
          <p:nvPr>
            <p:ph type="ftr" sz="quarter" idx="11"/>
          </p:nvPr>
        </p:nvSpPr>
        <p:spPr/>
        <p:txBody>
          <a:bodyPr/>
          <a:lstStyle/>
          <a:p>
            <a:endParaRPr lang="tr-T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C61373B-6CD7-433C-9DE2-D4B638969085}" type="slidenum">
              <a:rPr lang="tr-TR" smtClean="0"/>
              <a:t>‹#›</a:t>
            </a:fld>
            <a:endParaRPr lang="tr-TR"/>
          </a:p>
        </p:txBody>
      </p:sp>
    </p:spTree>
    <p:extLst>
      <p:ext uri="{BB962C8B-B14F-4D97-AF65-F5344CB8AC3E}">
        <p14:creationId xmlns:p14="http://schemas.microsoft.com/office/powerpoint/2010/main" val="29127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218BA3F-18EA-4B43-80D7-1B030614D1D2}" type="datetime1">
              <a:rPr lang="tr-TR" smtClean="0"/>
              <a:t>16.05.2025</a:t>
            </a:fld>
            <a:endParaRPr lang="tr-TR"/>
          </a:p>
        </p:txBody>
      </p:sp>
      <p:sp>
        <p:nvSpPr>
          <p:cNvPr id="4" name="Footer Placeholder 3"/>
          <p:cNvSpPr>
            <a:spLocks noGrp="1"/>
          </p:cNvSpPr>
          <p:nvPr>
            <p:ph type="ftr" sz="quarter" idx="11"/>
          </p:nvPr>
        </p:nvSpPr>
        <p:spPr/>
        <p:txBody>
          <a:bodyPr/>
          <a:lstStyle/>
          <a:p>
            <a:endParaRPr lang="tr-T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C61373B-6CD7-433C-9DE2-D4B638969085}" type="slidenum">
              <a:rPr lang="tr-TR" smtClean="0"/>
              <a:t>‹#›</a:t>
            </a:fld>
            <a:endParaRPr lang="tr-TR"/>
          </a:p>
        </p:txBody>
      </p:sp>
    </p:spTree>
    <p:extLst>
      <p:ext uri="{BB962C8B-B14F-4D97-AF65-F5344CB8AC3E}">
        <p14:creationId xmlns:p14="http://schemas.microsoft.com/office/powerpoint/2010/main" val="2454728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9E122D-4D90-4C69-90E2-550FEC0C4D02}" type="datetime1">
              <a:rPr lang="tr-TR" smtClean="0"/>
              <a:t>16.05.2025</a:t>
            </a:fld>
            <a:endParaRPr lang="tr-TR"/>
          </a:p>
        </p:txBody>
      </p:sp>
      <p:sp>
        <p:nvSpPr>
          <p:cNvPr id="3" name="Footer Placeholder 2"/>
          <p:cNvSpPr>
            <a:spLocks noGrp="1"/>
          </p:cNvSpPr>
          <p:nvPr>
            <p:ph type="ftr" sz="quarter" idx="11"/>
          </p:nvPr>
        </p:nvSpPr>
        <p:spPr/>
        <p:txBody>
          <a:bodyPr/>
          <a:lstStyle/>
          <a:p>
            <a:endParaRPr lang="tr-T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C61373B-6CD7-433C-9DE2-D4B638969085}" type="slidenum">
              <a:rPr lang="tr-TR" smtClean="0"/>
              <a:t>‹#›</a:t>
            </a:fld>
            <a:endParaRPr lang="tr-TR"/>
          </a:p>
        </p:txBody>
      </p:sp>
    </p:spTree>
    <p:extLst>
      <p:ext uri="{BB962C8B-B14F-4D97-AF65-F5344CB8AC3E}">
        <p14:creationId xmlns:p14="http://schemas.microsoft.com/office/powerpoint/2010/main" val="3469260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3EC80F6-A37F-422D-A838-452E5373D42D}" type="datetime1">
              <a:rPr lang="tr-TR" smtClean="0"/>
              <a:t>16.05.2025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C61373B-6CD7-433C-9DE2-D4B638969085}" type="slidenum">
              <a:rPr lang="tr-TR" smtClean="0"/>
              <a:t>‹#›</a:t>
            </a:fld>
            <a:endParaRPr lang="tr-TR"/>
          </a:p>
        </p:txBody>
      </p:sp>
    </p:spTree>
    <p:extLst>
      <p:ext uri="{BB962C8B-B14F-4D97-AF65-F5344CB8AC3E}">
        <p14:creationId xmlns:p14="http://schemas.microsoft.com/office/powerpoint/2010/main" val="347818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9E87845-ECE3-41FC-B6FE-1C7C8FCBA511}" type="datetime1">
              <a:rPr lang="tr-TR" smtClean="0"/>
              <a:t>16.05.2025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C61373B-6CD7-433C-9DE2-D4B638969085}" type="slidenum">
              <a:rPr lang="tr-TR" smtClean="0"/>
              <a:t>‹#›</a:t>
            </a:fld>
            <a:endParaRPr lang="tr-TR"/>
          </a:p>
        </p:txBody>
      </p:sp>
    </p:spTree>
    <p:extLst>
      <p:ext uri="{BB962C8B-B14F-4D97-AF65-F5344CB8AC3E}">
        <p14:creationId xmlns:p14="http://schemas.microsoft.com/office/powerpoint/2010/main" val="2947899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DFFF51-761A-45F6-B46E-91BE95DD8C46}" type="datetime1">
              <a:rPr lang="tr-TR" smtClean="0"/>
              <a:t>16.05.2025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C61373B-6CD7-433C-9DE2-D4B638969085}" type="slidenum">
              <a:rPr lang="tr-TR" smtClean="0"/>
              <a:t>‹#›</a:t>
            </a:fld>
            <a:endParaRPr lang="tr-TR"/>
          </a:p>
        </p:txBody>
      </p:sp>
    </p:spTree>
    <p:extLst>
      <p:ext uri="{BB962C8B-B14F-4D97-AF65-F5344CB8AC3E}">
        <p14:creationId xmlns:p14="http://schemas.microsoft.com/office/powerpoint/2010/main" val="4040635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4ED9AC5-3E8F-4619-9AF0-9E587905EE59}" type="datetime1">
              <a:rPr lang="tr-TR" smtClean="0"/>
              <a:t>16.05.2025</a:t>
            </a:fld>
            <a:endParaRPr lang="tr-TR"/>
          </a:p>
        </p:txBody>
      </p:sp>
      <p:sp>
        <p:nvSpPr>
          <p:cNvPr id="5" name="Footer Placeholder 4"/>
          <p:cNvSpPr>
            <a:spLocks noGrp="1"/>
          </p:cNvSpPr>
          <p:nvPr>
            <p:ph type="ftr" sz="quarter" idx="11"/>
          </p:nvPr>
        </p:nvSpPr>
        <p:spPr/>
        <p:txBody>
          <a:bodyPr/>
          <a:lstStyle/>
          <a:p>
            <a:endParaRPr lang="tr-T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C61373B-6CD7-433C-9DE2-D4B638969085}" type="slidenum">
              <a:rPr lang="tr-TR" smtClean="0"/>
              <a:t>‹#›</a:t>
            </a:fld>
            <a:endParaRPr lang="tr-T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896239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82865F17-13B8-43FF-9211-6EB694493A3F}" type="datetime1">
              <a:rPr lang="tr-TR" smtClean="0"/>
              <a:t>16.05.2025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C61373B-6CD7-433C-9DE2-D4B638969085}" type="slidenum">
              <a:rPr lang="tr-TR" smtClean="0"/>
              <a:t>‹#›</a:t>
            </a:fld>
            <a:endParaRPr lang="tr-TR"/>
          </a:p>
        </p:txBody>
      </p:sp>
    </p:spTree>
    <p:extLst>
      <p:ext uri="{BB962C8B-B14F-4D97-AF65-F5344CB8AC3E}">
        <p14:creationId xmlns:p14="http://schemas.microsoft.com/office/powerpoint/2010/main" val="1077838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8ED1A45E-A88B-427F-A4BE-8943C8F03514}" type="datetime1">
              <a:rPr lang="tr-TR" smtClean="0"/>
              <a:t>16.05.2025</a:t>
            </a:fld>
            <a:endParaRPr lang="tr-TR"/>
          </a:p>
        </p:txBody>
      </p:sp>
      <p:sp>
        <p:nvSpPr>
          <p:cNvPr id="6" name="Footer Placeholder 5"/>
          <p:cNvSpPr>
            <a:spLocks noGrp="1"/>
          </p:cNvSpPr>
          <p:nvPr>
            <p:ph type="ftr" sz="quarter" idx="11"/>
          </p:nvPr>
        </p:nvSpPr>
        <p:spPr/>
        <p:txBody>
          <a:bodyPr/>
          <a:lstStyle/>
          <a:p>
            <a:endParaRPr lang="tr-T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C61373B-6CD7-433C-9DE2-D4B638969085}" type="slidenum">
              <a:rPr lang="tr-TR" smtClean="0"/>
              <a:t>‹#›</a:t>
            </a:fld>
            <a:endParaRPr lang="tr-T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079666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0752F48-5E0D-47BD-8600-ACC4CEB4C1DB}" type="datetime1">
              <a:rPr lang="tr-TR" smtClean="0"/>
              <a:t>16.05.2025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C61373B-6CD7-433C-9DE2-D4B638969085}" type="slidenum">
              <a:rPr lang="tr-TR" smtClean="0"/>
              <a:t>‹#›</a:t>
            </a:fld>
            <a:endParaRPr lang="tr-TR"/>
          </a:p>
        </p:txBody>
      </p:sp>
    </p:spTree>
    <p:extLst>
      <p:ext uri="{BB962C8B-B14F-4D97-AF65-F5344CB8AC3E}">
        <p14:creationId xmlns:p14="http://schemas.microsoft.com/office/powerpoint/2010/main" val="5662044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BBFC10-046E-4045-8D6E-5C8E071509BB}" type="datetime1">
              <a:rPr lang="tr-TR" smtClean="0"/>
              <a:t>16.05.2025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C61373B-6CD7-433C-9DE2-D4B638969085}" type="slidenum">
              <a:rPr lang="tr-TR" smtClean="0"/>
              <a:t>‹#›</a:t>
            </a:fld>
            <a:endParaRPr lang="tr-TR"/>
          </a:p>
        </p:txBody>
      </p:sp>
    </p:spTree>
    <p:extLst>
      <p:ext uri="{BB962C8B-B14F-4D97-AF65-F5344CB8AC3E}">
        <p14:creationId xmlns:p14="http://schemas.microsoft.com/office/powerpoint/2010/main" val="1517123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CCD075-09EE-42C4-9378-9839DB60D35D}" type="datetime1">
              <a:rPr lang="tr-TR" smtClean="0"/>
              <a:t>16.05.2025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C61373B-6CD7-433C-9DE2-D4B638969085}" type="slidenum">
              <a:rPr lang="tr-TR" smtClean="0"/>
              <a:t>‹#›</a:t>
            </a:fld>
            <a:endParaRPr lang="tr-TR"/>
          </a:p>
        </p:txBody>
      </p:sp>
    </p:spTree>
    <p:extLst>
      <p:ext uri="{BB962C8B-B14F-4D97-AF65-F5344CB8AC3E}">
        <p14:creationId xmlns:p14="http://schemas.microsoft.com/office/powerpoint/2010/main" val="3726911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AAFA8F1-AA6E-41C8-B0A7-3288738226E4}" type="datetime1">
              <a:rPr lang="tr-TR" smtClean="0"/>
              <a:t>16.05.2025</a:t>
            </a:fld>
            <a:endParaRPr lang="tr-T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tr-T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C61373B-6CD7-433C-9DE2-D4B638969085}" type="slidenum">
              <a:rPr lang="tr-TR" smtClean="0"/>
              <a:t>‹#›</a:t>
            </a:fld>
            <a:endParaRPr lang="tr-TR"/>
          </a:p>
        </p:txBody>
      </p:sp>
    </p:spTree>
    <p:extLst>
      <p:ext uri="{BB962C8B-B14F-4D97-AF65-F5344CB8AC3E}">
        <p14:creationId xmlns:p14="http://schemas.microsoft.com/office/powerpoint/2010/main" val="1865307154"/>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02" r:id="rId9"/>
    <p:sldLayoutId id="2147483903" r:id="rId10"/>
    <p:sldLayoutId id="2147483904" r:id="rId11"/>
    <p:sldLayoutId id="2147483905" r:id="rId12"/>
    <p:sldLayoutId id="2147483906" r:id="rId13"/>
    <p:sldLayoutId id="2147483907" r:id="rId14"/>
    <p:sldLayoutId id="2147483908" r:id="rId15"/>
    <p:sldLayoutId id="2147483909" r:id="rId16"/>
  </p:sldLayoutIdLst>
  <p:hf hdr="0" ftr="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s://arxiv.org/pdf/1512.03385.pdf"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hyperlink" Target="https://courses.analyticsvidhya.com/courses/Introduction-to-Neural-Networks?utm_source=blog&amp;utm_medium=mathematics-behind-convolutional-neural-network" TargetMode="External"/><Relationship Id="rId2" Type="http://schemas.openxmlformats.org/officeDocument/2006/relationships/hyperlink" Target="https://courses.analyticsvidhya.com/courses/computer-vision-using-deep-learning-version2?utm_source=blog&amp;utm_medium=mathematics-behind-convolutional-neural-network"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hyperlink" Target="https://courses.analyticsvidhya.com/courses/convolutional-neural-networks-cnn-from-scratch?utm_source=blog&amp;utm_medium=mathematics-behind-convolutional-neural-network"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cdn.analyticsvidhya.com/wp-content/uploads/2020/02/Screenshot-from-2020-02-03-17-54-22.png" TargetMode="Externa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5.gi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6.gi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hyperlink" Target="https://www.analyticsvidhya.com/blog/2020/01/fundamentals-deep-learning-activation-functions-when-to-use-them/?utm_source=blog&amp;utm_medium=mathematics-convolutional-neural-network" TargetMode="Externa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hyperlink" Target="https://www.analyticsvidhya.com/blog/2017/03/introduction-to-gradient-descent-algorithm-along-its-variants/?utm_source=blog&amp;utm_medium=mathematics-behind-convolutional-neural-network" TargetMode="Externa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hyperlink" Target="https://www.analyticsvidhya.com/blog/2017/03/introduction-to-gradient-descent-algorithm-along-its-variants/?utm_source=blog&amp;utm_medium=mathematics-convolutional-neural-network" TargetMode="Externa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B18B7-3BED-4B47-8884-D32F592D00D5}"/>
              </a:ext>
            </a:extLst>
          </p:cNvPr>
          <p:cNvSpPr>
            <a:spLocks noGrp="1"/>
          </p:cNvSpPr>
          <p:nvPr>
            <p:ph type="ctrTitle"/>
          </p:nvPr>
        </p:nvSpPr>
        <p:spPr/>
        <p:txBody>
          <a:bodyPr/>
          <a:lstStyle/>
          <a:p>
            <a:pPr algn="ctr"/>
            <a:r>
              <a:rPr lang="tr-TR" b="1" dirty="0"/>
              <a:t>WHAT IS CNN</a:t>
            </a:r>
          </a:p>
        </p:txBody>
      </p:sp>
      <p:sp>
        <p:nvSpPr>
          <p:cNvPr id="3" name="Subtitle 2">
            <a:extLst>
              <a:ext uri="{FF2B5EF4-FFF2-40B4-BE49-F238E27FC236}">
                <a16:creationId xmlns:a16="http://schemas.microsoft.com/office/drawing/2014/main" id="{8F9307F7-2548-4F8B-9360-AFD8A4C50DD8}"/>
              </a:ext>
            </a:extLst>
          </p:cNvPr>
          <p:cNvSpPr>
            <a:spLocks noGrp="1"/>
          </p:cNvSpPr>
          <p:nvPr>
            <p:ph type="subTitle" idx="1"/>
          </p:nvPr>
        </p:nvSpPr>
        <p:spPr/>
        <p:txBody>
          <a:bodyPr>
            <a:normAutofit/>
          </a:bodyPr>
          <a:lstStyle/>
          <a:p>
            <a:pPr algn="ctr"/>
            <a:r>
              <a:rPr lang="tr-TR" b="1" dirty="0">
                <a:solidFill>
                  <a:srgbClr val="0070C0"/>
                </a:solidFill>
              </a:rPr>
              <a:t>Prof.Dr. Sami Ekici</a:t>
            </a:r>
          </a:p>
          <a:p>
            <a:pPr algn="ctr"/>
            <a:r>
              <a:rPr lang="tr-TR" b="1" dirty="0">
                <a:solidFill>
                  <a:srgbClr val="0070C0"/>
                </a:solidFill>
              </a:rPr>
              <a:t>Firat University</a:t>
            </a:r>
          </a:p>
        </p:txBody>
      </p:sp>
      <p:sp>
        <p:nvSpPr>
          <p:cNvPr id="4" name="Date Placeholder 3"/>
          <p:cNvSpPr>
            <a:spLocks noGrp="1"/>
          </p:cNvSpPr>
          <p:nvPr>
            <p:ph type="dt" sz="half" idx="10"/>
          </p:nvPr>
        </p:nvSpPr>
        <p:spPr/>
        <p:txBody>
          <a:bodyPr/>
          <a:lstStyle/>
          <a:p>
            <a:fld id="{E6A11494-26A3-46FE-851C-1E71B819E144}"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1</a:t>
            </a:fld>
            <a:endParaRPr lang="tr-T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1154" y="533109"/>
            <a:ext cx="6471516" cy="3204942"/>
          </a:xfrm>
          <a:prstGeom prst="rect">
            <a:avLst/>
          </a:prstGeom>
        </p:spPr>
      </p:pic>
    </p:spTree>
    <p:extLst>
      <p:ext uri="{BB962C8B-B14F-4D97-AF65-F5344CB8AC3E}">
        <p14:creationId xmlns:p14="http://schemas.microsoft.com/office/powerpoint/2010/main" val="1303154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37351-3006-4ACB-B3C4-ECD2533BFF43}"/>
              </a:ext>
            </a:extLst>
          </p:cNvPr>
          <p:cNvSpPr>
            <a:spLocks noGrp="1"/>
          </p:cNvSpPr>
          <p:nvPr>
            <p:ph type="title"/>
          </p:nvPr>
        </p:nvSpPr>
        <p:spPr/>
        <p:txBody>
          <a:bodyPr/>
          <a:lstStyle/>
          <a:p>
            <a:r>
              <a:rPr lang="en-US" b="1" dirty="0"/>
              <a:t>What is d</a:t>
            </a:r>
            <a:r>
              <a:rPr lang="tr-TR" b="1" dirty="0"/>
              <a:t>i</a:t>
            </a:r>
            <a:r>
              <a:rPr lang="en-US" b="1" dirty="0" err="1"/>
              <a:t>fferent</a:t>
            </a:r>
            <a:r>
              <a:rPr lang="en-US" b="1" dirty="0"/>
              <a:t> </a:t>
            </a:r>
            <a:r>
              <a:rPr lang="tr-TR" b="1" dirty="0"/>
              <a:t>i</a:t>
            </a:r>
            <a:r>
              <a:rPr lang="en-US" b="1" dirty="0"/>
              <a:t>n CNN?</a:t>
            </a:r>
          </a:p>
        </p:txBody>
      </p:sp>
      <p:sp>
        <p:nvSpPr>
          <p:cNvPr id="3" name="Content Placeholder 2">
            <a:extLst>
              <a:ext uri="{FF2B5EF4-FFF2-40B4-BE49-F238E27FC236}">
                <a16:creationId xmlns:a16="http://schemas.microsoft.com/office/drawing/2014/main" id="{9E4B35BF-974D-48D5-AFAB-1B43041650ED}"/>
              </a:ext>
            </a:extLst>
          </p:cNvPr>
          <p:cNvSpPr>
            <a:spLocks noGrp="1"/>
          </p:cNvSpPr>
          <p:nvPr>
            <p:ph idx="1"/>
          </p:nvPr>
        </p:nvSpPr>
        <p:spPr>
          <a:xfrm>
            <a:off x="2592925" y="1745673"/>
            <a:ext cx="8915400" cy="3777622"/>
          </a:xfrm>
        </p:spPr>
        <p:txBody>
          <a:bodyPr>
            <a:normAutofit/>
          </a:bodyPr>
          <a:lstStyle/>
          <a:p>
            <a:r>
              <a:rPr lang="en-US" dirty="0"/>
              <a:t>Convolutional Neural Networks are very similar to ordinary </a:t>
            </a:r>
            <a:r>
              <a:rPr lang="en-US"/>
              <a:t>Neural Networks: </a:t>
            </a:r>
            <a:r>
              <a:rPr lang="en-US" dirty="0"/>
              <a:t>they are made up of neurons that have learnable weights and biases. </a:t>
            </a:r>
            <a:endParaRPr lang="tr-TR" dirty="0"/>
          </a:p>
          <a:p>
            <a:r>
              <a:rPr lang="en-US" dirty="0"/>
              <a:t>Each neuron receives some inputs, performs a dot product and optionally follows it with a non-linearity. </a:t>
            </a:r>
            <a:endParaRPr lang="tr-TR" dirty="0"/>
          </a:p>
          <a:p>
            <a:r>
              <a:rPr lang="en-US" dirty="0"/>
              <a:t>The whole network still expresses a single differentiable score function: from the raw image pixels on one end to class scores at the other. </a:t>
            </a:r>
            <a:endParaRPr lang="tr-TR" dirty="0"/>
          </a:p>
          <a:p>
            <a:r>
              <a:rPr lang="en-US" dirty="0"/>
              <a:t>And they still have a loss function (e.g. SVM/</a:t>
            </a:r>
            <a:r>
              <a:rPr lang="en-US" dirty="0" err="1"/>
              <a:t>Softmax</a:t>
            </a:r>
            <a:r>
              <a:rPr lang="en-US" dirty="0"/>
              <a:t>) on the last (fully-connected) layer and all the tips/tricks we developed for learning regular Neural Networks still apply.</a:t>
            </a:r>
            <a:endParaRPr lang="tr-TR" dirty="0"/>
          </a:p>
        </p:txBody>
      </p:sp>
      <p:sp>
        <p:nvSpPr>
          <p:cNvPr id="4" name="Date Placeholder 3"/>
          <p:cNvSpPr>
            <a:spLocks noGrp="1"/>
          </p:cNvSpPr>
          <p:nvPr>
            <p:ph type="dt" sz="half" idx="10"/>
          </p:nvPr>
        </p:nvSpPr>
        <p:spPr/>
        <p:txBody>
          <a:bodyPr/>
          <a:lstStyle/>
          <a:p>
            <a:fld id="{862D58DF-5060-48E8-B5F2-F7E163231A92}"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2</a:t>
            </a:fld>
            <a:endParaRPr lang="tr-TR"/>
          </a:p>
        </p:txBody>
      </p:sp>
    </p:spTree>
    <p:extLst>
      <p:ext uri="{BB962C8B-B14F-4D97-AF65-F5344CB8AC3E}">
        <p14:creationId xmlns:p14="http://schemas.microsoft.com/office/powerpoint/2010/main" val="4197986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CA525-B4DC-497D-A0EC-1C40C71254A9}"/>
              </a:ext>
            </a:extLst>
          </p:cNvPr>
          <p:cNvSpPr>
            <a:spLocks noGrp="1"/>
          </p:cNvSpPr>
          <p:nvPr>
            <p:ph type="title"/>
          </p:nvPr>
        </p:nvSpPr>
        <p:spPr/>
        <p:txBody>
          <a:bodyPr/>
          <a:lstStyle/>
          <a:p>
            <a:r>
              <a:rPr lang="tr-TR" b="1" dirty="0"/>
              <a:t>So what changes?</a:t>
            </a:r>
          </a:p>
        </p:txBody>
      </p:sp>
      <p:sp>
        <p:nvSpPr>
          <p:cNvPr id="3" name="Content Placeholder 2">
            <a:extLst>
              <a:ext uri="{FF2B5EF4-FFF2-40B4-BE49-F238E27FC236}">
                <a16:creationId xmlns:a16="http://schemas.microsoft.com/office/drawing/2014/main" id="{7F01965C-EE41-469D-9485-EDBBBE12412A}"/>
              </a:ext>
            </a:extLst>
          </p:cNvPr>
          <p:cNvSpPr>
            <a:spLocks noGrp="1"/>
          </p:cNvSpPr>
          <p:nvPr>
            <p:ph idx="1"/>
          </p:nvPr>
        </p:nvSpPr>
        <p:spPr/>
        <p:txBody>
          <a:bodyPr>
            <a:normAutofit/>
          </a:bodyPr>
          <a:lstStyle/>
          <a:p>
            <a:r>
              <a:rPr lang="en-US" sz="2800" dirty="0" err="1"/>
              <a:t>ConvNet</a:t>
            </a:r>
            <a:r>
              <a:rPr lang="en-US" sz="2800" dirty="0"/>
              <a:t> architectures make the explicit assumption that the inputs are images, which allows us to encode certain properties into the architecture. </a:t>
            </a:r>
            <a:endParaRPr lang="tr-TR" sz="2800" dirty="0"/>
          </a:p>
          <a:p>
            <a:r>
              <a:rPr lang="en-US" sz="2800" dirty="0"/>
              <a:t>These then make the forward function more efficient to implement and vastly reduce the amount of parameters in the network.</a:t>
            </a:r>
            <a:endParaRPr lang="tr-TR" sz="2800" dirty="0"/>
          </a:p>
        </p:txBody>
      </p:sp>
      <p:sp>
        <p:nvSpPr>
          <p:cNvPr id="4" name="Date Placeholder 3"/>
          <p:cNvSpPr>
            <a:spLocks noGrp="1"/>
          </p:cNvSpPr>
          <p:nvPr>
            <p:ph type="dt" sz="half" idx="10"/>
          </p:nvPr>
        </p:nvSpPr>
        <p:spPr/>
        <p:txBody>
          <a:bodyPr/>
          <a:lstStyle/>
          <a:p>
            <a:fld id="{19F49577-1C7C-49C8-9112-1FD4933C0359}"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3</a:t>
            </a:fld>
            <a:endParaRPr lang="tr-TR"/>
          </a:p>
        </p:txBody>
      </p:sp>
    </p:spTree>
    <p:extLst>
      <p:ext uri="{BB962C8B-B14F-4D97-AF65-F5344CB8AC3E}">
        <p14:creationId xmlns:p14="http://schemas.microsoft.com/office/powerpoint/2010/main" val="3878601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38818-CC86-45A1-890A-65F51DB30E79}"/>
              </a:ext>
            </a:extLst>
          </p:cNvPr>
          <p:cNvSpPr>
            <a:spLocks noGrp="1"/>
          </p:cNvSpPr>
          <p:nvPr>
            <p:ph type="title"/>
          </p:nvPr>
        </p:nvSpPr>
        <p:spPr/>
        <p:txBody>
          <a:bodyPr>
            <a:normAutofit/>
          </a:bodyPr>
          <a:lstStyle/>
          <a:p>
            <a:r>
              <a:rPr lang="tr-TR" b="1" dirty="0"/>
              <a:t>Architecture Overview</a:t>
            </a:r>
            <a:br>
              <a:rPr lang="tr-TR" dirty="0"/>
            </a:br>
            <a:endParaRPr lang="tr-TR" dirty="0"/>
          </a:p>
        </p:txBody>
      </p:sp>
      <p:sp>
        <p:nvSpPr>
          <p:cNvPr id="3" name="Content Placeholder 2">
            <a:extLst>
              <a:ext uri="{FF2B5EF4-FFF2-40B4-BE49-F238E27FC236}">
                <a16:creationId xmlns:a16="http://schemas.microsoft.com/office/drawing/2014/main" id="{9E610990-C763-4675-A376-4F16FEC27323}"/>
              </a:ext>
            </a:extLst>
          </p:cNvPr>
          <p:cNvSpPr>
            <a:spLocks noGrp="1"/>
          </p:cNvSpPr>
          <p:nvPr>
            <p:ph idx="1"/>
          </p:nvPr>
        </p:nvSpPr>
        <p:spPr/>
        <p:txBody>
          <a:bodyPr>
            <a:normAutofit lnSpcReduction="10000"/>
          </a:bodyPr>
          <a:lstStyle/>
          <a:p>
            <a:r>
              <a:rPr lang="en-US" sz="2400" dirty="0"/>
              <a:t>As we </a:t>
            </a:r>
            <a:r>
              <a:rPr lang="tr-TR" sz="2400" dirty="0"/>
              <a:t>know,</a:t>
            </a:r>
            <a:r>
              <a:rPr lang="en-US" sz="2400" dirty="0"/>
              <a:t> Neural Networks receive an input (a single vector), and transform it through a series of </a:t>
            </a:r>
            <a:r>
              <a:rPr lang="en-US" sz="2400" i="1" dirty="0"/>
              <a:t>hidden layers</a:t>
            </a:r>
            <a:r>
              <a:rPr lang="en-US" sz="2400" dirty="0"/>
              <a:t>. </a:t>
            </a:r>
            <a:endParaRPr lang="tr-TR" sz="2400" dirty="0"/>
          </a:p>
          <a:p>
            <a:r>
              <a:rPr lang="en-US" sz="2400" dirty="0"/>
              <a:t>Each hidden layer is made up of a set of neurons, where each neuron is fully connected to all neurons in the previous layer, and where neurons in a single layer function completely independently and do not share any connections. </a:t>
            </a:r>
            <a:endParaRPr lang="tr-TR" sz="2400" dirty="0"/>
          </a:p>
          <a:p>
            <a:r>
              <a:rPr lang="en-US" sz="2400" dirty="0"/>
              <a:t>The last fully-connected layer is called the “output layer” and in classification settings it represents the class scores.</a:t>
            </a:r>
            <a:endParaRPr lang="tr-TR" sz="2400" dirty="0"/>
          </a:p>
        </p:txBody>
      </p:sp>
      <p:sp>
        <p:nvSpPr>
          <p:cNvPr id="4" name="Date Placeholder 3"/>
          <p:cNvSpPr>
            <a:spLocks noGrp="1"/>
          </p:cNvSpPr>
          <p:nvPr>
            <p:ph type="dt" sz="half" idx="10"/>
          </p:nvPr>
        </p:nvSpPr>
        <p:spPr/>
        <p:txBody>
          <a:bodyPr/>
          <a:lstStyle/>
          <a:p>
            <a:fld id="{AFD3C5C2-E7EE-47DB-BD6F-7DB6595C384A}"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4</a:t>
            </a:fld>
            <a:endParaRPr lang="tr-TR"/>
          </a:p>
        </p:txBody>
      </p:sp>
    </p:spTree>
    <p:extLst>
      <p:ext uri="{BB962C8B-B14F-4D97-AF65-F5344CB8AC3E}">
        <p14:creationId xmlns:p14="http://schemas.microsoft.com/office/powerpoint/2010/main" val="4104031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66D37-7B0D-4FF8-85DA-639169C6C7B2}"/>
              </a:ext>
            </a:extLst>
          </p:cNvPr>
          <p:cNvSpPr>
            <a:spLocks noGrp="1"/>
          </p:cNvSpPr>
          <p:nvPr>
            <p:ph type="title"/>
          </p:nvPr>
        </p:nvSpPr>
        <p:spPr/>
        <p:txBody>
          <a:bodyPr/>
          <a:lstStyle/>
          <a:p>
            <a:r>
              <a:rPr lang="tr-TR" b="1" i="1" dirty="0"/>
              <a:t>Regular Neural Nets for images</a:t>
            </a:r>
            <a:endParaRPr lang="tr-TR" b="1" dirty="0"/>
          </a:p>
        </p:txBody>
      </p:sp>
      <p:sp>
        <p:nvSpPr>
          <p:cNvPr id="3" name="Content Placeholder 2">
            <a:extLst>
              <a:ext uri="{FF2B5EF4-FFF2-40B4-BE49-F238E27FC236}">
                <a16:creationId xmlns:a16="http://schemas.microsoft.com/office/drawing/2014/main" id="{E7906AA9-CD25-41DA-9E19-064C06EA379D}"/>
              </a:ext>
            </a:extLst>
          </p:cNvPr>
          <p:cNvSpPr>
            <a:spLocks noGrp="1"/>
          </p:cNvSpPr>
          <p:nvPr>
            <p:ph idx="1"/>
          </p:nvPr>
        </p:nvSpPr>
        <p:spPr/>
        <p:txBody>
          <a:bodyPr>
            <a:normAutofit lnSpcReduction="10000"/>
          </a:bodyPr>
          <a:lstStyle/>
          <a:p>
            <a:r>
              <a:rPr lang="en-US" i="1" dirty="0"/>
              <a:t>Regular Neural Nets don’t scale well to full images</a:t>
            </a:r>
            <a:r>
              <a:rPr lang="en-US" dirty="0"/>
              <a:t>. In CIFAR-10, images are only of size 32x32x3 (32 wide, 32 high, 3 color channels), so a single fully-connected neuron in a first hidden layer of a regular Neural Network would have 32*32*3 = 3072 weights. </a:t>
            </a:r>
            <a:endParaRPr lang="tr-TR" dirty="0"/>
          </a:p>
          <a:p>
            <a:r>
              <a:rPr lang="en-US" dirty="0"/>
              <a:t>This amount still seems manageable, but clearly this fully-connected structure does not scale to larger images. </a:t>
            </a:r>
            <a:endParaRPr lang="tr-TR" dirty="0"/>
          </a:p>
          <a:p>
            <a:r>
              <a:rPr lang="en-US" dirty="0"/>
              <a:t>For example, an image of more respectable size, e.g. 200x200x3, would lead to neurons that have 200*200*3 = 120,000 weights. </a:t>
            </a:r>
            <a:endParaRPr lang="tr-TR" dirty="0"/>
          </a:p>
          <a:p>
            <a:r>
              <a:rPr lang="en-US" dirty="0"/>
              <a:t>Moreover, we would almost certainly want to have several such neurons, so the parameters would add up quickly! </a:t>
            </a:r>
            <a:endParaRPr lang="tr-TR" dirty="0"/>
          </a:p>
          <a:p>
            <a:r>
              <a:rPr lang="en-US" dirty="0"/>
              <a:t>Clearly, this full connectivity is wasteful and the huge number of parameters would quickly lead to overfitting.</a:t>
            </a:r>
            <a:endParaRPr lang="tr-TR" dirty="0"/>
          </a:p>
        </p:txBody>
      </p:sp>
      <p:sp>
        <p:nvSpPr>
          <p:cNvPr id="4" name="Date Placeholder 3"/>
          <p:cNvSpPr>
            <a:spLocks noGrp="1"/>
          </p:cNvSpPr>
          <p:nvPr>
            <p:ph type="dt" sz="half" idx="10"/>
          </p:nvPr>
        </p:nvSpPr>
        <p:spPr/>
        <p:txBody>
          <a:bodyPr/>
          <a:lstStyle/>
          <a:p>
            <a:fld id="{AA72937D-5789-4A89-A847-A9BF48FD5EE2}"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5</a:t>
            </a:fld>
            <a:endParaRPr lang="tr-TR"/>
          </a:p>
        </p:txBody>
      </p:sp>
    </p:spTree>
    <p:extLst>
      <p:ext uri="{BB962C8B-B14F-4D97-AF65-F5344CB8AC3E}">
        <p14:creationId xmlns:p14="http://schemas.microsoft.com/office/powerpoint/2010/main" val="1739974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18DC6-EDEB-4922-AA28-D17F05F59B1B}"/>
              </a:ext>
            </a:extLst>
          </p:cNvPr>
          <p:cNvSpPr>
            <a:spLocks noGrp="1"/>
          </p:cNvSpPr>
          <p:nvPr>
            <p:ph type="title"/>
          </p:nvPr>
        </p:nvSpPr>
        <p:spPr/>
        <p:txBody>
          <a:bodyPr>
            <a:normAutofit fontScale="90000"/>
          </a:bodyPr>
          <a:lstStyle/>
          <a:p>
            <a:r>
              <a:rPr lang="en-US" b="1" dirty="0"/>
              <a:t>Understanding of Convolutional Neural Network (CNN)</a:t>
            </a:r>
            <a:br>
              <a:rPr lang="en-US" dirty="0"/>
            </a:br>
            <a:endParaRPr lang="tr-TR" dirty="0"/>
          </a:p>
        </p:txBody>
      </p:sp>
      <p:sp>
        <p:nvSpPr>
          <p:cNvPr id="3" name="Content Placeholder 2">
            <a:extLst>
              <a:ext uri="{FF2B5EF4-FFF2-40B4-BE49-F238E27FC236}">
                <a16:creationId xmlns:a16="http://schemas.microsoft.com/office/drawing/2014/main" id="{488FFE75-266C-4774-81C9-73798C3BBA43}"/>
              </a:ext>
            </a:extLst>
          </p:cNvPr>
          <p:cNvSpPr>
            <a:spLocks noGrp="1"/>
          </p:cNvSpPr>
          <p:nvPr>
            <p:ph idx="1"/>
          </p:nvPr>
        </p:nvSpPr>
        <p:spPr/>
        <p:txBody>
          <a:bodyPr>
            <a:normAutofit/>
          </a:bodyPr>
          <a:lstStyle/>
          <a:p>
            <a:r>
              <a:rPr lang="tr-TR" dirty="0"/>
              <a:t>Convolutional neural networks (CNNs or ConvNets) are one of the main neural networks which are especially used in image recognition applications.</a:t>
            </a:r>
          </a:p>
          <a:p>
            <a:r>
              <a:rPr lang="tr-TR" dirty="0"/>
              <a:t>Face recognition, object detection, desease identification, computer vision are some of the areas where CNNs are widely used.</a:t>
            </a:r>
          </a:p>
          <a:p>
            <a:r>
              <a:rPr lang="en-US" dirty="0"/>
              <a:t>CNN image classifications takes an input image, process it and classify it under certain categories (</a:t>
            </a:r>
            <a:r>
              <a:rPr lang="en-US" dirty="0" err="1"/>
              <a:t>Eg.</a:t>
            </a:r>
            <a:r>
              <a:rPr lang="en-US" dirty="0"/>
              <a:t>, Dog, Cat, Tiger, Lion). </a:t>
            </a:r>
            <a:endParaRPr lang="tr-TR" dirty="0"/>
          </a:p>
          <a:p>
            <a:r>
              <a:rPr lang="en-US" dirty="0"/>
              <a:t>Computers sees an input image as array of pixels and it depends on the image resolution.</a:t>
            </a:r>
            <a:endParaRPr lang="tr-TR" dirty="0"/>
          </a:p>
          <a:p>
            <a:r>
              <a:rPr lang="en-US" dirty="0"/>
              <a:t>Based on the image resolution, it will see h x w x d( h = Height, w = Width, d = Dimension ).</a:t>
            </a:r>
          </a:p>
        </p:txBody>
      </p:sp>
      <p:sp>
        <p:nvSpPr>
          <p:cNvPr id="4" name="Date Placeholder 3"/>
          <p:cNvSpPr>
            <a:spLocks noGrp="1"/>
          </p:cNvSpPr>
          <p:nvPr>
            <p:ph type="dt" sz="half" idx="10"/>
          </p:nvPr>
        </p:nvSpPr>
        <p:spPr/>
        <p:txBody>
          <a:bodyPr/>
          <a:lstStyle/>
          <a:p>
            <a:fld id="{D16A1F26-D686-4CC0-984D-4E23480A826C}"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6</a:t>
            </a:fld>
            <a:endParaRPr lang="tr-TR"/>
          </a:p>
        </p:txBody>
      </p:sp>
    </p:spTree>
    <p:extLst>
      <p:ext uri="{BB962C8B-B14F-4D97-AF65-F5344CB8AC3E}">
        <p14:creationId xmlns:p14="http://schemas.microsoft.com/office/powerpoint/2010/main" val="3956895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73E32-2E09-42B9-A0CD-E467680B2403}"/>
              </a:ext>
            </a:extLst>
          </p:cNvPr>
          <p:cNvSpPr>
            <a:spLocks noGrp="1"/>
          </p:cNvSpPr>
          <p:nvPr>
            <p:ph type="title"/>
          </p:nvPr>
        </p:nvSpPr>
        <p:spPr/>
        <p:txBody>
          <a:bodyPr/>
          <a:lstStyle/>
          <a:p>
            <a:r>
              <a:rPr lang="tr-TR" b="1" dirty="0"/>
              <a:t>RGB (red-green-blue) images</a:t>
            </a:r>
          </a:p>
        </p:txBody>
      </p:sp>
      <p:sp>
        <p:nvSpPr>
          <p:cNvPr id="3" name="Content Placeholder 2">
            <a:extLst>
              <a:ext uri="{FF2B5EF4-FFF2-40B4-BE49-F238E27FC236}">
                <a16:creationId xmlns:a16="http://schemas.microsoft.com/office/drawing/2014/main" id="{93030B1F-C08F-4246-9179-FBFF5C56A538}"/>
              </a:ext>
            </a:extLst>
          </p:cNvPr>
          <p:cNvSpPr>
            <a:spLocks noGrp="1"/>
          </p:cNvSpPr>
          <p:nvPr>
            <p:ph idx="1"/>
          </p:nvPr>
        </p:nvSpPr>
        <p:spPr/>
        <p:txBody>
          <a:bodyPr/>
          <a:lstStyle/>
          <a:p>
            <a:r>
              <a:rPr lang="en-US" dirty="0" err="1"/>
              <a:t>Eg.</a:t>
            </a:r>
            <a:r>
              <a:rPr lang="en-US" dirty="0"/>
              <a:t>, An image of 6 x 6 x 3 array of matrix of RGB (3 refers to RGB values) and an image of 4 x 4 x 1 array of matrix of grayscale image.</a:t>
            </a:r>
            <a:r>
              <a:rPr lang="tr-TR" dirty="0"/>
              <a:t> </a:t>
            </a:r>
          </a:p>
          <a:p>
            <a:endParaRPr lang="tr-TR" b="1" dirty="0"/>
          </a:p>
          <a:p>
            <a:endParaRPr lang="tr-TR" b="1" dirty="0"/>
          </a:p>
          <a:p>
            <a:endParaRPr lang="tr-TR" b="1" dirty="0"/>
          </a:p>
          <a:p>
            <a:pPr marL="0" indent="0">
              <a:buNone/>
            </a:pPr>
            <a:r>
              <a:rPr lang="en-US" b="1" dirty="0"/>
              <a:t>Figure 1 : Array of RGB Matrix</a:t>
            </a:r>
            <a:endParaRPr lang="tr-TR" dirty="0"/>
          </a:p>
          <a:p>
            <a:endParaRPr lang="tr-TR" dirty="0"/>
          </a:p>
        </p:txBody>
      </p:sp>
      <p:pic>
        <p:nvPicPr>
          <p:cNvPr id="1028" name="Picture 4">
            <a:extLst>
              <a:ext uri="{FF2B5EF4-FFF2-40B4-BE49-F238E27FC236}">
                <a16:creationId xmlns:a16="http://schemas.microsoft.com/office/drawing/2014/main" id="{2EE02255-1F52-480B-B41F-9C098409B9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3518" y="3148281"/>
            <a:ext cx="3036668" cy="3207563"/>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fld id="{529B4515-CD36-4754-A5F7-109595CC5F8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7</a:t>
            </a:fld>
            <a:endParaRPr lang="tr-TR"/>
          </a:p>
        </p:txBody>
      </p:sp>
    </p:spTree>
    <p:extLst>
      <p:ext uri="{BB962C8B-B14F-4D97-AF65-F5344CB8AC3E}">
        <p14:creationId xmlns:p14="http://schemas.microsoft.com/office/powerpoint/2010/main" val="1683994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4ED9E-B745-40DD-9454-07E351042929}"/>
              </a:ext>
            </a:extLst>
          </p:cNvPr>
          <p:cNvSpPr>
            <a:spLocks noGrp="1"/>
          </p:cNvSpPr>
          <p:nvPr>
            <p:ph type="title"/>
          </p:nvPr>
        </p:nvSpPr>
        <p:spPr>
          <a:xfrm>
            <a:off x="2592925" y="624110"/>
            <a:ext cx="8911687" cy="761345"/>
          </a:xfrm>
        </p:spPr>
        <p:txBody>
          <a:bodyPr/>
          <a:lstStyle/>
          <a:p>
            <a:r>
              <a:rPr lang="tr-TR" b="1" i="1" dirty="0"/>
              <a:t>3D volumes of neurons</a:t>
            </a:r>
            <a:endParaRPr lang="tr-TR" b="1" dirty="0"/>
          </a:p>
        </p:txBody>
      </p:sp>
      <p:sp>
        <p:nvSpPr>
          <p:cNvPr id="3" name="Content Placeholder 2">
            <a:extLst>
              <a:ext uri="{FF2B5EF4-FFF2-40B4-BE49-F238E27FC236}">
                <a16:creationId xmlns:a16="http://schemas.microsoft.com/office/drawing/2014/main" id="{97E99525-D063-4644-B7A3-A528DFC72622}"/>
              </a:ext>
            </a:extLst>
          </p:cNvPr>
          <p:cNvSpPr>
            <a:spLocks noGrp="1"/>
          </p:cNvSpPr>
          <p:nvPr>
            <p:ph idx="1"/>
          </p:nvPr>
        </p:nvSpPr>
        <p:spPr>
          <a:xfrm>
            <a:off x="2589212" y="1385455"/>
            <a:ext cx="8915400" cy="4525767"/>
          </a:xfrm>
        </p:spPr>
        <p:txBody>
          <a:bodyPr>
            <a:normAutofit/>
          </a:bodyPr>
          <a:lstStyle/>
          <a:p>
            <a:r>
              <a:rPr lang="en-US" dirty="0"/>
              <a:t>Convolutional Neural Networks take advantage of the fact that the input consists of images and they constrain the architecture in a more sensible way. </a:t>
            </a:r>
            <a:endParaRPr lang="tr-TR" dirty="0"/>
          </a:p>
          <a:p>
            <a:r>
              <a:rPr lang="en-US" dirty="0"/>
              <a:t>In particular, unlike a regular Neural Network, the layers of a </a:t>
            </a:r>
            <a:r>
              <a:rPr lang="en-US" dirty="0" err="1"/>
              <a:t>ConvNet</a:t>
            </a:r>
            <a:r>
              <a:rPr lang="en-US" dirty="0"/>
              <a:t> have neurons arranged in 3 dimensions: </a:t>
            </a:r>
            <a:r>
              <a:rPr lang="en-US" b="1" dirty="0">
                <a:solidFill>
                  <a:srgbClr val="0070C0"/>
                </a:solidFill>
              </a:rPr>
              <a:t>width, height, depth</a:t>
            </a:r>
            <a:r>
              <a:rPr lang="en-US" dirty="0"/>
              <a:t>. </a:t>
            </a:r>
            <a:endParaRPr lang="tr-TR" dirty="0"/>
          </a:p>
          <a:p>
            <a:r>
              <a:rPr lang="en-US" dirty="0"/>
              <a:t>Note that the word </a:t>
            </a:r>
            <a:r>
              <a:rPr lang="en-US" i="1" dirty="0"/>
              <a:t>depth</a:t>
            </a:r>
            <a:r>
              <a:rPr lang="en-US" dirty="0"/>
              <a:t> here refers to the third dimension of an activation volume, not to the depth of a full Neural Network, which can refer to the total number of layers in a network. </a:t>
            </a:r>
            <a:endParaRPr lang="tr-TR" dirty="0"/>
          </a:p>
          <a:p>
            <a:r>
              <a:rPr lang="en-US" dirty="0"/>
              <a:t>For example, the input images in CIFAR-10 are an input volume of activations, and the volume has dimensions 32x32x3 (width, height, depth respectively).</a:t>
            </a:r>
            <a:endParaRPr lang="tr-TR" dirty="0"/>
          </a:p>
        </p:txBody>
      </p:sp>
      <p:sp>
        <p:nvSpPr>
          <p:cNvPr id="4" name="Date Placeholder 3"/>
          <p:cNvSpPr>
            <a:spLocks noGrp="1"/>
          </p:cNvSpPr>
          <p:nvPr>
            <p:ph type="dt" sz="half" idx="10"/>
          </p:nvPr>
        </p:nvSpPr>
        <p:spPr/>
        <p:txBody>
          <a:bodyPr/>
          <a:lstStyle/>
          <a:p>
            <a:fld id="{22791F46-8359-4DD4-9393-100AFD694ED6}"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8</a:t>
            </a:fld>
            <a:endParaRPr lang="tr-TR"/>
          </a:p>
        </p:txBody>
      </p:sp>
    </p:spTree>
    <p:extLst>
      <p:ext uri="{BB962C8B-B14F-4D97-AF65-F5344CB8AC3E}">
        <p14:creationId xmlns:p14="http://schemas.microsoft.com/office/powerpoint/2010/main" val="2032742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1F386B-A6CF-4E43-BCAA-0753E9862F96}"/>
              </a:ext>
            </a:extLst>
          </p:cNvPr>
          <p:cNvSpPr>
            <a:spLocks noGrp="1"/>
          </p:cNvSpPr>
          <p:nvPr>
            <p:ph idx="1"/>
          </p:nvPr>
        </p:nvSpPr>
        <p:spPr>
          <a:xfrm>
            <a:off x="2216726" y="867104"/>
            <a:ext cx="9289473" cy="5351582"/>
          </a:xfrm>
        </p:spPr>
        <p:txBody>
          <a:bodyPr>
            <a:normAutofit/>
          </a:bodyPr>
          <a:lstStyle/>
          <a:p>
            <a:r>
              <a:rPr lang="en-US" dirty="0"/>
              <a:t>As we will soon see, the neurons in a layer will only be connected to a small region of the layer before it, instead of all of the neurons in a fully-connected manner. </a:t>
            </a:r>
            <a:endParaRPr lang="tr-TR" dirty="0"/>
          </a:p>
          <a:p>
            <a:r>
              <a:rPr lang="en-US" dirty="0"/>
              <a:t>Moreover, the final output layer would for CIFAR-10 have dimensions 1x1x10, because by the end of the </a:t>
            </a:r>
            <a:r>
              <a:rPr lang="en-US" dirty="0" err="1"/>
              <a:t>ConvNet</a:t>
            </a:r>
            <a:r>
              <a:rPr lang="en-US" dirty="0"/>
              <a:t> architecture we will reduce the full image into a single vector of class scores, arranged along the depth dimension. </a:t>
            </a:r>
            <a:endParaRPr lang="tr-TR" dirty="0"/>
          </a:p>
          <a:p>
            <a:endParaRPr lang="tr-TR" dirty="0"/>
          </a:p>
          <a:p>
            <a:endParaRPr lang="tr-TR" dirty="0"/>
          </a:p>
          <a:p>
            <a:endParaRPr lang="tr-TR" dirty="0"/>
          </a:p>
          <a:p>
            <a:endParaRPr lang="tr-TR" dirty="0"/>
          </a:p>
          <a:p>
            <a:endParaRPr lang="tr-TR" dirty="0"/>
          </a:p>
          <a:p>
            <a:endParaRPr lang="tr-TR" dirty="0"/>
          </a:p>
          <a:p>
            <a:pPr marL="0" indent="0" algn="ctr">
              <a:buNone/>
            </a:pPr>
            <a:r>
              <a:rPr lang="en-US" dirty="0"/>
              <a:t>A regular 3-layer Neural Network</a:t>
            </a:r>
            <a:endParaRPr lang="tr-TR" dirty="0"/>
          </a:p>
          <a:p>
            <a:endParaRPr lang="tr-TR" dirty="0"/>
          </a:p>
        </p:txBody>
      </p:sp>
      <p:pic>
        <p:nvPicPr>
          <p:cNvPr id="6146" name="Picture 2">
            <a:extLst>
              <a:ext uri="{FF2B5EF4-FFF2-40B4-BE49-F238E27FC236}">
                <a16:creationId xmlns:a16="http://schemas.microsoft.com/office/drawing/2014/main" id="{8643EDD0-AD27-49DB-9C91-E2EAE5FF02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8101" y="2847522"/>
            <a:ext cx="4586721" cy="2249871"/>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p:cNvSpPr>
            <a:spLocks noGrp="1"/>
          </p:cNvSpPr>
          <p:nvPr>
            <p:ph type="dt" sz="half" idx="10"/>
          </p:nvPr>
        </p:nvSpPr>
        <p:spPr/>
        <p:txBody>
          <a:bodyPr/>
          <a:lstStyle/>
          <a:p>
            <a:fld id="{30BE88E3-6F67-4512-BB84-A0BE642393AC}" type="datetime1">
              <a:rPr lang="tr-TR" smtClean="0"/>
              <a:t>16.05.2025</a:t>
            </a:fld>
            <a:endParaRPr lang="tr-TR"/>
          </a:p>
        </p:txBody>
      </p:sp>
      <p:sp>
        <p:nvSpPr>
          <p:cNvPr id="4" name="Slide Number Placeholder 3"/>
          <p:cNvSpPr>
            <a:spLocks noGrp="1"/>
          </p:cNvSpPr>
          <p:nvPr>
            <p:ph type="sldNum" sz="quarter" idx="12"/>
          </p:nvPr>
        </p:nvSpPr>
        <p:spPr/>
        <p:txBody>
          <a:bodyPr/>
          <a:lstStyle/>
          <a:p>
            <a:fld id="{4C61373B-6CD7-433C-9DE2-D4B638969085}" type="slidenum">
              <a:rPr lang="tr-TR" smtClean="0"/>
              <a:t>9</a:t>
            </a:fld>
            <a:endParaRPr lang="tr-TR"/>
          </a:p>
        </p:txBody>
      </p:sp>
    </p:spTree>
    <p:extLst>
      <p:ext uri="{BB962C8B-B14F-4D97-AF65-F5344CB8AC3E}">
        <p14:creationId xmlns:p14="http://schemas.microsoft.com/office/powerpoint/2010/main" val="1310550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C81BF4-A64F-4C53-AA6A-046082779DC4}"/>
              </a:ext>
            </a:extLst>
          </p:cNvPr>
          <p:cNvSpPr>
            <a:spLocks noGrp="1"/>
          </p:cNvSpPr>
          <p:nvPr>
            <p:ph idx="1"/>
          </p:nvPr>
        </p:nvSpPr>
        <p:spPr>
          <a:xfrm>
            <a:off x="2258290" y="1001110"/>
            <a:ext cx="9247909" cy="5217575"/>
          </a:xfrm>
        </p:spPr>
        <p:txBody>
          <a:bodyPr/>
          <a:lstStyle/>
          <a:p>
            <a:r>
              <a:rPr lang="en-US" dirty="0"/>
              <a:t>A </a:t>
            </a:r>
            <a:r>
              <a:rPr lang="en-US" dirty="0" err="1"/>
              <a:t>ConvNet</a:t>
            </a:r>
            <a:r>
              <a:rPr lang="en-US" dirty="0"/>
              <a:t> arranges its neurons in three dimensions (width, height, depth), as visualized in one of the layers. </a:t>
            </a:r>
            <a:endParaRPr lang="tr-TR" dirty="0"/>
          </a:p>
          <a:p>
            <a:r>
              <a:rPr lang="en-US" dirty="0"/>
              <a:t>Every layer of a </a:t>
            </a:r>
            <a:r>
              <a:rPr lang="en-US" dirty="0" err="1"/>
              <a:t>ConvNet</a:t>
            </a:r>
            <a:r>
              <a:rPr lang="en-US" dirty="0"/>
              <a:t> transforms the 3D input volume to a 3D output volume of neuron activations. </a:t>
            </a:r>
            <a:endParaRPr lang="tr-TR" dirty="0"/>
          </a:p>
          <a:p>
            <a:r>
              <a:rPr lang="en-US" dirty="0"/>
              <a:t>In this example, the red input layer holds the image, so its width and height would be the dimensions of the image, and the depth would be 3 (Red, Green, Blue channels).</a:t>
            </a:r>
            <a:endParaRPr lang="tr-TR" dirty="0"/>
          </a:p>
        </p:txBody>
      </p:sp>
      <p:pic>
        <p:nvPicPr>
          <p:cNvPr id="7172" name="Picture 4">
            <a:extLst>
              <a:ext uri="{FF2B5EF4-FFF2-40B4-BE49-F238E27FC236}">
                <a16:creationId xmlns:a16="http://schemas.microsoft.com/office/drawing/2014/main" id="{6B7DBCD6-2B6F-4E48-80D1-A39ED20837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2381" y="3473684"/>
            <a:ext cx="5419725" cy="1924050"/>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p:cNvSpPr>
            <a:spLocks noGrp="1"/>
          </p:cNvSpPr>
          <p:nvPr>
            <p:ph type="dt" sz="half" idx="10"/>
          </p:nvPr>
        </p:nvSpPr>
        <p:spPr/>
        <p:txBody>
          <a:bodyPr/>
          <a:lstStyle/>
          <a:p>
            <a:fld id="{670E9A73-7D39-48EA-A49A-505E3A3326CC}" type="datetime1">
              <a:rPr lang="tr-TR" smtClean="0"/>
              <a:t>16.05.2025</a:t>
            </a:fld>
            <a:endParaRPr lang="tr-TR"/>
          </a:p>
        </p:txBody>
      </p:sp>
      <p:sp>
        <p:nvSpPr>
          <p:cNvPr id="4" name="Slide Number Placeholder 3"/>
          <p:cNvSpPr>
            <a:spLocks noGrp="1"/>
          </p:cNvSpPr>
          <p:nvPr>
            <p:ph type="sldNum" sz="quarter" idx="12"/>
          </p:nvPr>
        </p:nvSpPr>
        <p:spPr/>
        <p:txBody>
          <a:bodyPr/>
          <a:lstStyle/>
          <a:p>
            <a:fld id="{4C61373B-6CD7-433C-9DE2-D4B638969085}" type="slidenum">
              <a:rPr lang="tr-TR" smtClean="0"/>
              <a:t>10</a:t>
            </a:fld>
            <a:endParaRPr lang="tr-TR"/>
          </a:p>
        </p:txBody>
      </p:sp>
    </p:spTree>
    <p:extLst>
      <p:ext uri="{BB962C8B-B14F-4D97-AF65-F5344CB8AC3E}">
        <p14:creationId xmlns:p14="http://schemas.microsoft.com/office/powerpoint/2010/main" val="4291208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5CD2E4-DE55-49EF-A93B-39B9FA0F8641}"/>
              </a:ext>
            </a:extLst>
          </p:cNvPr>
          <p:cNvSpPr>
            <a:spLocks noGrp="1"/>
          </p:cNvSpPr>
          <p:nvPr>
            <p:ph idx="1"/>
          </p:nvPr>
        </p:nvSpPr>
        <p:spPr>
          <a:xfrm>
            <a:off x="2024459" y="1142032"/>
            <a:ext cx="9483436" cy="5557345"/>
          </a:xfrm>
        </p:spPr>
        <p:txBody>
          <a:bodyPr>
            <a:normAutofit lnSpcReduction="10000"/>
          </a:bodyPr>
          <a:lstStyle/>
          <a:p>
            <a:r>
              <a:rPr lang="tr-TR" dirty="0"/>
              <a:t>D</a:t>
            </a:r>
            <a:r>
              <a:rPr lang="en-US" dirty="0" err="1"/>
              <a:t>eep</a:t>
            </a:r>
            <a:r>
              <a:rPr lang="en-US" dirty="0"/>
              <a:t> learning CNN models to train and test, each input image will pass it through a series of convolution layers with filters (Kern</a:t>
            </a:r>
            <a:r>
              <a:rPr lang="tr-TR" dirty="0"/>
              <a:t>e</a:t>
            </a:r>
            <a:r>
              <a:rPr lang="en-US" dirty="0"/>
              <a:t>ls), Pooling, fully connected layers (FC) and apply </a:t>
            </a:r>
            <a:r>
              <a:rPr lang="en-US" dirty="0" err="1"/>
              <a:t>Softmax</a:t>
            </a:r>
            <a:r>
              <a:rPr lang="en-US" dirty="0"/>
              <a:t> function to classify an object with probabilistic values between 0 and 1.</a:t>
            </a:r>
            <a:endParaRPr lang="tr-TR" dirty="0"/>
          </a:p>
          <a:p>
            <a:endParaRPr lang="tr-TR" b="1" dirty="0"/>
          </a:p>
          <a:p>
            <a:endParaRPr lang="tr-TR" b="1" dirty="0"/>
          </a:p>
          <a:p>
            <a:endParaRPr lang="tr-TR" b="1" dirty="0"/>
          </a:p>
          <a:p>
            <a:endParaRPr lang="tr-TR" b="1" dirty="0"/>
          </a:p>
          <a:p>
            <a:endParaRPr lang="tr-TR" b="1" dirty="0"/>
          </a:p>
          <a:p>
            <a:endParaRPr lang="tr-TR" b="1" dirty="0"/>
          </a:p>
          <a:p>
            <a:endParaRPr lang="tr-TR" b="1" dirty="0"/>
          </a:p>
          <a:p>
            <a:endParaRPr lang="tr-TR" b="1" dirty="0"/>
          </a:p>
          <a:p>
            <a:endParaRPr lang="tr-TR" b="1" dirty="0"/>
          </a:p>
          <a:p>
            <a:endParaRPr lang="tr-TR" b="1" dirty="0"/>
          </a:p>
          <a:p>
            <a:pPr algn="ctr"/>
            <a:r>
              <a:rPr lang="en-US" b="1" dirty="0"/>
              <a:t>Figure 2 : Neural network with many convolutional layers</a:t>
            </a:r>
            <a:endParaRPr lang="tr-TR" dirty="0"/>
          </a:p>
        </p:txBody>
      </p:sp>
      <p:pic>
        <p:nvPicPr>
          <p:cNvPr id="2050" name="Picture 2">
            <a:extLst>
              <a:ext uri="{FF2B5EF4-FFF2-40B4-BE49-F238E27FC236}">
                <a16:creationId xmlns:a16="http://schemas.microsoft.com/office/drawing/2014/main" id="{3CB14C42-4D01-414D-A04C-1085890939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7454" y="2473873"/>
            <a:ext cx="9360441" cy="3446079"/>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p:cNvSpPr>
            <a:spLocks noGrp="1"/>
          </p:cNvSpPr>
          <p:nvPr>
            <p:ph type="dt" sz="half" idx="10"/>
          </p:nvPr>
        </p:nvSpPr>
        <p:spPr/>
        <p:txBody>
          <a:bodyPr/>
          <a:lstStyle/>
          <a:p>
            <a:fld id="{411A5D8D-A425-4F00-A808-F21F9525F666}" type="datetime1">
              <a:rPr lang="tr-TR" smtClean="0"/>
              <a:t>16.05.2025</a:t>
            </a:fld>
            <a:endParaRPr lang="tr-TR"/>
          </a:p>
        </p:txBody>
      </p:sp>
      <p:sp>
        <p:nvSpPr>
          <p:cNvPr id="4" name="Slide Number Placeholder 3"/>
          <p:cNvSpPr>
            <a:spLocks noGrp="1"/>
          </p:cNvSpPr>
          <p:nvPr>
            <p:ph type="sldNum" sz="quarter" idx="12"/>
          </p:nvPr>
        </p:nvSpPr>
        <p:spPr/>
        <p:txBody>
          <a:bodyPr/>
          <a:lstStyle/>
          <a:p>
            <a:fld id="{4C61373B-6CD7-433C-9DE2-D4B638969085}" type="slidenum">
              <a:rPr lang="tr-TR" smtClean="0"/>
              <a:t>11</a:t>
            </a:fld>
            <a:endParaRPr lang="tr-TR"/>
          </a:p>
        </p:txBody>
      </p:sp>
    </p:spTree>
    <p:extLst>
      <p:ext uri="{BB962C8B-B14F-4D97-AF65-F5344CB8AC3E}">
        <p14:creationId xmlns:p14="http://schemas.microsoft.com/office/powerpoint/2010/main" val="757171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A9B93-CF9B-41B4-90C0-106E5351356A}"/>
              </a:ext>
            </a:extLst>
          </p:cNvPr>
          <p:cNvSpPr>
            <a:spLocks noGrp="1"/>
          </p:cNvSpPr>
          <p:nvPr>
            <p:ph type="title"/>
          </p:nvPr>
        </p:nvSpPr>
        <p:spPr>
          <a:xfrm>
            <a:off x="2592925" y="624110"/>
            <a:ext cx="8911687" cy="899515"/>
          </a:xfrm>
        </p:spPr>
        <p:txBody>
          <a:bodyPr/>
          <a:lstStyle/>
          <a:p>
            <a:r>
              <a:rPr lang="tr-TR" b="1" dirty="0"/>
              <a:t>Convolution Layer</a:t>
            </a:r>
            <a:endParaRPr lang="tr-TR" dirty="0"/>
          </a:p>
        </p:txBody>
      </p:sp>
      <p:sp>
        <p:nvSpPr>
          <p:cNvPr id="3" name="Content Placeholder 2">
            <a:extLst>
              <a:ext uri="{FF2B5EF4-FFF2-40B4-BE49-F238E27FC236}">
                <a16:creationId xmlns:a16="http://schemas.microsoft.com/office/drawing/2014/main" id="{2D98C7A7-1F0D-47C2-9699-98F81B0CCFDA}"/>
              </a:ext>
            </a:extLst>
          </p:cNvPr>
          <p:cNvSpPr>
            <a:spLocks noGrp="1"/>
          </p:cNvSpPr>
          <p:nvPr>
            <p:ph idx="1"/>
          </p:nvPr>
        </p:nvSpPr>
        <p:spPr>
          <a:xfrm>
            <a:off x="2589212" y="1357745"/>
            <a:ext cx="8915400" cy="5143088"/>
          </a:xfrm>
        </p:spPr>
        <p:txBody>
          <a:bodyPr/>
          <a:lstStyle/>
          <a:p>
            <a:r>
              <a:rPr lang="en-US" dirty="0"/>
              <a:t>Convolution is the first layer to extract features from an input image.</a:t>
            </a:r>
            <a:endParaRPr lang="tr-TR" dirty="0"/>
          </a:p>
          <a:p>
            <a:r>
              <a:rPr lang="en-US" dirty="0"/>
              <a:t>Convolution preserves the relationship between pixels by learning image features using small squares of input data.</a:t>
            </a:r>
            <a:endParaRPr lang="tr-TR" dirty="0"/>
          </a:p>
          <a:p>
            <a:r>
              <a:rPr lang="en-US" dirty="0"/>
              <a:t>It is a mathematical operation that takes two inputs such as image matrix and a filter or kernel.</a:t>
            </a:r>
            <a:r>
              <a:rPr lang="tr-TR" dirty="0"/>
              <a:t>	</a:t>
            </a:r>
          </a:p>
        </p:txBody>
      </p:sp>
      <p:pic>
        <p:nvPicPr>
          <p:cNvPr id="3074" name="Picture 2">
            <a:extLst>
              <a:ext uri="{FF2B5EF4-FFF2-40B4-BE49-F238E27FC236}">
                <a16:creationId xmlns:a16="http://schemas.microsoft.com/office/drawing/2014/main" id="{4032EBB9-45F7-4723-8EB4-326ECC035B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8255" y="3249241"/>
            <a:ext cx="5817314" cy="3066394"/>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fld id="{F586ED14-AE0E-44E5-9889-54C03719FC89}"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12</a:t>
            </a:fld>
            <a:endParaRPr lang="tr-TR"/>
          </a:p>
        </p:txBody>
      </p:sp>
    </p:spTree>
    <p:extLst>
      <p:ext uri="{BB962C8B-B14F-4D97-AF65-F5344CB8AC3E}">
        <p14:creationId xmlns:p14="http://schemas.microsoft.com/office/powerpoint/2010/main" val="2487113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C2B555-C71F-4BB4-9B8C-D20AA2F7943E}"/>
              </a:ext>
            </a:extLst>
          </p:cNvPr>
          <p:cNvSpPr>
            <a:spLocks noGrp="1"/>
          </p:cNvSpPr>
          <p:nvPr>
            <p:ph idx="1"/>
          </p:nvPr>
        </p:nvSpPr>
        <p:spPr>
          <a:xfrm>
            <a:off x="2216727" y="819808"/>
            <a:ext cx="9289472" cy="5398878"/>
          </a:xfrm>
        </p:spPr>
        <p:txBody>
          <a:bodyPr>
            <a:normAutofit/>
          </a:bodyPr>
          <a:lstStyle/>
          <a:p>
            <a:r>
              <a:rPr lang="en-US" dirty="0"/>
              <a:t>Consider a 5 x 5 whose image pixel values are 0, 1 and filter matrix 3 x 3 as shown in below</a:t>
            </a:r>
            <a:endParaRPr lang="tr-TR" dirty="0"/>
          </a:p>
          <a:p>
            <a:endParaRPr lang="tr-TR" b="1" dirty="0"/>
          </a:p>
          <a:p>
            <a:endParaRPr lang="tr-TR" b="1" dirty="0"/>
          </a:p>
          <a:p>
            <a:endParaRPr lang="tr-TR" b="1" dirty="0"/>
          </a:p>
          <a:p>
            <a:endParaRPr lang="tr-TR" b="1" dirty="0"/>
          </a:p>
          <a:p>
            <a:endParaRPr lang="tr-TR" b="1" dirty="0"/>
          </a:p>
          <a:p>
            <a:endParaRPr lang="tr-TR" b="1" dirty="0"/>
          </a:p>
          <a:p>
            <a:endParaRPr lang="tr-TR" b="1" dirty="0"/>
          </a:p>
          <a:p>
            <a:endParaRPr lang="tr-TR" b="1" dirty="0"/>
          </a:p>
          <a:p>
            <a:endParaRPr lang="tr-TR" b="1" dirty="0"/>
          </a:p>
          <a:p>
            <a:pPr marL="0" indent="0" algn="ctr">
              <a:buNone/>
            </a:pPr>
            <a:endParaRPr lang="tr-TR" b="1" dirty="0"/>
          </a:p>
          <a:p>
            <a:pPr marL="0" indent="0" algn="ctr">
              <a:buNone/>
            </a:pPr>
            <a:r>
              <a:rPr lang="fr-FR" b="1" dirty="0" err="1"/>
              <a:t>Figur</a:t>
            </a:r>
            <a:r>
              <a:rPr lang="tr-TR" b="1" dirty="0"/>
              <a:t>e</a:t>
            </a:r>
            <a:r>
              <a:rPr lang="fr-FR" b="1" dirty="0"/>
              <a:t>: Image matrix multiplies kernel or </a:t>
            </a:r>
            <a:r>
              <a:rPr lang="fr-FR" b="1" dirty="0" err="1"/>
              <a:t>filter</a:t>
            </a:r>
            <a:r>
              <a:rPr lang="fr-FR" b="1" dirty="0"/>
              <a:t> matrix</a:t>
            </a:r>
            <a:br>
              <a:rPr lang="fr-FR" dirty="0"/>
            </a:br>
            <a:endParaRPr lang="tr-TR" dirty="0"/>
          </a:p>
        </p:txBody>
      </p:sp>
      <p:pic>
        <p:nvPicPr>
          <p:cNvPr id="4098" name="Picture 2">
            <a:extLst>
              <a:ext uri="{FF2B5EF4-FFF2-40B4-BE49-F238E27FC236}">
                <a16:creationId xmlns:a16="http://schemas.microsoft.com/office/drawing/2014/main" id="{057786B4-C82A-43B7-84AB-BA76B13062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2353" y="1837831"/>
            <a:ext cx="8098220" cy="3274584"/>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p:cNvSpPr>
            <a:spLocks noGrp="1"/>
          </p:cNvSpPr>
          <p:nvPr>
            <p:ph type="dt" sz="half" idx="10"/>
          </p:nvPr>
        </p:nvSpPr>
        <p:spPr/>
        <p:txBody>
          <a:bodyPr/>
          <a:lstStyle/>
          <a:p>
            <a:fld id="{58608E95-09D4-4A4C-950C-67A1A94F6AA4}" type="datetime1">
              <a:rPr lang="tr-TR" smtClean="0"/>
              <a:t>16.05.2025</a:t>
            </a:fld>
            <a:endParaRPr lang="tr-TR"/>
          </a:p>
        </p:txBody>
      </p:sp>
      <p:sp>
        <p:nvSpPr>
          <p:cNvPr id="4" name="Slide Number Placeholder 3"/>
          <p:cNvSpPr>
            <a:spLocks noGrp="1"/>
          </p:cNvSpPr>
          <p:nvPr>
            <p:ph type="sldNum" sz="quarter" idx="12"/>
          </p:nvPr>
        </p:nvSpPr>
        <p:spPr/>
        <p:txBody>
          <a:bodyPr/>
          <a:lstStyle/>
          <a:p>
            <a:fld id="{4C61373B-6CD7-433C-9DE2-D4B638969085}" type="slidenum">
              <a:rPr lang="tr-TR" smtClean="0"/>
              <a:t>13</a:t>
            </a:fld>
            <a:endParaRPr lang="tr-TR"/>
          </a:p>
        </p:txBody>
      </p:sp>
    </p:spTree>
    <p:extLst>
      <p:ext uri="{BB962C8B-B14F-4D97-AF65-F5344CB8AC3E}">
        <p14:creationId xmlns:p14="http://schemas.microsoft.com/office/powerpoint/2010/main" val="2279871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EAAAC-A2A1-407D-BA6E-88BB1B7FE40A}"/>
              </a:ext>
            </a:extLst>
          </p:cNvPr>
          <p:cNvSpPr>
            <a:spLocks noGrp="1"/>
          </p:cNvSpPr>
          <p:nvPr>
            <p:ph type="title"/>
          </p:nvPr>
        </p:nvSpPr>
        <p:spPr>
          <a:xfrm>
            <a:off x="2589213" y="624110"/>
            <a:ext cx="8915400" cy="872181"/>
          </a:xfrm>
        </p:spPr>
        <p:txBody>
          <a:bodyPr/>
          <a:lstStyle/>
          <a:p>
            <a:r>
              <a:rPr lang="tr-TR" b="1" dirty="0"/>
              <a:t>Convolution</a:t>
            </a:r>
          </a:p>
        </p:txBody>
      </p:sp>
      <p:sp>
        <p:nvSpPr>
          <p:cNvPr id="3" name="Content Placeholder 2">
            <a:extLst>
              <a:ext uri="{FF2B5EF4-FFF2-40B4-BE49-F238E27FC236}">
                <a16:creationId xmlns:a16="http://schemas.microsoft.com/office/drawing/2014/main" id="{57D410B8-AF95-401F-A56D-8C86EF083E34}"/>
              </a:ext>
            </a:extLst>
          </p:cNvPr>
          <p:cNvSpPr>
            <a:spLocks noGrp="1"/>
          </p:cNvSpPr>
          <p:nvPr>
            <p:ph idx="1"/>
          </p:nvPr>
        </p:nvSpPr>
        <p:spPr>
          <a:xfrm>
            <a:off x="2589212" y="1496292"/>
            <a:ext cx="8915400" cy="3671454"/>
          </a:xfrm>
        </p:spPr>
        <p:txBody>
          <a:bodyPr>
            <a:normAutofit/>
          </a:bodyPr>
          <a:lstStyle/>
          <a:p>
            <a:r>
              <a:rPr lang="en-US" dirty="0"/>
              <a:t>The Main objective of convolution in relation to Convnet is to extract features from the input image. </a:t>
            </a:r>
            <a:endParaRPr lang="tr-TR" dirty="0"/>
          </a:p>
          <a:p>
            <a:r>
              <a:rPr lang="en-US" dirty="0"/>
              <a:t>This layer does most of the computation in a </a:t>
            </a:r>
            <a:r>
              <a:rPr lang="en-US" dirty="0" err="1"/>
              <a:t>ConvNet</a:t>
            </a:r>
            <a:r>
              <a:rPr lang="en-US" dirty="0"/>
              <a:t>. </a:t>
            </a:r>
            <a:endParaRPr lang="tr-TR" dirty="0"/>
          </a:p>
          <a:p>
            <a:r>
              <a:rPr lang="en-US" dirty="0"/>
              <a:t>Lets try to understand how this convolution works</a:t>
            </a:r>
            <a:endParaRPr lang="tr-TR" dirty="0"/>
          </a:p>
          <a:p>
            <a:r>
              <a:rPr lang="tr-TR" altLang="tr-TR" dirty="0"/>
              <a:t>In mathematics, convolution is a mathematical operation on two functions that produces a third function—that is, the modified (convoluted) version of one of the original functions. </a:t>
            </a:r>
          </a:p>
          <a:p>
            <a:r>
              <a:rPr lang="tr-TR" altLang="tr-TR" dirty="0"/>
              <a:t>The resulting function gives in integral of the pointwise multiplication of the two functions as a function of the amount that one of the original functions is translated .</a:t>
            </a:r>
          </a:p>
          <a:p>
            <a:endParaRPr lang="tr-TR" dirty="0"/>
          </a:p>
        </p:txBody>
      </p:sp>
      <p:sp>
        <p:nvSpPr>
          <p:cNvPr id="4" name="Date Placeholder 3"/>
          <p:cNvSpPr>
            <a:spLocks noGrp="1"/>
          </p:cNvSpPr>
          <p:nvPr>
            <p:ph type="dt" sz="half" idx="10"/>
          </p:nvPr>
        </p:nvSpPr>
        <p:spPr/>
        <p:txBody>
          <a:bodyPr/>
          <a:lstStyle/>
          <a:p>
            <a:fld id="{3302A314-2926-4C20-B0A3-517D41C663F7}"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14</a:t>
            </a:fld>
            <a:endParaRPr lang="tr-TR"/>
          </a:p>
        </p:txBody>
      </p:sp>
    </p:spTree>
    <p:extLst>
      <p:ext uri="{BB962C8B-B14F-4D97-AF65-F5344CB8AC3E}">
        <p14:creationId xmlns:p14="http://schemas.microsoft.com/office/powerpoint/2010/main" val="719823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40F16-45BB-4C25-9F82-E031EF07B664}"/>
              </a:ext>
            </a:extLst>
          </p:cNvPr>
          <p:cNvSpPr>
            <a:spLocks noGrp="1"/>
          </p:cNvSpPr>
          <p:nvPr>
            <p:ph type="title"/>
          </p:nvPr>
        </p:nvSpPr>
        <p:spPr>
          <a:xfrm>
            <a:off x="2592925" y="624110"/>
            <a:ext cx="8911687" cy="830617"/>
          </a:xfrm>
        </p:spPr>
        <p:txBody>
          <a:bodyPr/>
          <a:lstStyle/>
          <a:p>
            <a:r>
              <a:rPr lang="tr-TR" b="1" dirty="0"/>
              <a:t>Convolution</a:t>
            </a:r>
          </a:p>
        </p:txBody>
      </p:sp>
      <p:sp>
        <p:nvSpPr>
          <p:cNvPr id="3" name="Content Placeholder 2">
            <a:extLst>
              <a:ext uri="{FF2B5EF4-FFF2-40B4-BE49-F238E27FC236}">
                <a16:creationId xmlns:a16="http://schemas.microsoft.com/office/drawing/2014/main" id="{1095C48F-095C-4571-9CDE-0B74C3F986F1}"/>
              </a:ext>
            </a:extLst>
          </p:cNvPr>
          <p:cNvSpPr>
            <a:spLocks noGrp="1"/>
          </p:cNvSpPr>
          <p:nvPr>
            <p:ph idx="1"/>
          </p:nvPr>
        </p:nvSpPr>
        <p:spPr/>
        <p:txBody>
          <a:bodyPr>
            <a:normAutofit/>
          </a:bodyPr>
          <a:lstStyle/>
          <a:p>
            <a:r>
              <a:rPr lang="en-US" dirty="0"/>
              <a:t>Convolution involves the multiplication of 2 functions, f and g, to produce a new modified function ( f * g ). </a:t>
            </a:r>
            <a:endParaRPr lang="tr-TR" dirty="0"/>
          </a:p>
          <a:p>
            <a:r>
              <a:rPr lang="en-US" dirty="0"/>
              <a:t>For example Convolution between an image say f with a filter function , g will produce a new version of the image</a:t>
            </a:r>
          </a:p>
          <a:p>
            <a:r>
              <a:rPr lang="en-US" dirty="0"/>
              <a:t>Lets start manually convolving 4 X 4 input with 3 X 3 filter. </a:t>
            </a:r>
            <a:endParaRPr lang="tr-TR" dirty="0"/>
          </a:p>
          <a:p>
            <a:r>
              <a:rPr lang="en-US" dirty="0"/>
              <a:t>The first step in the convolution process is to take the element wise product of the filter and the local receptive field (first nine boxes) of the input</a:t>
            </a:r>
          </a:p>
          <a:p>
            <a:endParaRPr lang="tr-TR" dirty="0"/>
          </a:p>
        </p:txBody>
      </p:sp>
      <p:sp>
        <p:nvSpPr>
          <p:cNvPr id="4" name="Date Placeholder 3"/>
          <p:cNvSpPr>
            <a:spLocks noGrp="1"/>
          </p:cNvSpPr>
          <p:nvPr>
            <p:ph type="dt" sz="half" idx="10"/>
          </p:nvPr>
        </p:nvSpPr>
        <p:spPr/>
        <p:txBody>
          <a:bodyPr/>
          <a:lstStyle/>
          <a:p>
            <a:fld id="{9F8F375F-101F-4FEC-8B8C-2E8FA2E525B7}"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15</a:t>
            </a:fld>
            <a:endParaRPr lang="tr-TR"/>
          </a:p>
        </p:txBody>
      </p:sp>
    </p:spTree>
    <p:extLst>
      <p:ext uri="{BB962C8B-B14F-4D97-AF65-F5344CB8AC3E}">
        <p14:creationId xmlns:p14="http://schemas.microsoft.com/office/powerpoint/2010/main" val="11678864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EF228-EFC2-4DC1-B428-4776551537E9}"/>
              </a:ext>
            </a:extLst>
          </p:cNvPr>
          <p:cNvSpPr>
            <a:spLocks noGrp="1"/>
          </p:cNvSpPr>
          <p:nvPr>
            <p:ph type="title"/>
          </p:nvPr>
        </p:nvSpPr>
        <p:spPr/>
        <p:txBody>
          <a:bodyPr/>
          <a:lstStyle/>
          <a:p>
            <a:r>
              <a:rPr lang="tr-TR" b="1" dirty="0"/>
              <a:t>Convolution</a:t>
            </a:r>
          </a:p>
        </p:txBody>
      </p:sp>
      <p:pic>
        <p:nvPicPr>
          <p:cNvPr id="9218" name="Picture 2">
            <a:extLst>
              <a:ext uri="{FF2B5EF4-FFF2-40B4-BE49-F238E27FC236}">
                <a16:creationId xmlns:a16="http://schemas.microsoft.com/office/drawing/2014/main" id="{96DCB83F-49DE-4EED-8C8E-2A1592F6F5C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008313" y="2565400"/>
            <a:ext cx="8077200" cy="291465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p:cNvSpPr>
            <a:spLocks noGrp="1"/>
          </p:cNvSpPr>
          <p:nvPr>
            <p:ph type="dt" sz="half" idx="10"/>
          </p:nvPr>
        </p:nvSpPr>
        <p:spPr/>
        <p:txBody>
          <a:bodyPr/>
          <a:lstStyle/>
          <a:p>
            <a:fld id="{FC25F55D-4225-4CD7-AB2D-E61E268534FA}" type="datetime1">
              <a:rPr lang="tr-TR" smtClean="0"/>
              <a:t>16.05.2025</a:t>
            </a:fld>
            <a:endParaRPr lang="tr-TR"/>
          </a:p>
        </p:txBody>
      </p:sp>
      <p:sp>
        <p:nvSpPr>
          <p:cNvPr id="4" name="Slide Number Placeholder 3"/>
          <p:cNvSpPr>
            <a:spLocks noGrp="1"/>
          </p:cNvSpPr>
          <p:nvPr>
            <p:ph type="sldNum" sz="quarter" idx="12"/>
          </p:nvPr>
        </p:nvSpPr>
        <p:spPr/>
        <p:txBody>
          <a:bodyPr/>
          <a:lstStyle/>
          <a:p>
            <a:fld id="{4C61373B-6CD7-433C-9DE2-D4B638969085}" type="slidenum">
              <a:rPr lang="tr-TR" smtClean="0"/>
              <a:t>16</a:t>
            </a:fld>
            <a:endParaRPr lang="tr-TR"/>
          </a:p>
        </p:txBody>
      </p:sp>
    </p:spTree>
    <p:extLst>
      <p:ext uri="{BB962C8B-B14F-4D97-AF65-F5344CB8AC3E}">
        <p14:creationId xmlns:p14="http://schemas.microsoft.com/office/powerpoint/2010/main" val="328669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9F4758-BC67-4BE1-9A3A-BC1213FE4797}"/>
              </a:ext>
            </a:extLst>
          </p:cNvPr>
          <p:cNvSpPr>
            <a:spLocks noGrp="1"/>
          </p:cNvSpPr>
          <p:nvPr>
            <p:ph idx="1"/>
          </p:nvPr>
        </p:nvSpPr>
        <p:spPr>
          <a:xfrm>
            <a:off x="2410690" y="1064172"/>
            <a:ext cx="9095509" cy="5154513"/>
          </a:xfrm>
        </p:spPr>
        <p:txBody>
          <a:bodyPr>
            <a:normAutofit/>
          </a:bodyPr>
          <a:lstStyle/>
          <a:p>
            <a:r>
              <a:rPr lang="tr-TR" dirty="0"/>
              <a:t>T</a:t>
            </a:r>
            <a:r>
              <a:rPr lang="en-US" dirty="0"/>
              <a:t>he convolution of 5 x 5 image matrix multiplies with 3 x 3 filter matrix which is called </a:t>
            </a:r>
            <a:r>
              <a:rPr lang="en-US" b="1" dirty="0"/>
              <a:t>“</a:t>
            </a:r>
            <a:r>
              <a:rPr lang="en-US" b="1" dirty="0">
                <a:solidFill>
                  <a:srgbClr val="0070C0"/>
                </a:solidFill>
              </a:rPr>
              <a:t>Feature Map</a:t>
            </a:r>
            <a:r>
              <a:rPr lang="en-US" b="1" dirty="0"/>
              <a:t>”</a:t>
            </a:r>
            <a:r>
              <a:rPr lang="en-US" dirty="0"/>
              <a:t> as output shown in below</a:t>
            </a:r>
            <a:endParaRPr lang="tr-TR" dirty="0"/>
          </a:p>
          <a:p>
            <a:endParaRPr lang="tr-TR" b="1" dirty="0"/>
          </a:p>
          <a:p>
            <a:endParaRPr lang="tr-TR" b="1" dirty="0"/>
          </a:p>
          <a:p>
            <a:endParaRPr lang="tr-TR" b="1" dirty="0"/>
          </a:p>
          <a:p>
            <a:endParaRPr lang="tr-TR" b="1" dirty="0"/>
          </a:p>
          <a:p>
            <a:endParaRPr lang="tr-TR" b="1" dirty="0"/>
          </a:p>
          <a:p>
            <a:endParaRPr lang="tr-TR" b="1" dirty="0"/>
          </a:p>
          <a:p>
            <a:endParaRPr lang="tr-TR" b="1" dirty="0"/>
          </a:p>
          <a:p>
            <a:endParaRPr lang="tr-TR" b="1" dirty="0"/>
          </a:p>
          <a:p>
            <a:endParaRPr lang="tr-TR" b="1" dirty="0"/>
          </a:p>
          <a:p>
            <a:pPr marL="0" indent="0" algn="ctr">
              <a:buNone/>
            </a:pPr>
            <a:r>
              <a:rPr lang="fr-FR" b="1" dirty="0"/>
              <a:t>Figure: 3 x 3 Output matrix</a:t>
            </a:r>
            <a:endParaRPr lang="tr-TR" dirty="0"/>
          </a:p>
          <a:p>
            <a:endParaRPr lang="tr-TR" dirty="0"/>
          </a:p>
        </p:txBody>
      </p:sp>
      <p:pic>
        <p:nvPicPr>
          <p:cNvPr id="7" name="Picture 6">
            <a:extLst>
              <a:ext uri="{FF2B5EF4-FFF2-40B4-BE49-F238E27FC236}">
                <a16:creationId xmlns:a16="http://schemas.microsoft.com/office/drawing/2014/main" id="{1ADD5C60-1306-4F27-B66E-1C6B7B2716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3409" y="1970283"/>
            <a:ext cx="4570070" cy="3342290"/>
          </a:xfrm>
          <a:prstGeom prst="rect">
            <a:avLst/>
          </a:prstGeom>
        </p:spPr>
      </p:pic>
      <p:sp>
        <p:nvSpPr>
          <p:cNvPr id="2" name="Date Placeholder 1"/>
          <p:cNvSpPr>
            <a:spLocks noGrp="1"/>
          </p:cNvSpPr>
          <p:nvPr>
            <p:ph type="dt" sz="half" idx="10"/>
          </p:nvPr>
        </p:nvSpPr>
        <p:spPr/>
        <p:txBody>
          <a:bodyPr/>
          <a:lstStyle/>
          <a:p>
            <a:fld id="{DF469E74-4BC5-4FBE-ACE3-604F65173C17}" type="datetime1">
              <a:rPr lang="tr-TR" smtClean="0"/>
              <a:t>16.05.2025</a:t>
            </a:fld>
            <a:endParaRPr lang="tr-TR"/>
          </a:p>
        </p:txBody>
      </p:sp>
      <p:sp>
        <p:nvSpPr>
          <p:cNvPr id="4" name="Slide Number Placeholder 3"/>
          <p:cNvSpPr>
            <a:spLocks noGrp="1"/>
          </p:cNvSpPr>
          <p:nvPr>
            <p:ph type="sldNum" sz="quarter" idx="12"/>
          </p:nvPr>
        </p:nvSpPr>
        <p:spPr/>
        <p:txBody>
          <a:bodyPr/>
          <a:lstStyle/>
          <a:p>
            <a:fld id="{4C61373B-6CD7-433C-9DE2-D4B638969085}" type="slidenum">
              <a:rPr lang="tr-TR" smtClean="0"/>
              <a:t>17</a:t>
            </a:fld>
            <a:endParaRPr lang="tr-TR"/>
          </a:p>
        </p:txBody>
      </p:sp>
    </p:spTree>
    <p:extLst>
      <p:ext uri="{BB962C8B-B14F-4D97-AF65-F5344CB8AC3E}">
        <p14:creationId xmlns:p14="http://schemas.microsoft.com/office/powerpoint/2010/main" val="19840452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b="1" dirty="0"/>
              <a:t>Deeper understanding of CNN</a:t>
            </a:r>
          </a:p>
        </p:txBody>
      </p:sp>
      <p:sp>
        <p:nvSpPr>
          <p:cNvPr id="3" name="Content Placeholder 2"/>
          <p:cNvSpPr>
            <a:spLocks noGrp="1"/>
          </p:cNvSpPr>
          <p:nvPr>
            <p:ph idx="1"/>
          </p:nvPr>
        </p:nvSpPr>
        <p:spPr/>
        <p:txBody>
          <a:bodyPr>
            <a:normAutofit/>
          </a:bodyPr>
          <a:lstStyle/>
          <a:p>
            <a:r>
              <a:rPr lang="en-US" dirty="0"/>
              <a:t>One major problem with computer vision problems is that the input data can get really big. </a:t>
            </a:r>
            <a:endParaRPr lang="tr-TR" dirty="0"/>
          </a:p>
          <a:p>
            <a:r>
              <a:rPr lang="en-US" dirty="0"/>
              <a:t>Suppose an image is of the size 68 X 68 X 3. The input feature dimension then becomes 12,288. </a:t>
            </a:r>
            <a:endParaRPr lang="tr-TR" dirty="0"/>
          </a:p>
          <a:p>
            <a:r>
              <a:rPr lang="en-US" dirty="0"/>
              <a:t>This will be even bigger if we have larger images (say, of size 720 X 720 X 3). </a:t>
            </a:r>
            <a:endParaRPr lang="tr-TR" dirty="0"/>
          </a:p>
          <a:p>
            <a:r>
              <a:rPr lang="en-US" dirty="0"/>
              <a:t>Now, if we pass such a big input to a neural network, the number of parameters will swell up to a HUGE number (depending on the number of hidden layers and hidden units). </a:t>
            </a:r>
            <a:endParaRPr lang="tr-TR" dirty="0"/>
          </a:p>
          <a:p>
            <a:r>
              <a:rPr lang="en-US" dirty="0"/>
              <a:t>This will result in more computational and memory requirements – not something most of us can deal with.</a:t>
            </a:r>
            <a:endParaRPr lang="tr-TR" dirty="0"/>
          </a:p>
        </p:txBody>
      </p:sp>
      <p:sp>
        <p:nvSpPr>
          <p:cNvPr id="4" name="Date Placeholder 3"/>
          <p:cNvSpPr>
            <a:spLocks noGrp="1"/>
          </p:cNvSpPr>
          <p:nvPr>
            <p:ph type="dt" sz="half" idx="10"/>
          </p:nvPr>
        </p:nvSpPr>
        <p:spPr/>
        <p:txBody>
          <a:bodyPr/>
          <a:lstStyle/>
          <a:p>
            <a:fld id="{3BF65889-6E31-4AA5-960B-54A39093311B}"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18</a:t>
            </a:fld>
            <a:endParaRPr lang="tr-TR"/>
          </a:p>
        </p:txBody>
      </p:sp>
    </p:spTree>
    <p:extLst>
      <p:ext uri="{BB962C8B-B14F-4D97-AF65-F5344CB8AC3E}">
        <p14:creationId xmlns:p14="http://schemas.microsoft.com/office/powerpoint/2010/main" val="4174865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b="1" dirty="0"/>
              <a:t>Edge Detection Example</a:t>
            </a:r>
            <a:br>
              <a:rPr lang="tr-TR" b="1" dirty="0"/>
            </a:br>
            <a:endParaRPr lang="tr-TR" dirty="0"/>
          </a:p>
        </p:txBody>
      </p:sp>
      <p:sp>
        <p:nvSpPr>
          <p:cNvPr id="3" name="Content Placeholder 2"/>
          <p:cNvSpPr>
            <a:spLocks noGrp="1"/>
          </p:cNvSpPr>
          <p:nvPr>
            <p:ph idx="1"/>
          </p:nvPr>
        </p:nvSpPr>
        <p:spPr>
          <a:xfrm>
            <a:off x="2592924" y="1662546"/>
            <a:ext cx="8913275" cy="4932218"/>
          </a:xfrm>
        </p:spPr>
        <p:txBody>
          <a:bodyPr/>
          <a:lstStyle/>
          <a:p>
            <a:r>
              <a:rPr lang="tr-TR" dirty="0"/>
              <a:t>T</a:t>
            </a:r>
            <a:r>
              <a:rPr lang="en-US" dirty="0"/>
              <a:t>he early layers of a neural network detect edges from an image</a:t>
            </a:r>
            <a:r>
              <a:rPr lang="tr-TR" dirty="0">
                <a:solidFill>
                  <a:srgbClr val="FF0000"/>
                </a:solidFill>
              </a:rPr>
              <a:t>(Why?</a:t>
            </a:r>
            <a:r>
              <a:rPr lang="tr-TR" dirty="0"/>
              <a:t>)</a:t>
            </a:r>
            <a:r>
              <a:rPr lang="en-US" dirty="0"/>
              <a:t>. </a:t>
            </a:r>
            <a:endParaRPr lang="tr-TR" dirty="0"/>
          </a:p>
          <a:p>
            <a:r>
              <a:rPr lang="en-US" dirty="0"/>
              <a:t>Deeper layers might be able to detect the cause of the objects and even more deeper layers might detect the cause of complete objects (like a person’s face).</a:t>
            </a:r>
          </a:p>
          <a:p>
            <a:r>
              <a:rPr lang="en-US" dirty="0"/>
              <a:t>In this section, we will focus on how the edges can be detected from an image. Suppose we are given the below image:</a:t>
            </a:r>
          </a:p>
          <a:p>
            <a:endParaRPr lang="tr-TR" dirty="0"/>
          </a:p>
        </p:txBody>
      </p:sp>
      <p:pic>
        <p:nvPicPr>
          <p:cNvPr id="10" name="Picture 9"/>
          <p:cNvPicPr>
            <a:picLocks noChangeAspect="1"/>
          </p:cNvPicPr>
          <p:nvPr/>
        </p:nvPicPr>
        <p:blipFill>
          <a:blip r:embed="rId2"/>
          <a:stretch>
            <a:fillRect/>
          </a:stretch>
        </p:blipFill>
        <p:spPr>
          <a:xfrm>
            <a:off x="5461772" y="4007475"/>
            <a:ext cx="3173992" cy="1908416"/>
          </a:xfrm>
          <a:prstGeom prst="rect">
            <a:avLst/>
          </a:prstGeom>
        </p:spPr>
      </p:pic>
      <p:sp>
        <p:nvSpPr>
          <p:cNvPr id="4" name="Date Placeholder 3"/>
          <p:cNvSpPr>
            <a:spLocks noGrp="1"/>
          </p:cNvSpPr>
          <p:nvPr>
            <p:ph type="dt" sz="half" idx="10"/>
          </p:nvPr>
        </p:nvSpPr>
        <p:spPr/>
        <p:txBody>
          <a:bodyPr/>
          <a:lstStyle/>
          <a:p>
            <a:fld id="{6F2BA167-14F2-4CC4-8781-967D4763BF0A}"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19</a:t>
            </a:fld>
            <a:endParaRPr lang="tr-TR"/>
          </a:p>
        </p:txBody>
      </p:sp>
    </p:spTree>
    <p:extLst>
      <p:ext uri="{BB962C8B-B14F-4D97-AF65-F5344CB8AC3E}">
        <p14:creationId xmlns:p14="http://schemas.microsoft.com/office/powerpoint/2010/main" val="1439895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7564" y="1260764"/>
            <a:ext cx="9178636" cy="4957921"/>
          </a:xfrm>
        </p:spPr>
        <p:txBody>
          <a:bodyPr/>
          <a:lstStyle/>
          <a:p>
            <a:r>
              <a:rPr lang="en-US" dirty="0"/>
              <a:t>As you can see, there are many vertical and horizontal edges in the image. The first thing to do is to detect these edges:</a:t>
            </a:r>
            <a:endParaRPr lang="tr-TR" dirty="0"/>
          </a:p>
        </p:txBody>
      </p:sp>
      <p:pic>
        <p:nvPicPr>
          <p:cNvPr id="5" name="Picture 4"/>
          <p:cNvPicPr>
            <a:picLocks noChangeAspect="1"/>
          </p:cNvPicPr>
          <p:nvPr/>
        </p:nvPicPr>
        <p:blipFill>
          <a:blip r:embed="rId2"/>
          <a:stretch>
            <a:fillRect/>
          </a:stretch>
        </p:blipFill>
        <p:spPr>
          <a:xfrm>
            <a:off x="3771900" y="2062914"/>
            <a:ext cx="6289964" cy="3868244"/>
          </a:xfrm>
          <a:prstGeom prst="rect">
            <a:avLst/>
          </a:prstGeom>
        </p:spPr>
      </p:pic>
      <p:sp>
        <p:nvSpPr>
          <p:cNvPr id="2" name="Date Placeholder 1"/>
          <p:cNvSpPr>
            <a:spLocks noGrp="1"/>
          </p:cNvSpPr>
          <p:nvPr>
            <p:ph type="dt" sz="half" idx="10"/>
          </p:nvPr>
        </p:nvSpPr>
        <p:spPr/>
        <p:txBody>
          <a:bodyPr/>
          <a:lstStyle/>
          <a:p>
            <a:fld id="{BFA32BE8-188E-4B23-ADDF-F59B9F627358}" type="datetime1">
              <a:rPr lang="tr-TR" smtClean="0"/>
              <a:t>16.05.2025</a:t>
            </a:fld>
            <a:endParaRPr lang="tr-TR"/>
          </a:p>
        </p:txBody>
      </p:sp>
      <p:sp>
        <p:nvSpPr>
          <p:cNvPr id="4" name="Slide Number Placeholder 3"/>
          <p:cNvSpPr>
            <a:spLocks noGrp="1"/>
          </p:cNvSpPr>
          <p:nvPr>
            <p:ph type="sldNum" sz="quarter" idx="12"/>
          </p:nvPr>
        </p:nvSpPr>
        <p:spPr/>
        <p:txBody>
          <a:bodyPr/>
          <a:lstStyle/>
          <a:p>
            <a:fld id="{4C61373B-6CD7-433C-9DE2-D4B638969085}" type="slidenum">
              <a:rPr lang="tr-TR" smtClean="0"/>
              <a:t>20</a:t>
            </a:fld>
            <a:endParaRPr lang="tr-TR"/>
          </a:p>
        </p:txBody>
      </p:sp>
    </p:spTree>
    <p:extLst>
      <p:ext uri="{BB962C8B-B14F-4D97-AF65-F5344CB8AC3E}">
        <p14:creationId xmlns:p14="http://schemas.microsoft.com/office/powerpoint/2010/main" val="22033750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53490" y="568036"/>
            <a:ext cx="9552709" cy="6096000"/>
          </a:xfrm>
        </p:spPr>
        <p:txBody>
          <a:bodyPr/>
          <a:lstStyle/>
          <a:p>
            <a:r>
              <a:rPr lang="en-US" dirty="0"/>
              <a:t>But how do we detect these edges? To illustrate this, let’s take a 6 X 6 grayscale image (i.e. only one channel):</a:t>
            </a:r>
            <a:endParaRPr lang="tr-TR" dirty="0"/>
          </a:p>
          <a:p>
            <a:r>
              <a:rPr lang="en-US" dirty="0"/>
              <a:t>Next, we convolve this 6 X 6 matrix with a 3 X 3 filter:</a:t>
            </a:r>
            <a:endParaRPr lang="tr-TR" dirty="0"/>
          </a:p>
          <a:p>
            <a:endParaRPr lang="tr-TR" dirty="0"/>
          </a:p>
          <a:p>
            <a:endParaRPr lang="tr-TR" dirty="0"/>
          </a:p>
          <a:p>
            <a:endParaRPr lang="tr-TR" dirty="0"/>
          </a:p>
          <a:p>
            <a:endParaRPr lang="tr-TR" dirty="0"/>
          </a:p>
          <a:p>
            <a:endParaRPr lang="tr-TR" dirty="0"/>
          </a:p>
          <a:p>
            <a:endParaRPr lang="tr-TR" dirty="0"/>
          </a:p>
          <a:p>
            <a:r>
              <a:rPr lang="en-US" dirty="0"/>
              <a:t>After the convolution, we will get a 4 X 4 image. The first element of the 4 X 4 matrix will be calculated as:</a:t>
            </a:r>
            <a:endParaRPr lang="tr-TR" dirty="0"/>
          </a:p>
          <a:p>
            <a:endParaRPr lang="tr-TR" dirty="0"/>
          </a:p>
        </p:txBody>
      </p:sp>
      <p:pic>
        <p:nvPicPr>
          <p:cNvPr id="5" name="Picture 4"/>
          <p:cNvPicPr>
            <a:picLocks noChangeAspect="1"/>
          </p:cNvPicPr>
          <p:nvPr/>
        </p:nvPicPr>
        <p:blipFill>
          <a:blip r:embed="rId2"/>
          <a:stretch>
            <a:fillRect/>
          </a:stretch>
        </p:blipFill>
        <p:spPr>
          <a:xfrm>
            <a:off x="4600576" y="2011350"/>
            <a:ext cx="3684442" cy="1604686"/>
          </a:xfrm>
          <a:prstGeom prst="rect">
            <a:avLst/>
          </a:prstGeom>
        </p:spPr>
      </p:pic>
      <p:pic>
        <p:nvPicPr>
          <p:cNvPr id="6" name="Picture 5"/>
          <p:cNvPicPr>
            <a:picLocks noChangeAspect="1"/>
          </p:cNvPicPr>
          <p:nvPr/>
        </p:nvPicPr>
        <p:blipFill>
          <a:blip r:embed="rId3"/>
          <a:stretch>
            <a:fillRect/>
          </a:stretch>
        </p:blipFill>
        <p:spPr>
          <a:xfrm>
            <a:off x="5653088" y="4725473"/>
            <a:ext cx="1579418" cy="1590162"/>
          </a:xfrm>
          <a:prstGeom prst="rect">
            <a:avLst/>
          </a:prstGeom>
        </p:spPr>
      </p:pic>
      <p:sp>
        <p:nvSpPr>
          <p:cNvPr id="2" name="Date Placeholder 1"/>
          <p:cNvSpPr>
            <a:spLocks noGrp="1"/>
          </p:cNvSpPr>
          <p:nvPr>
            <p:ph type="dt" sz="half" idx="10"/>
          </p:nvPr>
        </p:nvSpPr>
        <p:spPr/>
        <p:txBody>
          <a:bodyPr/>
          <a:lstStyle/>
          <a:p>
            <a:fld id="{62272A55-3D7D-4E17-9350-4145B928DFFB}" type="datetime1">
              <a:rPr lang="tr-TR" smtClean="0"/>
              <a:t>16.05.2025</a:t>
            </a:fld>
            <a:endParaRPr lang="tr-TR"/>
          </a:p>
        </p:txBody>
      </p:sp>
      <p:sp>
        <p:nvSpPr>
          <p:cNvPr id="4" name="Slide Number Placeholder 3"/>
          <p:cNvSpPr>
            <a:spLocks noGrp="1"/>
          </p:cNvSpPr>
          <p:nvPr>
            <p:ph type="sldNum" sz="quarter" idx="12"/>
          </p:nvPr>
        </p:nvSpPr>
        <p:spPr/>
        <p:txBody>
          <a:bodyPr/>
          <a:lstStyle/>
          <a:p>
            <a:fld id="{4C61373B-6CD7-433C-9DE2-D4B638969085}" type="slidenum">
              <a:rPr lang="tr-TR" smtClean="0"/>
              <a:t>21</a:t>
            </a:fld>
            <a:endParaRPr lang="tr-TR"/>
          </a:p>
        </p:txBody>
      </p:sp>
    </p:spTree>
    <p:extLst>
      <p:ext uri="{BB962C8B-B14F-4D97-AF65-F5344CB8AC3E}">
        <p14:creationId xmlns:p14="http://schemas.microsoft.com/office/powerpoint/2010/main" val="25083360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99854" y="1260764"/>
            <a:ext cx="9206345" cy="4957921"/>
          </a:xfrm>
        </p:spPr>
        <p:txBody>
          <a:bodyPr/>
          <a:lstStyle/>
          <a:p>
            <a:r>
              <a:rPr lang="en-US" dirty="0"/>
              <a:t>So, we take the first 3 X 3 matrix from the 6 X 6 image and multiply it with the filter. </a:t>
            </a:r>
            <a:endParaRPr lang="tr-TR" dirty="0"/>
          </a:p>
          <a:p>
            <a:r>
              <a:rPr lang="en-US" dirty="0"/>
              <a:t>Now, the first element of the 4 X 4 output will be the sum of the element-wise product of these values, i.e. 3*1 + 0 + 1*-1 + 1*1 + 5*0 + 8*-1 + 2*1 + 7*0 + 2*-1 = -5. </a:t>
            </a:r>
            <a:endParaRPr lang="tr-TR" dirty="0"/>
          </a:p>
          <a:p>
            <a:r>
              <a:rPr lang="en-US" dirty="0"/>
              <a:t>To calculate the second element of the 4 X 4 output, we will shift our filter one step towards the right and again get the sum of the element-wise product:</a:t>
            </a:r>
            <a:endParaRPr lang="tr-TR" dirty="0"/>
          </a:p>
        </p:txBody>
      </p:sp>
      <p:pic>
        <p:nvPicPr>
          <p:cNvPr id="5" name="Picture 4"/>
          <p:cNvPicPr>
            <a:picLocks noChangeAspect="1"/>
          </p:cNvPicPr>
          <p:nvPr/>
        </p:nvPicPr>
        <p:blipFill>
          <a:blip r:embed="rId2"/>
          <a:stretch>
            <a:fillRect/>
          </a:stretch>
        </p:blipFill>
        <p:spPr>
          <a:xfrm>
            <a:off x="4225639" y="3934645"/>
            <a:ext cx="2050470" cy="2064418"/>
          </a:xfrm>
          <a:prstGeom prst="rect">
            <a:avLst/>
          </a:prstGeom>
        </p:spPr>
      </p:pic>
      <p:sp>
        <p:nvSpPr>
          <p:cNvPr id="6" name="TextBox 5"/>
          <p:cNvSpPr txBox="1"/>
          <p:nvPr/>
        </p:nvSpPr>
        <p:spPr>
          <a:xfrm>
            <a:off x="6709064" y="4782188"/>
            <a:ext cx="4561608" cy="369332"/>
          </a:xfrm>
          <a:prstGeom prst="rect">
            <a:avLst/>
          </a:prstGeom>
          <a:noFill/>
        </p:spPr>
        <p:txBody>
          <a:bodyPr wrap="square" rtlCol="0">
            <a:spAutoFit/>
          </a:bodyPr>
          <a:lstStyle/>
          <a:p>
            <a:r>
              <a:rPr lang="tr-TR" dirty="0"/>
              <a:t>0+0+2*-1+5*1+0+9*-1+7*1+0+5*-1=-4</a:t>
            </a:r>
          </a:p>
        </p:txBody>
      </p:sp>
      <p:sp>
        <p:nvSpPr>
          <p:cNvPr id="2" name="Date Placeholder 1"/>
          <p:cNvSpPr>
            <a:spLocks noGrp="1"/>
          </p:cNvSpPr>
          <p:nvPr>
            <p:ph type="dt" sz="half" idx="10"/>
          </p:nvPr>
        </p:nvSpPr>
        <p:spPr/>
        <p:txBody>
          <a:bodyPr/>
          <a:lstStyle/>
          <a:p>
            <a:fld id="{1EFBD21F-4FBA-4CEB-BAE2-9A82B1B5D0F5}" type="datetime1">
              <a:rPr lang="tr-TR" smtClean="0"/>
              <a:t>16.05.2025</a:t>
            </a:fld>
            <a:endParaRPr lang="tr-TR"/>
          </a:p>
        </p:txBody>
      </p:sp>
      <p:sp>
        <p:nvSpPr>
          <p:cNvPr id="4" name="Slide Number Placeholder 3"/>
          <p:cNvSpPr>
            <a:spLocks noGrp="1"/>
          </p:cNvSpPr>
          <p:nvPr>
            <p:ph type="sldNum" sz="quarter" idx="12"/>
          </p:nvPr>
        </p:nvSpPr>
        <p:spPr/>
        <p:txBody>
          <a:bodyPr/>
          <a:lstStyle/>
          <a:p>
            <a:fld id="{4C61373B-6CD7-433C-9DE2-D4B638969085}" type="slidenum">
              <a:rPr lang="tr-TR" smtClean="0"/>
              <a:t>22</a:t>
            </a:fld>
            <a:endParaRPr lang="tr-TR"/>
          </a:p>
        </p:txBody>
      </p:sp>
    </p:spTree>
    <p:extLst>
      <p:ext uri="{BB962C8B-B14F-4D97-AF65-F5344CB8AC3E}">
        <p14:creationId xmlns:p14="http://schemas.microsoft.com/office/powerpoint/2010/main" val="36585419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59986" y="1092471"/>
            <a:ext cx="9247909" cy="5223164"/>
          </a:xfrm>
        </p:spPr>
        <p:txBody>
          <a:bodyPr/>
          <a:lstStyle/>
          <a:p>
            <a:r>
              <a:rPr lang="en-US" dirty="0"/>
              <a:t>Similarly, we will convolve over the entire image and get a 4 X 4 output:</a:t>
            </a:r>
            <a:endParaRPr lang="tr-TR" dirty="0"/>
          </a:p>
          <a:p>
            <a:endParaRPr lang="tr-TR" dirty="0"/>
          </a:p>
          <a:p>
            <a:endParaRPr lang="tr-TR" dirty="0"/>
          </a:p>
          <a:p>
            <a:endParaRPr lang="tr-TR" dirty="0"/>
          </a:p>
          <a:p>
            <a:endParaRPr lang="tr-TR" dirty="0"/>
          </a:p>
          <a:p>
            <a:endParaRPr lang="tr-TR" dirty="0"/>
          </a:p>
          <a:p>
            <a:endParaRPr lang="tr-TR" dirty="0"/>
          </a:p>
          <a:p>
            <a:r>
              <a:rPr lang="en-US" dirty="0"/>
              <a:t>So, convolving a 6 X 6 input with a 3 X 3 filter gave us an output of 4 X 4.</a:t>
            </a:r>
            <a:endParaRPr lang="tr-TR" dirty="0"/>
          </a:p>
        </p:txBody>
      </p:sp>
      <p:pic>
        <p:nvPicPr>
          <p:cNvPr id="7" name="Picture 6"/>
          <p:cNvPicPr>
            <a:picLocks noChangeAspect="1"/>
          </p:cNvPicPr>
          <p:nvPr/>
        </p:nvPicPr>
        <p:blipFill>
          <a:blip r:embed="rId2"/>
          <a:stretch>
            <a:fillRect/>
          </a:stretch>
        </p:blipFill>
        <p:spPr>
          <a:xfrm>
            <a:off x="5458863" y="1778273"/>
            <a:ext cx="2850154" cy="1925780"/>
          </a:xfrm>
          <a:prstGeom prst="rect">
            <a:avLst/>
          </a:prstGeom>
        </p:spPr>
      </p:pic>
      <p:sp>
        <p:nvSpPr>
          <p:cNvPr id="2" name="Date Placeholder 1"/>
          <p:cNvSpPr>
            <a:spLocks noGrp="1"/>
          </p:cNvSpPr>
          <p:nvPr>
            <p:ph type="dt" sz="half" idx="10"/>
          </p:nvPr>
        </p:nvSpPr>
        <p:spPr/>
        <p:txBody>
          <a:bodyPr/>
          <a:lstStyle/>
          <a:p>
            <a:fld id="{4247C451-150C-4BFA-9F6E-F313096C2C45}" type="datetime1">
              <a:rPr lang="tr-TR" smtClean="0"/>
              <a:t>16.05.2025</a:t>
            </a:fld>
            <a:endParaRPr lang="tr-TR"/>
          </a:p>
        </p:txBody>
      </p:sp>
      <p:sp>
        <p:nvSpPr>
          <p:cNvPr id="4" name="Slide Number Placeholder 3"/>
          <p:cNvSpPr>
            <a:spLocks noGrp="1"/>
          </p:cNvSpPr>
          <p:nvPr>
            <p:ph type="sldNum" sz="quarter" idx="12"/>
          </p:nvPr>
        </p:nvSpPr>
        <p:spPr/>
        <p:txBody>
          <a:bodyPr/>
          <a:lstStyle/>
          <a:p>
            <a:fld id="{4C61373B-6CD7-433C-9DE2-D4B638969085}" type="slidenum">
              <a:rPr lang="tr-TR" smtClean="0"/>
              <a:t>23</a:t>
            </a:fld>
            <a:endParaRPr lang="tr-TR"/>
          </a:p>
        </p:txBody>
      </p:sp>
    </p:spTree>
    <p:extLst>
      <p:ext uri="{BB962C8B-B14F-4D97-AF65-F5344CB8AC3E}">
        <p14:creationId xmlns:p14="http://schemas.microsoft.com/office/powerpoint/2010/main" val="13196914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927599"/>
          </a:xfrm>
        </p:spPr>
        <p:txBody>
          <a:bodyPr>
            <a:normAutofit fontScale="90000"/>
          </a:bodyPr>
          <a:lstStyle/>
          <a:p>
            <a:r>
              <a:rPr lang="tr-TR" b="1" dirty="0"/>
              <a:t>Consider one more example</a:t>
            </a:r>
            <a:r>
              <a:rPr lang="tr-TR" dirty="0"/>
              <a:t>:</a:t>
            </a:r>
            <a:br>
              <a:rPr lang="tr-TR" dirty="0"/>
            </a:br>
            <a:endParaRPr lang="tr-TR" dirty="0"/>
          </a:p>
        </p:txBody>
      </p:sp>
      <p:sp>
        <p:nvSpPr>
          <p:cNvPr id="3" name="Content Placeholder 2"/>
          <p:cNvSpPr>
            <a:spLocks noGrp="1"/>
          </p:cNvSpPr>
          <p:nvPr>
            <p:ph idx="1"/>
          </p:nvPr>
        </p:nvSpPr>
        <p:spPr>
          <a:xfrm>
            <a:off x="2355272" y="1551709"/>
            <a:ext cx="9150927" cy="5126181"/>
          </a:xfrm>
        </p:spPr>
        <p:txBody>
          <a:bodyPr>
            <a:normAutofit/>
          </a:bodyPr>
          <a:lstStyle/>
          <a:p>
            <a:endParaRPr lang="tr-TR" b="1" dirty="0"/>
          </a:p>
          <a:p>
            <a:endParaRPr lang="tr-TR" b="1" dirty="0"/>
          </a:p>
          <a:p>
            <a:endParaRPr lang="tr-TR" b="1" dirty="0"/>
          </a:p>
          <a:p>
            <a:endParaRPr lang="tr-TR" b="1" dirty="0"/>
          </a:p>
          <a:p>
            <a:endParaRPr lang="tr-TR" b="1" dirty="0"/>
          </a:p>
          <a:p>
            <a:endParaRPr lang="tr-TR" b="1" dirty="0"/>
          </a:p>
          <a:p>
            <a:endParaRPr lang="tr-TR" b="1" dirty="0"/>
          </a:p>
          <a:p>
            <a:endParaRPr lang="tr-TR" b="1" dirty="0"/>
          </a:p>
          <a:p>
            <a:endParaRPr lang="tr-TR" b="1" dirty="0"/>
          </a:p>
          <a:p>
            <a:r>
              <a:rPr lang="en-US" b="1" dirty="0"/>
              <a:t>Note</a:t>
            </a:r>
            <a:r>
              <a:rPr lang="en-US" dirty="0"/>
              <a:t>: Higher pixel values represent the brighter portion of the image and the lower pixel values represent the darker portions. This is how we can detect a vertical edge in an image.</a:t>
            </a:r>
            <a:endParaRPr lang="tr-TR" dirty="0"/>
          </a:p>
          <a:p>
            <a:endParaRPr lang="tr-TR" dirty="0"/>
          </a:p>
        </p:txBody>
      </p:sp>
      <p:pic>
        <p:nvPicPr>
          <p:cNvPr id="4" name="Picture 3"/>
          <p:cNvPicPr>
            <a:picLocks noChangeAspect="1"/>
          </p:cNvPicPr>
          <p:nvPr/>
        </p:nvPicPr>
        <p:blipFill>
          <a:blip r:embed="rId2"/>
          <a:stretch>
            <a:fillRect/>
          </a:stretch>
        </p:blipFill>
        <p:spPr>
          <a:xfrm>
            <a:off x="3725572" y="1551709"/>
            <a:ext cx="6410325" cy="3409950"/>
          </a:xfrm>
          <a:prstGeom prst="rect">
            <a:avLst/>
          </a:prstGeom>
        </p:spPr>
      </p:pic>
      <p:sp>
        <p:nvSpPr>
          <p:cNvPr id="5" name="Date Placeholder 4"/>
          <p:cNvSpPr>
            <a:spLocks noGrp="1"/>
          </p:cNvSpPr>
          <p:nvPr>
            <p:ph type="dt" sz="half" idx="10"/>
          </p:nvPr>
        </p:nvSpPr>
        <p:spPr/>
        <p:txBody>
          <a:bodyPr/>
          <a:lstStyle/>
          <a:p>
            <a:fld id="{0CA0A9A5-F3B8-41F7-9B5E-DB00E269C2CD}" type="datetime1">
              <a:rPr lang="tr-TR" smtClean="0"/>
              <a:t>16.05.2025</a:t>
            </a:fld>
            <a:endParaRPr lang="tr-TR"/>
          </a:p>
        </p:txBody>
      </p:sp>
      <p:sp>
        <p:nvSpPr>
          <p:cNvPr id="6" name="Slide Number Placeholder 5"/>
          <p:cNvSpPr>
            <a:spLocks noGrp="1"/>
          </p:cNvSpPr>
          <p:nvPr>
            <p:ph type="sldNum" sz="quarter" idx="12"/>
          </p:nvPr>
        </p:nvSpPr>
        <p:spPr/>
        <p:txBody>
          <a:bodyPr/>
          <a:lstStyle/>
          <a:p>
            <a:fld id="{4C61373B-6CD7-433C-9DE2-D4B638969085}" type="slidenum">
              <a:rPr lang="tr-TR" smtClean="0"/>
              <a:t>24</a:t>
            </a:fld>
            <a:endParaRPr lang="tr-TR"/>
          </a:p>
        </p:txBody>
      </p:sp>
    </p:spTree>
    <p:extLst>
      <p:ext uri="{BB962C8B-B14F-4D97-AF65-F5344CB8AC3E}">
        <p14:creationId xmlns:p14="http://schemas.microsoft.com/office/powerpoint/2010/main" val="2541518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3818" y="304800"/>
            <a:ext cx="9012382" cy="1052945"/>
          </a:xfrm>
        </p:spPr>
        <p:txBody>
          <a:bodyPr>
            <a:normAutofit fontScale="90000"/>
          </a:bodyPr>
          <a:lstStyle/>
          <a:p>
            <a:r>
              <a:rPr lang="tr-TR" b="1" dirty="0"/>
              <a:t>More Edge Detection</a:t>
            </a:r>
            <a:br>
              <a:rPr lang="tr-TR" b="1" dirty="0"/>
            </a:br>
            <a:endParaRPr lang="tr-TR" dirty="0"/>
          </a:p>
        </p:txBody>
      </p:sp>
      <p:sp>
        <p:nvSpPr>
          <p:cNvPr id="3" name="Content Placeholder 2"/>
          <p:cNvSpPr>
            <a:spLocks noGrp="1"/>
          </p:cNvSpPr>
          <p:nvPr>
            <p:ph idx="1"/>
          </p:nvPr>
        </p:nvSpPr>
        <p:spPr>
          <a:xfrm>
            <a:off x="2493818" y="1191492"/>
            <a:ext cx="9012382" cy="5417126"/>
          </a:xfrm>
        </p:spPr>
        <p:txBody>
          <a:bodyPr>
            <a:normAutofit/>
          </a:bodyPr>
          <a:lstStyle/>
          <a:p>
            <a:r>
              <a:rPr lang="tr-TR" dirty="0"/>
              <a:t>T</a:t>
            </a:r>
            <a:r>
              <a:rPr lang="en-US" dirty="0"/>
              <a:t>he type of filter that we choose helps to detect the vertical or horizontal edges. We can use the following filters to detect different edges:</a:t>
            </a:r>
            <a:endParaRPr lang="tr-TR" dirty="0"/>
          </a:p>
          <a:p>
            <a:endParaRPr lang="tr-TR" dirty="0"/>
          </a:p>
          <a:p>
            <a:endParaRPr lang="tr-TR" dirty="0"/>
          </a:p>
          <a:p>
            <a:endParaRPr lang="tr-TR" dirty="0"/>
          </a:p>
          <a:p>
            <a:endParaRPr lang="tr-TR" dirty="0"/>
          </a:p>
          <a:p>
            <a:r>
              <a:rPr lang="en-US" dirty="0"/>
              <a:t>Some of the commonly used filters are:</a:t>
            </a:r>
            <a:endParaRPr lang="tr-TR" dirty="0"/>
          </a:p>
          <a:p>
            <a:endParaRPr lang="tr-TR" dirty="0"/>
          </a:p>
          <a:p>
            <a:endParaRPr lang="tr-TR" dirty="0"/>
          </a:p>
          <a:p>
            <a:endParaRPr lang="tr-TR" dirty="0"/>
          </a:p>
          <a:p>
            <a:endParaRPr lang="tr-TR" dirty="0"/>
          </a:p>
          <a:p>
            <a:r>
              <a:rPr lang="en-US" dirty="0"/>
              <a:t>The Sobel filter puts a little bit more weight on the central pixels. Instead of using these filters, we can create our own as well and treat them as a parameter which the model will learn using backpropagation.</a:t>
            </a:r>
            <a:endParaRPr lang="tr-TR" dirty="0"/>
          </a:p>
        </p:txBody>
      </p:sp>
      <p:pic>
        <p:nvPicPr>
          <p:cNvPr id="4" name="Picture 3"/>
          <p:cNvPicPr>
            <a:picLocks noChangeAspect="1"/>
          </p:cNvPicPr>
          <p:nvPr/>
        </p:nvPicPr>
        <p:blipFill>
          <a:blip r:embed="rId2"/>
          <a:stretch>
            <a:fillRect/>
          </a:stretch>
        </p:blipFill>
        <p:spPr>
          <a:xfrm>
            <a:off x="5742709" y="2045963"/>
            <a:ext cx="2514600" cy="1410746"/>
          </a:xfrm>
          <a:prstGeom prst="rect">
            <a:avLst/>
          </a:prstGeom>
        </p:spPr>
      </p:pic>
      <p:pic>
        <p:nvPicPr>
          <p:cNvPr id="5" name="Picture 4"/>
          <p:cNvPicPr>
            <a:picLocks noChangeAspect="1"/>
          </p:cNvPicPr>
          <p:nvPr/>
        </p:nvPicPr>
        <p:blipFill>
          <a:blip r:embed="rId3"/>
          <a:stretch>
            <a:fillRect/>
          </a:stretch>
        </p:blipFill>
        <p:spPr>
          <a:xfrm>
            <a:off x="5742709" y="3900055"/>
            <a:ext cx="2514600" cy="1323975"/>
          </a:xfrm>
          <a:prstGeom prst="rect">
            <a:avLst/>
          </a:prstGeom>
        </p:spPr>
      </p:pic>
      <p:sp>
        <p:nvSpPr>
          <p:cNvPr id="6" name="Date Placeholder 5"/>
          <p:cNvSpPr>
            <a:spLocks noGrp="1"/>
          </p:cNvSpPr>
          <p:nvPr>
            <p:ph type="dt" sz="half" idx="10"/>
          </p:nvPr>
        </p:nvSpPr>
        <p:spPr/>
        <p:txBody>
          <a:bodyPr/>
          <a:lstStyle/>
          <a:p>
            <a:fld id="{00A80303-6726-44E8-866E-0DAFAE8769F6}" type="datetime1">
              <a:rPr lang="tr-TR" smtClean="0"/>
              <a:t>16.05.2025</a:t>
            </a:fld>
            <a:endParaRPr lang="tr-TR"/>
          </a:p>
        </p:txBody>
      </p:sp>
      <p:sp>
        <p:nvSpPr>
          <p:cNvPr id="7" name="Slide Number Placeholder 6"/>
          <p:cNvSpPr>
            <a:spLocks noGrp="1"/>
          </p:cNvSpPr>
          <p:nvPr>
            <p:ph type="sldNum" sz="quarter" idx="12"/>
          </p:nvPr>
        </p:nvSpPr>
        <p:spPr/>
        <p:txBody>
          <a:bodyPr/>
          <a:lstStyle/>
          <a:p>
            <a:fld id="{4C61373B-6CD7-433C-9DE2-D4B638969085}" type="slidenum">
              <a:rPr lang="tr-TR" smtClean="0"/>
              <a:t>25</a:t>
            </a:fld>
            <a:endParaRPr lang="tr-TR"/>
          </a:p>
        </p:txBody>
      </p:sp>
    </p:spTree>
    <p:extLst>
      <p:ext uri="{BB962C8B-B14F-4D97-AF65-F5344CB8AC3E}">
        <p14:creationId xmlns:p14="http://schemas.microsoft.com/office/powerpoint/2010/main" val="22724205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2144" y="764373"/>
            <a:ext cx="9234056" cy="1036718"/>
          </a:xfrm>
        </p:spPr>
        <p:txBody>
          <a:bodyPr>
            <a:normAutofit fontScale="90000"/>
          </a:bodyPr>
          <a:lstStyle/>
          <a:p>
            <a:r>
              <a:rPr lang="tr-TR" b="1" dirty="0"/>
              <a:t>Padding</a:t>
            </a:r>
            <a:br>
              <a:rPr lang="tr-TR" b="1" dirty="0"/>
            </a:br>
            <a:endParaRPr lang="tr-TR" dirty="0"/>
          </a:p>
        </p:txBody>
      </p:sp>
      <p:sp>
        <p:nvSpPr>
          <p:cNvPr id="3" name="Content Placeholder 2"/>
          <p:cNvSpPr>
            <a:spLocks noGrp="1"/>
          </p:cNvSpPr>
          <p:nvPr>
            <p:ph idx="1"/>
          </p:nvPr>
        </p:nvSpPr>
        <p:spPr>
          <a:xfrm>
            <a:off x="2272144" y="1440874"/>
            <a:ext cx="9234055" cy="4777812"/>
          </a:xfrm>
        </p:spPr>
        <p:txBody>
          <a:bodyPr>
            <a:normAutofit/>
          </a:bodyPr>
          <a:lstStyle/>
          <a:p>
            <a:endParaRPr lang="tr-TR" dirty="0"/>
          </a:p>
          <a:p>
            <a:r>
              <a:rPr lang="en-US" dirty="0"/>
              <a:t>There are primarily two disadvantages here:</a:t>
            </a:r>
            <a:endParaRPr lang="tr-TR" dirty="0"/>
          </a:p>
          <a:p>
            <a:endParaRPr lang="en-US" dirty="0"/>
          </a:p>
          <a:p>
            <a:r>
              <a:rPr lang="en-US" dirty="0"/>
              <a:t>Every time we apply a convolutional operation, the size of the image shrinks</a:t>
            </a:r>
            <a:endParaRPr lang="tr-TR" dirty="0"/>
          </a:p>
          <a:p>
            <a:endParaRPr lang="en-US" dirty="0"/>
          </a:p>
          <a:p>
            <a:r>
              <a:rPr lang="en-US" dirty="0"/>
              <a:t>Pixels present in the corner of the image are used only a few number of times during convolution as compared to the central pixels. </a:t>
            </a:r>
            <a:endParaRPr lang="tr-TR" dirty="0"/>
          </a:p>
          <a:p>
            <a:endParaRPr lang="tr-TR" dirty="0"/>
          </a:p>
          <a:p>
            <a:r>
              <a:rPr lang="en-US" dirty="0"/>
              <a:t>Hence, we do not focus too much on the corners since that can lead to information loss</a:t>
            </a:r>
          </a:p>
          <a:p>
            <a:endParaRPr lang="tr-TR" dirty="0"/>
          </a:p>
        </p:txBody>
      </p:sp>
      <p:sp>
        <p:nvSpPr>
          <p:cNvPr id="4" name="Date Placeholder 3"/>
          <p:cNvSpPr>
            <a:spLocks noGrp="1"/>
          </p:cNvSpPr>
          <p:nvPr>
            <p:ph type="dt" sz="half" idx="10"/>
          </p:nvPr>
        </p:nvSpPr>
        <p:spPr/>
        <p:txBody>
          <a:bodyPr/>
          <a:lstStyle/>
          <a:p>
            <a:fld id="{E49E1DC3-41A7-4676-AB63-4A2579619546}"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26</a:t>
            </a:fld>
            <a:endParaRPr lang="tr-TR"/>
          </a:p>
        </p:txBody>
      </p:sp>
    </p:spTree>
    <p:extLst>
      <p:ext uri="{BB962C8B-B14F-4D97-AF65-F5344CB8AC3E}">
        <p14:creationId xmlns:p14="http://schemas.microsoft.com/office/powerpoint/2010/main" val="3644291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43113" y="1152907"/>
            <a:ext cx="9164782" cy="4708540"/>
          </a:xfrm>
        </p:spPr>
        <p:txBody>
          <a:bodyPr/>
          <a:lstStyle/>
          <a:p>
            <a:r>
              <a:rPr lang="en-US" dirty="0"/>
              <a:t>We have seen that convolving an input of 6 X 6 dimension with a 3 X 3 filter results in 4 X 4 output. </a:t>
            </a:r>
            <a:endParaRPr lang="tr-TR" dirty="0"/>
          </a:p>
          <a:p>
            <a:endParaRPr lang="tr-TR" dirty="0"/>
          </a:p>
          <a:p>
            <a:r>
              <a:rPr lang="en-US" dirty="0"/>
              <a:t>We can generalize it and say that if the input is n X n and the filter size is f X f, then the output size will be (n-f+1) X (n-f+1):</a:t>
            </a:r>
            <a:endParaRPr lang="tr-TR" dirty="0"/>
          </a:p>
          <a:p>
            <a:endParaRPr lang="en-US" dirty="0"/>
          </a:p>
          <a:p>
            <a:pPr algn="ctr"/>
            <a:r>
              <a:rPr lang="en-US" b="1" dirty="0"/>
              <a:t>Input:</a:t>
            </a:r>
            <a:r>
              <a:rPr lang="en-US" dirty="0"/>
              <a:t> n X n</a:t>
            </a:r>
          </a:p>
          <a:p>
            <a:pPr algn="ctr"/>
            <a:r>
              <a:rPr lang="en-US" b="1" dirty="0"/>
              <a:t>Filter size:</a:t>
            </a:r>
            <a:r>
              <a:rPr lang="en-US" dirty="0"/>
              <a:t> f X f</a:t>
            </a:r>
          </a:p>
          <a:p>
            <a:pPr algn="ctr"/>
            <a:r>
              <a:rPr lang="en-US" b="1" dirty="0"/>
              <a:t>Output:</a:t>
            </a:r>
            <a:r>
              <a:rPr lang="en-US" dirty="0"/>
              <a:t> </a:t>
            </a:r>
            <a:r>
              <a:rPr lang="en-US" b="1" dirty="0">
                <a:solidFill>
                  <a:srgbClr val="FF0000"/>
                </a:solidFill>
              </a:rPr>
              <a:t>(n-f+1) X (n-f+1)</a:t>
            </a:r>
          </a:p>
          <a:p>
            <a:endParaRPr lang="tr-TR" dirty="0"/>
          </a:p>
        </p:txBody>
      </p:sp>
      <p:sp>
        <p:nvSpPr>
          <p:cNvPr id="2" name="Date Placeholder 1"/>
          <p:cNvSpPr>
            <a:spLocks noGrp="1"/>
          </p:cNvSpPr>
          <p:nvPr>
            <p:ph type="dt" sz="half" idx="10"/>
          </p:nvPr>
        </p:nvSpPr>
        <p:spPr/>
        <p:txBody>
          <a:bodyPr/>
          <a:lstStyle/>
          <a:p>
            <a:fld id="{D55D4116-789F-4DFB-A035-B1C3EAE56DCD}" type="datetime1">
              <a:rPr lang="tr-TR" smtClean="0"/>
              <a:t>16.05.2025</a:t>
            </a:fld>
            <a:endParaRPr lang="tr-TR"/>
          </a:p>
        </p:txBody>
      </p:sp>
      <p:sp>
        <p:nvSpPr>
          <p:cNvPr id="4" name="Slide Number Placeholder 3"/>
          <p:cNvSpPr>
            <a:spLocks noGrp="1"/>
          </p:cNvSpPr>
          <p:nvPr>
            <p:ph type="sldNum" sz="quarter" idx="12"/>
          </p:nvPr>
        </p:nvSpPr>
        <p:spPr/>
        <p:txBody>
          <a:bodyPr/>
          <a:lstStyle/>
          <a:p>
            <a:fld id="{4C61373B-6CD7-433C-9DE2-D4B638969085}" type="slidenum">
              <a:rPr lang="tr-TR" smtClean="0"/>
              <a:t>27</a:t>
            </a:fld>
            <a:endParaRPr lang="tr-TR"/>
          </a:p>
        </p:txBody>
      </p:sp>
    </p:spTree>
    <p:extLst>
      <p:ext uri="{BB962C8B-B14F-4D97-AF65-F5344CB8AC3E}">
        <p14:creationId xmlns:p14="http://schemas.microsoft.com/office/powerpoint/2010/main" val="827806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32277" y="1152907"/>
            <a:ext cx="9275618" cy="4791667"/>
          </a:xfrm>
        </p:spPr>
        <p:txBody>
          <a:bodyPr>
            <a:normAutofit fontScale="92500" lnSpcReduction="10000"/>
          </a:bodyPr>
          <a:lstStyle/>
          <a:p>
            <a:r>
              <a:rPr lang="en-US" sz="2400" dirty="0"/>
              <a:t>To overcome these issues, we can pad the image with an additional border, i.e., we add one pixel all around the edges. </a:t>
            </a:r>
            <a:endParaRPr lang="tr-TR" sz="2400" dirty="0"/>
          </a:p>
          <a:p>
            <a:r>
              <a:rPr lang="en-US" sz="2400" dirty="0"/>
              <a:t>This means that the input will be an 8 X 8 matrix (instead of a 6 X 6 matrix). </a:t>
            </a:r>
            <a:endParaRPr lang="tr-TR" sz="2400" dirty="0"/>
          </a:p>
          <a:p>
            <a:r>
              <a:rPr lang="en-US" sz="2400" dirty="0"/>
              <a:t>Applying convolution of 3 X 3 on it will result in a 6 X 6 matrix which is the original shape of the image. This is where padding comes to the fore:</a:t>
            </a:r>
            <a:endParaRPr lang="tr-TR" sz="2400" dirty="0"/>
          </a:p>
          <a:p>
            <a:endParaRPr lang="en-US" sz="2400" dirty="0"/>
          </a:p>
          <a:p>
            <a:pPr algn="ctr"/>
            <a:r>
              <a:rPr lang="en-US" sz="2400" dirty="0"/>
              <a:t>Input: n X n</a:t>
            </a:r>
          </a:p>
          <a:p>
            <a:pPr algn="ctr"/>
            <a:r>
              <a:rPr lang="en-US" sz="2400" dirty="0"/>
              <a:t>Padding: p</a:t>
            </a:r>
          </a:p>
          <a:p>
            <a:pPr algn="ctr"/>
            <a:r>
              <a:rPr lang="en-US" sz="2400" dirty="0"/>
              <a:t>Filter size: f X f</a:t>
            </a:r>
          </a:p>
          <a:p>
            <a:pPr algn="ctr"/>
            <a:r>
              <a:rPr lang="en-US" sz="2400" dirty="0"/>
              <a:t>Output: (n+2p-f+1) X (n+2p-f+1)</a:t>
            </a:r>
          </a:p>
          <a:p>
            <a:endParaRPr lang="tr-TR" dirty="0"/>
          </a:p>
        </p:txBody>
      </p:sp>
      <p:sp>
        <p:nvSpPr>
          <p:cNvPr id="2" name="Date Placeholder 1"/>
          <p:cNvSpPr>
            <a:spLocks noGrp="1"/>
          </p:cNvSpPr>
          <p:nvPr>
            <p:ph type="dt" sz="half" idx="10"/>
          </p:nvPr>
        </p:nvSpPr>
        <p:spPr/>
        <p:txBody>
          <a:bodyPr/>
          <a:lstStyle/>
          <a:p>
            <a:fld id="{60A7CFD7-BADC-49F0-97CA-83D9F287F950}" type="datetime1">
              <a:rPr lang="tr-TR" smtClean="0"/>
              <a:t>16.05.2025</a:t>
            </a:fld>
            <a:endParaRPr lang="tr-TR"/>
          </a:p>
        </p:txBody>
      </p:sp>
      <p:sp>
        <p:nvSpPr>
          <p:cNvPr id="4" name="Slide Number Placeholder 3"/>
          <p:cNvSpPr>
            <a:spLocks noGrp="1"/>
          </p:cNvSpPr>
          <p:nvPr>
            <p:ph type="sldNum" sz="quarter" idx="12"/>
          </p:nvPr>
        </p:nvSpPr>
        <p:spPr/>
        <p:txBody>
          <a:bodyPr/>
          <a:lstStyle/>
          <a:p>
            <a:fld id="{4C61373B-6CD7-433C-9DE2-D4B638969085}" type="slidenum">
              <a:rPr lang="tr-TR" smtClean="0"/>
              <a:t>28</a:t>
            </a:fld>
            <a:endParaRPr lang="tr-TR"/>
          </a:p>
        </p:txBody>
      </p:sp>
    </p:spTree>
    <p:extLst>
      <p:ext uri="{BB962C8B-B14F-4D97-AF65-F5344CB8AC3E}">
        <p14:creationId xmlns:p14="http://schemas.microsoft.com/office/powerpoint/2010/main" val="27067081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274618"/>
            <a:ext cx="10820400" cy="5167746"/>
          </a:xfrm>
        </p:spPr>
        <p:txBody>
          <a:bodyPr>
            <a:normAutofit/>
          </a:bodyPr>
          <a:lstStyle/>
          <a:p>
            <a:endParaRPr lang="tr-TR" b="1" dirty="0"/>
          </a:p>
          <a:p>
            <a:endParaRPr lang="tr-TR" b="1" dirty="0"/>
          </a:p>
          <a:p>
            <a:endParaRPr lang="tr-TR" b="1" dirty="0"/>
          </a:p>
          <a:p>
            <a:endParaRPr lang="tr-TR" b="1" dirty="0"/>
          </a:p>
          <a:p>
            <a:endParaRPr lang="tr-TR" b="1" dirty="0"/>
          </a:p>
          <a:p>
            <a:endParaRPr lang="tr-TR" b="1" dirty="0"/>
          </a:p>
          <a:p>
            <a:endParaRPr lang="tr-TR" b="1" dirty="0"/>
          </a:p>
          <a:p>
            <a:endParaRPr lang="tr-TR" b="1" dirty="0"/>
          </a:p>
          <a:p>
            <a:endParaRPr lang="tr-TR" b="1" dirty="0"/>
          </a:p>
          <a:p>
            <a:endParaRPr lang="tr-TR" b="1" dirty="0"/>
          </a:p>
        </p:txBody>
      </p:sp>
      <p:sp>
        <p:nvSpPr>
          <p:cNvPr id="7" name="Rectangle 6"/>
          <p:cNvSpPr/>
          <p:nvPr/>
        </p:nvSpPr>
        <p:spPr>
          <a:xfrm>
            <a:off x="2341418" y="621237"/>
            <a:ext cx="9279081" cy="5509200"/>
          </a:xfrm>
          <a:prstGeom prst="rect">
            <a:avLst/>
          </a:prstGeom>
        </p:spPr>
        <p:txBody>
          <a:bodyPr wrap="square">
            <a:spAutoFit/>
          </a:bodyPr>
          <a:lstStyle/>
          <a:p>
            <a:r>
              <a:rPr lang="en-US" sz="2200" dirty="0"/>
              <a:t>There are two common choices for padding:</a:t>
            </a:r>
            <a:endParaRPr lang="tr-TR" sz="2200" dirty="0"/>
          </a:p>
          <a:p>
            <a:endParaRPr lang="en-US" sz="2200" dirty="0"/>
          </a:p>
          <a:p>
            <a:pPr>
              <a:buFont typeface="+mj-lt"/>
              <a:buAutoNum type="arabicPeriod"/>
            </a:pPr>
            <a:r>
              <a:rPr lang="tr-TR" sz="2200" dirty="0"/>
              <a:t> </a:t>
            </a:r>
            <a:r>
              <a:rPr lang="en-US" sz="2200" dirty="0">
                <a:solidFill>
                  <a:srgbClr val="FF0000"/>
                </a:solidFill>
              </a:rPr>
              <a:t>Valid</a:t>
            </a:r>
            <a:r>
              <a:rPr lang="en-US" sz="2200" dirty="0"/>
              <a:t>: It means no padding. If we are using valid padding, the output will be (n-f+1) X (n-f+1)</a:t>
            </a:r>
            <a:endParaRPr lang="tr-TR" sz="2200" dirty="0"/>
          </a:p>
          <a:p>
            <a:pPr>
              <a:buFont typeface="+mj-lt"/>
              <a:buAutoNum type="arabicPeriod"/>
            </a:pPr>
            <a:endParaRPr lang="en-US" sz="2200" dirty="0"/>
          </a:p>
          <a:p>
            <a:pPr>
              <a:buFont typeface="+mj-lt"/>
              <a:buAutoNum type="arabicPeriod"/>
            </a:pPr>
            <a:r>
              <a:rPr lang="tr-TR" sz="2200" dirty="0"/>
              <a:t> </a:t>
            </a:r>
            <a:r>
              <a:rPr lang="en-US" sz="2200" dirty="0">
                <a:solidFill>
                  <a:srgbClr val="FF0000"/>
                </a:solidFill>
              </a:rPr>
              <a:t>Same</a:t>
            </a:r>
            <a:r>
              <a:rPr lang="en-US" sz="2200" dirty="0"/>
              <a:t>: Here, we apply padding so that the output size is the same as the input size, i.e.,</a:t>
            </a:r>
            <a:endParaRPr lang="tr-TR" sz="2200" dirty="0"/>
          </a:p>
          <a:p>
            <a:br>
              <a:rPr lang="en-US" sz="2200" dirty="0"/>
            </a:br>
            <a:r>
              <a:rPr lang="en-US" sz="2200" dirty="0"/>
              <a:t>n+2p-f+1 = n</a:t>
            </a:r>
            <a:br>
              <a:rPr lang="en-US" sz="2200" dirty="0"/>
            </a:br>
            <a:r>
              <a:rPr lang="en-US" sz="2200" dirty="0"/>
              <a:t>So, p = (f-1)/2</a:t>
            </a:r>
            <a:endParaRPr lang="tr-TR" sz="2200" dirty="0"/>
          </a:p>
          <a:p>
            <a:pPr>
              <a:buFont typeface="+mj-lt"/>
              <a:buAutoNum type="arabicPeriod"/>
            </a:pPr>
            <a:endParaRPr lang="tr-TR" sz="2200" dirty="0"/>
          </a:p>
          <a:p>
            <a:endParaRPr lang="en-US" sz="2200" dirty="0"/>
          </a:p>
          <a:p>
            <a:r>
              <a:rPr lang="en-US" sz="2200" dirty="0"/>
              <a:t>We now know how to use padded convolution. </a:t>
            </a:r>
            <a:endParaRPr lang="tr-TR" sz="2200" dirty="0"/>
          </a:p>
          <a:p>
            <a:r>
              <a:rPr lang="en-US" sz="2200" dirty="0"/>
              <a:t>This way we don’t lose a lot of information and the image does not shrink either. </a:t>
            </a:r>
            <a:endParaRPr lang="tr-TR" sz="2200" dirty="0"/>
          </a:p>
          <a:p>
            <a:r>
              <a:rPr lang="en-US" sz="2200" dirty="0"/>
              <a:t>Next, we will look at how to implement </a:t>
            </a:r>
            <a:r>
              <a:rPr lang="en-US" sz="2200" dirty="0" err="1"/>
              <a:t>strided</a:t>
            </a:r>
            <a:r>
              <a:rPr lang="en-US" sz="2200" dirty="0"/>
              <a:t> convolutions.</a:t>
            </a:r>
          </a:p>
        </p:txBody>
      </p:sp>
      <p:sp>
        <p:nvSpPr>
          <p:cNvPr id="2" name="Date Placeholder 1"/>
          <p:cNvSpPr>
            <a:spLocks noGrp="1"/>
          </p:cNvSpPr>
          <p:nvPr>
            <p:ph type="dt" sz="half" idx="10"/>
          </p:nvPr>
        </p:nvSpPr>
        <p:spPr/>
        <p:txBody>
          <a:bodyPr/>
          <a:lstStyle/>
          <a:p>
            <a:fld id="{7D15021E-F987-4224-8925-816F7E625E7F}" type="datetime1">
              <a:rPr lang="tr-TR" smtClean="0"/>
              <a:t>16.05.2025</a:t>
            </a:fld>
            <a:endParaRPr lang="tr-TR"/>
          </a:p>
        </p:txBody>
      </p:sp>
      <p:sp>
        <p:nvSpPr>
          <p:cNvPr id="4" name="Slide Number Placeholder 3"/>
          <p:cNvSpPr>
            <a:spLocks noGrp="1"/>
          </p:cNvSpPr>
          <p:nvPr>
            <p:ph type="sldNum" sz="quarter" idx="12"/>
          </p:nvPr>
        </p:nvSpPr>
        <p:spPr/>
        <p:txBody>
          <a:bodyPr/>
          <a:lstStyle/>
          <a:p>
            <a:fld id="{4C61373B-6CD7-433C-9DE2-D4B638969085}" type="slidenum">
              <a:rPr lang="tr-TR" smtClean="0"/>
              <a:t>29</a:t>
            </a:fld>
            <a:endParaRPr lang="tr-TR"/>
          </a:p>
        </p:txBody>
      </p:sp>
    </p:spTree>
    <p:extLst>
      <p:ext uri="{BB962C8B-B14F-4D97-AF65-F5344CB8AC3E}">
        <p14:creationId xmlns:p14="http://schemas.microsoft.com/office/powerpoint/2010/main" val="15138030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7564" y="764373"/>
            <a:ext cx="9178636" cy="662645"/>
          </a:xfrm>
        </p:spPr>
        <p:txBody>
          <a:bodyPr>
            <a:normAutofit fontScale="90000"/>
          </a:bodyPr>
          <a:lstStyle/>
          <a:p>
            <a:r>
              <a:rPr lang="tr-TR" b="1" dirty="0"/>
              <a:t>Strided Convolutıions</a:t>
            </a:r>
            <a:br>
              <a:rPr lang="tr-TR" b="1" dirty="0"/>
            </a:br>
            <a:endParaRPr lang="tr-TR" dirty="0"/>
          </a:p>
        </p:txBody>
      </p:sp>
      <p:sp>
        <p:nvSpPr>
          <p:cNvPr id="3" name="Content Placeholder 2"/>
          <p:cNvSpPr>
            <a:spLocks noGrp="1"/>
          </p:cNvSpPr>
          <p:nvPr>
            <p:ph idx="1"/>
          </p:nvPr>
        </p:nvSpPr>
        <p:spPr>
          <a:xfrm>
            <a:off x="2327564" y="1565564"/>
            <a:ext cx="9178636" cy="4653121"/>
          </a:xfrm>
        </p:spPr>
        <p:txBody>
          <a:bodyPr>
            <a:normAutofit/>
          </a:bodyPr>
          <a:lstStyle/>
          <a:p>
            <a:r>
              <a:rPr lang="en-US" dirty="0"/>
              <a:t>Suppose we choose a stride of 2. So, while convoluting through the image, we will take two steps – both in the horizontal and vertical directions separately. The dimensions for stride </a:t>
            </a:r>
            <a:r>
              <a:rPr lang="en-US" i="1" dirty="0"/>
              <a:t>s</a:t>
            </a:r>
            <a:r>
              <a:rPr lang="en-US" dirty="0"/>
              <a:t> will be:</a:t>
            </a:r>
            <a:endParaRPr lang="tr-TR" dirty="0"/>
          </a:p>
          <a:p>
            <a:endParaRPr lang="en-US" dirty="0"/>
          </a:p>
          <a:p>
            <a:r>
              <a:rPr lang="en-US" b="1" dirty="0">
                <a:solidFill>
                  <a:srgbClr val="FF0000"/>
                </a:solidFill>
              </a:rPr>
              <a:t>Input:</a:t>
            </a:r>
            <a:r>
              <a:rPr lang="en-US" dirty="0">
                <a:solidFill>
                  <a:srgbClr val="FF0000"/>
                </a:solidFill>
              </a:rPr>
              <a:t> n X n</a:t>
            </a:r>
          </a:p>
          <a:p>
            <a:r>
              <a:rPr lang="en-US" b="1" dirty="0">
                <a:solidFill>
                  <a:srgbClr val="FF0000"/>
                </a:solidFill>
              </a:rPr>
              <a:t>Padding:</a:t>
            </a:r>
            <a:r>
              <a:rPr lang="en-US" dirty="0">
                <a:solidFill>
                  <a:srgbClr val="FF0000"/>
                </a:solidFill>
              </a:rPr>
              <a:t> p</a:t>
            </a:r>
          </a:p>
          <a:p>
            <a:r>
              <a:rPr lang="en-US" b="1" dirty="0">
                <a:solidFill>
                  <a:srgbClr val="FF0000"/>
                </a:solidFill>
              </a:rPr>
              <a:t>Stride:</a:t>
            </a:r>
            <a:r>
              <a:rPr lang="en-US" dirty="0">
                <a:solidFill>
                  <a:srgbClr val="FF0000"/>
                </a:solidFill>
              </a:rPr>
              <a:t> s</a:t>
            </a:r>
          </a:p>
          <a:p>
            <a:r>
              <a:rPr lang="en-US" b="1" dirty="0">
                <a:solidFill>
                  <a:srgbClr val="FF0000"/>
                </a:solidFill>
              </a:rPr>
              <a:t>Filter size:</a:t>
            </a:r>
            <a:r>
              <a:rPr lang="en-US" dirty="0">
                <a:solidFill>
                  <a:srgbClr val="FF0000"/>
                </a:solidFill>
              </a:rPr>
              <a:t> f X f</a:t>
            </a:r>
          </a:p>
          <a:p>
            <a:r>
              <a:rPr lang="en-US" b="1" dirty="0">
                <a:solidFill>
                  <a:srgbClr val="FF0000"/>
                </a:solidFill>
              </a:rPr>
              <a:t>Output:</a:t>
            </a:r>
            <a:r>
              <a:rPr lang="en-US" dirty="0">
                <a:solidFill>
                  <a:srgbClr val="FF0000"/>
                </a:solidFill>
              </a:rPr>
              <a:t> [(n+2p-f)/s+1] X [(n+2p-f)/s+1]</a:t>
            </a:r>
          </a:p>
          <a:p>
            <a:endParaRPr lang="tr-TR" dirty="0"/>
          </a:p>
          <a:p>
            <a:r>
              <a:rPr lang="en-US" dirty="0"/>
              <a:t>Stride helps to reduce the size of the image, a particularly useful feature.</a:t>
            </a:r>
          </a:p>
          <a:p>
            <a:endParaRPr lang="tr-TR" dirty="0"/>
          </a:p>
        </p:txBody>
      </p:sp>
      <p:sp>
        <p:nvSpPr>
          <p:cNvPr id="4" name="Date Placeholder 3"/>
          <p:cNvSpPr>
            <a:spLocks noGrp="1"/>
          </p:cNvSpPr>
          <p:nvPr>
            <p:ph type="dt" sz="half" idx="10"/>
          </p:nvPr>
        </p:nvSpPr>
        <p:spPr/>
        <p:txBody>
          <a:bodyPr/>
          <a:lstStyle/>
          <a:p>
            <a:fld id="{1DE5A461-E0CC-4339-AC01-93CD99502AD9}"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30</a:t>
            </a:fld>
            <a:endParaRPr lang="tr-TR"/>
          </a:p>
        </p:txBody>
      </p:sp>
    </p:spTree>
    <p:extLst>
      <p:ext uri="{BB962C8B-B14F-4D97-AF65-F5344CB8AC3E}">
        <p14:creationId xmlns:p14="http://schemas.microsoft.com/office/powerpoint/2010/main" val="3382349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8159" y="624110"/>
            <a:ext cx="9206454" cy="747490"/>
          </a:xfrm>
        </p:spPr>
        <p:txBody>
          <a:bodyPr>
            <a:normAutofit fontScale="90000"/>
          </a:bodyPr>
          <a:lstStyle/>
          <a:p>
            <a:r>
              <a:rPr lang="tr-TR" b="1" dirty="0"/>
              <a:t>Convolutions Over Volume</a:t>
            </a:r>
            <a:br>
              <a:rPr lang="tr-TR" b="1" dirty="0"/>
            </a:br>
            <a:endParaRPr lang="tr-TR" dirty="0"/>
          </a:p>
        </p:txBody>
      </p:sp>
      <p:sp>
        <p:nvSpPr>
          <p:cNvPr id="3" name="Content Placeholder 2"/>
          <p:cNvSpPr>
            <a:spLocks noGrp="1"/>
          </p:cNvSpPr>
          <p:nvPr>
            <p:ph idx="1"/>
          </p:nvPr>
        </p:nvSpPr>
        <p:spPr>
          <a:xfrm>
            <a:off x="2299854" y="1482436"/>
            <a:ext cx="9206345" cy="4736250"/>
          </a:xfrm>
        </p:spPr>
        <p:txBody>
          <a:bodyPr>
            <a:normAutofit/>
          </a:bodyPr>
          <a:lstStyle/>
          <a:p>
            <a:r>
              <a:rPr lang="en-US" dirty="0"/>
              <a:t>Suppose, instead of a 2-D image, we have a 3-D input image of shape 6 X 6 X 3. How will we apply convolution on this image? We will use a 3 X 3 X 3 filter instead of a 3 X 3 filter. Let’s look at an example:</a:t>
            </a:r>
            <a:endParaRPr lang="tr-TR" dirty="0"/>
          </a:p>
          <a:p>
            <a:endParaRPr lang="en-US" dirty="0"/>
          </a:p>
          <a:p>
            <a:r>
              <a:rPr lang="en-US" b="1" dirty="0"/>
              <a:t>Input:</a:t>
            </a:r>
            <a:r>
              <a:rPr lang="en-US" dirty="0"/>
              <a:t> 6 X 6 X 3</a:t>
            </a:r>
          </a:p>
          <a:p>
            <a:r>
              <a:rPr lang="en-US" b="1" dirty="0"/>
              <a:t>Filter:</a:t>
            </a:r>
            <a:r>
              <a:rPr lang="en-US" dirty="0"/>
              <a:t> 3 X 3 X 3</a:t>
            </a:r>
            <a:endParaRPr lang="tr-TR" dirty="0"/>
          </a:p>
          <a:p>
            <a:endParaRPr lang="en-US" dirty="0"/>
          </a:p>
          <a:p>
            <a:r>
              <a:rPr lang="en-US" dirty="0"/>
              <a:t>The dimensions above represent the height, width and channels in the input and filter. </a:t>
            </a:r>
            <a:endParaRPr lang="tr-TR" dirty="0"/>
          </a:p>
          <a:p>
            <a:r>
              <a:rPr lang="en-US" b="1" i="1" dirty="0">
                <a:solidFill>
                  <a:srgbClr val="FF0000"/>
                </a:solidFill>
              </a:rPr>
              <a:t>Keep in mind that the number of channels in the input and filter should be same.</a:t>
            </a:r>
            <a:r>
              <a:rPr lang="en-US" dirty="0">
                <a:solidFill>
                  <a:srgbClr val="FF0000"/>
                </a:solidFill>
              </a:rPr>
              <a:t> </a:t>
            </a:r>
            <a:endParaRPr lang="tr-TR" dirty="0">
              <a:solidFill>
                <a:srgbClr val="FF0000"/>
              </a:solidFill>
            </a:endParaRPr>
          </a:p>
          <a:p>
            <a:r>
              <a:rPr lang="en-US" dirty="0"/>
              <a:t>This will result in an output of 4 X 4.</a:t>
            </a:r>
            <a:r>
              <a:rPr lang="tr-TR" dirty="0"/>
              <a:t> Let’s understand it visually:</a:t>
            </a:r>
          </a:p>
        </p:txBody>
      </p:sp>
      <p:sp>
        <p:nvSpPr>
          <p:cNvPr id="4" name="Date Placeholder 3"/>
          <p:cNvSpPr>
            <a:spLocks noGrp="1"/>
          </p:cNvSpPr>
          <p:nvPr>
            <p:ph type="dt" sz="half" idx="10"/>
          </p:nvPr>
        </p:nvSpPr>
        <p:spPr/>
        <p:txBody>
          <a:bodyPr/>
          <a:lstStyle/>
          <a:p>
            <a:fld id="{EEC6205E-AC94-4AF3-B902-E8245C85949F}"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31</a:t>
            </a:fld>
            <a:endParaRPr lang="tr-TR"/>
          </a:p>
        </p:txBody>
      </p:sp>
    </p:spTree>
    <p:extLst>
      <p:ext uri="{BB962C8B-B14F-4D97-AF65-F5344CB8AC3E}">
        <p14:creationId xmlns:p14="http://schemas.microsoft.com/office/powerpoint/2010/main" val="34341088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25782" y="787782"/>
            <a:ext cx="9282113" cy="5153890"/>
          </a:xfrm>
        </p:spPr>
        <p:txBody>
          <a:bodyPr/>
          <a:lstStyle/>
          <a:p>
            <a:r>
              <a:rPr lang="en-US" dirty="0"/>
              <a:t>Since there are three channels in the input, the filter will consequently also have three channels. </a:t>
            </a:r>
            <a:endParaRPr lang="tr-TR" dirty="0"/>
          </a:p>
          <a:p>
            <a:r>
              <a:rPr lang="en-US" dirty="0"/>
              <a:t>After convolution, the output shape is a 4 X 4 matrix. So, the first element of the output is the sum of the element-wise product of the first 27 values from the input (9 values from each channel) and the 27 values from the filter. </a:t>
            </a:r>
            <a:endParaRPr lang="tr-TR" dirty="0"/>
          </a:p>
          <a:p>
            <a:r>
              <a:rPr lang="en-US" dirty="0"/>
              <a:t>After that we convolve over the entire image.</a:t>
            </a:r>
            <a:endParaRPr lang="tr-TR" dirty="0"/>
          </a:p>
        </p:txBody>
      </p:sp>
      <p:pic>
        <p:nvPicPr>
          <p:cNvPr id="5" name="Picture 4"/>
          <p:cNvPicPr>
            <a:picLocks noChangeAspect="1"/>
          </p:cNvPicPr>
          <p:nvPr/>
        </p:nvPicPr>
        <p:blipFill>
          <a:blip r:embed="rId2"/>
          <a:stretch>
            <a:fillRect/>
          </a:stretch>
        </p:blipFill>
        <p:spPr>
          <a:xfrm>
            <a:off x="2994925" y="3130475"/>
            <a:ext cx="7743825" cy="2581275"/>
          </a:xfrm>
          <a:prstGeom prst="rect">
            <a:avLst/>
          </a:prstGeom>
        </p:spPr>
      </p:pic>
      <p:sp>
        <p:nvSpPr>
          <p:cNvPr id="2" name="Date Placeholder 1"/>
          <p:cNvSpPr>
            <a:spLocks noGrp="1"/>
          </p:cNvSpPr>
          <p:nvPr>
            <p:ph type="dt" sz="half" idx="10"/>
          </p:nvPr>
        </p:nvSpPr>
        <p:spPr/>
        <p:txBody>
          <a:bodyPr/>
          <a:lstStyle/>
          <a:p>
            <a:fld id="{A8224717-5D47-4CB4-A1FB-BCC8569B5C17}" type="datetime1">
              <a:rPr lang="tr-TR" smtClean="0"/>
              <a:t>16.05.2025</a:t>
            </a:fld>
            <a:endParaRPr lang="tr-TR"/>
          </a:p>
        </p:txBody>
      </p:sp>
      <p:sp>
        <p:nvSpPr>
          <p:cNvPr id="4" name="Slide Number Placeholder 3"/>
          <p:cNvSpPr>
            <a:spLocks noGrp="1"/>
          </p:cNvSpPr>
          <p:nvPr>
            <p:ph type="sldNum" sz="quarter" idx="12"/>
          </p:nvPr>
        </p:nvSpPr>
        <p:spPr/>
        <p:txBody>
          <a:bodyPr/>
          <a:lstStyle/>
          <a:p>
            <a:fld id="{4C61373B-6CD7-433C-9DE2-D4B638969085}" type="slidenum">
              <a:rPr lang="tr-TR" smtClean="0"/>
              <a:t>32</a:t>
            </a:fld>
            <a:endParaRPr lang="tr-TR"/>
          </a:p>
        </p:txBody>
      </p:sp>
    </p:spTree>
    <p:extLst>
      <p:ext uri="{BB962C8B-B14F-4D97-AF65-F5344CB8AC3E}">
        <p14:creationId xmlns:p14="http://schemas.microsoft.com/office/powerpoint/2010/main" val="40293104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63004" y="787782"/>
            <a:ext cx="9344891" cy="5333999"/>
          </a:xfrm>
        </p:spPr>
        <p:txBody>
          <a:bodyPr/>
          <a:lstStyle/>
          <a:p>
            <a:r>
              <a:rPr lang="en-US" dirty="0"/>
              <a:t>Instead of using just a single filter, we can use multiple filters as well. </a:t>
            </a:r>
            <a:endParaRPr lang="tr-TR" dirty="0"/>
          </a:p>
          <a:p>
            <a:r>
              <a:rPr lang="en-US" dirty="0"/>
              <a:t>How do we do that? Let’s say the first filter will detect vertical edges and the second filter will detect horizontal edges from the image. </a:t>
            </a:r>
            <a:endParaRPr lang="tr-TR" dirty="0"/>
          </a:p>
          <a:p>
            <a:r>
              <a:rPr lang="en-US" dirty="0"/>
              <a:t>If we use multiple filters, the output dimension will change. </a:t>
            </a:r>
            <a:endParaRPr lang="tr-TR" dirty="0"/>
          </a:p>
          <a:p>
            <a:r>
              <a:rPr lang="en-US" dirty="0"/>
              <a:t>So, instead of having a 4 X 4 output as in the above example, we would have a 4 X 4 X 2 output (if we have used 2 filters):</a:t>
            </a:r>
            <a:endParaRPr lang="tr-TR" dirty="0"/>
          </a:p>
        </p:txBody>
      </p:sp>
      <p:pic>
        <p:nvPicPr>
          <p:cNvPr id="4" name="Picture 3"/>
          <p:cNvPicPr>
            <a:picLocks noChangeAspect="1"/>
          </p:cNvPicPr>
          <p:nvPr/>
        </p:nvPicPr>
        <p:blipFill>
          <a:blip r:embed="rId2"/>
          <a:stretch>
            <a:fillRect/>
          </a:stretch>
        </p:blipFill>
        <p:spPr>
          <a:xfrm>
            <a:off x="4277986" y="2949847"/>
            <a:ext cx="5114925" cy="2867025"/>
          </a:xfrm>
          <a:prstGeom prst="rect">
            <a:avLst/>
          </a:prstGeom>
        </p:spPr>
      </p:pic>
      <p:sp>
        <p:nvSpPr>
          <p:cNvPr id="2" name="Date Placeholder 1"/>
          <p:cNvSpPr>
            <a:spLocks noGrp="1"/>
          </p:cNvSpPr>
          <p:nvPr>
            <p:ph type="dt" sz="half" idx="10"/>
          </p:nvPr>
        </p:nvSpPr>
        <p:spPr/>
        <p:txBody>
          <a:bodyPr/>
          <a:lstStyle/>
          <a:p>
            <a:fld id="{6B49AA13-67CF-42B1-9B0E-981C35526FCC}"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33</a:t>
            </a:fld>
            <a:endParaRPr lang="tr-TR"/>
          </a:p>
        </p:txBody>
      </p:sp>
    </p:spTree>
    <p:extLst>
      <p:ext uri="{BB962C8B-B14F-4D97-AF65-F5344CB8AC3E}">
        <p14:creationId xmlns:p14="http://schemas.microsoft.com/office/powerpoint/2010/main" val="13373980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830617"/>
          </a:xfrm>
        </p:spPr>
        <p:txBody>
          <a:bodyPr/>
          <a:lstStyle/>
          <a:p>
            <a:r>
              <a:rPr lang="en-US" b="1" dirty="0"/>
              <a:t>General</a:t>
            </a:r>
            <a:r>
              <a:rPr lang="tr-TR" b="1" dirty="0"/>
              <a:t>i</a:t>
            </a:r>
            <a:r>
              <a:rPr lang="en-US" b="1" dirty="0"/>
              <a:t>zed</a:t>
            </a:r>
            <a:r>
              <a:rPr lang="tr-TR" b="1" dirty="0"/>
              <a:t> </a:t>
            </a:r>
            <a:r>
              <a:rPr lang="tr-TR" b="1" dirty="0" err="1"/>
              <a:t>dimensions</a:t>
            </a:r>
            <a:endParaRPr lang="tr-TR" b="1" dirty="0"/>
          </a:p>
        </p:txBody>
      </p:sp>
      <p:sp>
        <p:nvSpPr>
          <p:cNvPr id="3" name="Content Placeholder 2"/>
          <p:cNvSpPr>
            <a:spLocks noGrp="1"/>
          </p:cNvSpPr>
          <p:nvPr>
            <p:ph idx="1"/>
          </p:nvPr>
        </p:nvSpPr>
        <p:spPr>
          <a:xfrm>
            <a:off x="2592925" y="1898073"/>
            <a:ext cx="8915400" cy="3777622"/>
          </a:xfrm>
        </p:spPr>
        <p:txBody>
          <a:bodyPr>
            <a:normAutofit/>
          </a:bodyPr>
          <a:lstStyle/>
          <a:p>
            <a:r>
              <a:rPr lang="en-US" b="1" dirty="0"/>
              <a:t>Input:</a:t>
            </a:r>
            <a:r>
              <a:rPr lang="en-US" dirty="0"/>
              <a:t> n X n X </a:t>
            </a:r>
            <a:r>
              <a:rPr lang="en-US" dirty="0" err="1"/>
              <a:t>n</a:t>
            </a:r>
            <a:r>
              <a:rPr lang="en-US" baseline="-25000" dirty="0" err="1"/>
              <a:t>c</a:t>
            </a:r>
            <a:endParaRPr lang="en-US" dirty="0"/>
          </a:p>
          <a:p>
            <a:r>
              <a:rPr lang="en-US" b="1" dirty="0"/>
              <a:t>Filter:</a:t>
            </a:r>
            <a:r>
              <a:rPr lang="en-US" dirty="0"/>
              <a:t> f X f X </a:t>
            </a:r>
            <a:r>
              <a:rPr lang="en-US" dirty="0" err="1"/>
              <a:t>n</a:t>
            </a:r>
            <a:r>
              <a:rPr lang="en-US" baseline="-25000" dirty="0" err="1"/>
              <a:t>c</a:t>
            </a:r>
            <a:endParaRPr lang="en-US" dirty="0"/>
          </a:p>
          <a:p>
            <a:r>
              <a:rPr lang="en-US" b="1" dirty="0"/>
              <a:t>Padding:</a:t>
            </a:r>
            <a:r>
              <a:rPr lang="en-US" dirty="0"/>
              <a:t> p</a:t>
            </a:r>
          </a:p>
          <a:p>
            <a:r>
              <a:rPr lang="en-US" b="1" dirty="0"/>
              <a:t>Stride:</a:t>
            </a:r>
            <a:r>
              <a:rPr lang="en-US" dirty="0"/>
              <a:t> s</a:t>
            </a:r>
          </a:p>
          <a:p>
            <a:endParaRPr lang="en-US" b="1" dirty="0"/>
          </a:p>
          <a:p>
            <a:pPr marL="0" indent="0" algn="ctr">
              <a:buNone/>
            </a:pPr>
            <a:r>
              <a:rPr lang="en-US" b="1" dirty="0">
                <a:solidFill>
                  <a:srgbClr val="00B0F0"/>
                </a:solidFill>
                <a:effectLst>
                  <a:outerShdw blurRad="38100" dist="38100" dir="2700000" algn="tl">
                    <a:srgbClr val="000000">
                      <a:alpha val="43137"/>
                    </a:srgbClr>
                  </a:outerShdw>
                </a:effectLst>
              </a:rPr>
              <a:t>Output:</a:t>
            </a:r>
            <a:r>
              <a:rPr lang="en-US" dirty="0">
                <a:solidFill>
                  <a:srgbClr val="FF0000"/>
                </a:solidFill>
                <a:effectLst>
                  <a:outerShdw blurRad="38100" dist="38100" dir="2700000" algn="tl">
                    <a:srgbClr val="000000">
                      <a:alpha val="43137"/>
                    </a:srgbClr>
                  </a:outerShdw>
                </a:effectLst>
              </a:rPr>
              <a:t> [(n+2p-f)/s+1] X [(n+2p-f)/s+1] X </a:t>
            </a:r>
            <a:r>
              <a:rPr lang="en-US" dirty="0" err="1">
                <a:solidFill>
                  <a:srgbClr val="FF0000"/>
                </a:solidFill>
                <a:effectLst>
                  <a:outerShdw blurRad="38100" dist="38100" dir="2700000" algn="tl">
                    <a:srgbClr val="000000">
                      <a:alpha val="43137"/>
                    </a:srgbClr>
                  </a:outerShdw>
                </a:effectLst>
              </a:rPr>
              <a:t>n</a:t>
            </a:r>
            <a:r>
              <a:rPr lang="en-US" baseline="-25000" dirty="0" err="1">
                <a:solidFill>
                  <a:srgbClr val="FF0000"/>
                </a:solidFill>
                <a:effectLst>
                  <a:outerShdw blurRad="38100" dist="38100" dir="2700000" algn="tl">
                    <a:srgbClr val="000000">
                      <a:alpha val="43137"/>
                    </a:srgbClr>
                  </a:outerShdw>
                </a:effectLst>
              </a:rPr>
              <a:t>c</a:t>
            </a:r>
            <a:r>
              <a:rPr lang="en-US" dirty="0">
                <a:solidFill>
                  <a:srgbClr val="FF0000"/>
                </a:solidFill>
                <a:effectLst>
                  <a:outerShdw blurRad="38100" dist="38100" dir="2700000" algn="tl">
                    <a:srgbClr val="000000">
                      <a:alpha val="43137"/>
                    </a:srgbClr>
                  </a:outerShdw>
                </a:effectLst>
              </a:rPr>
              <a:t>’</a:t>
            </a:r>
          </a:p>
          <a:p>
            <a:endParaRPr lang="tr-TR" dirty="0"/>
          </a:p>
          <a:p>
            <a:r>
              <a:rPr lang="en-US" dirty="0"/>
              <a:t>Here, </a:t>
            </a:r>
            <a:r>
              <a:rPr lang="en-US" dirty="0" err="1"/>
              <a:t>n</a:t>
            </a:r>
            <a:r>
              <a:rPr lang="en-US" baseline="-25000" dirty="0" err="1"/>
              <a:t>c</a:t>
            </a:r>
            <a:r>
              <a:rPr lang="en-US" dirty="0"/>
              <a:t> is the number of channels in the input and filter, while </a:t>
            </a:r>
            <a:r>
              <a:rPr lang="en-US" dirty="0" err="1"/>
              <a:t>n</a:t>
            </a:r>
            <a:r>
              <a:rPr lang="en-US" baseline="-25000" dirty="0" err="1"/>
              <a:t>c</a:t>
            </a:r>
            <a:r>
              <a:rPr lang="en-US" dirty="0"/>
              <a:t>’ is the number of filters.</a:t>
            </a:r>
          </a:p>
          <a:p>
            <a:endParaRPr lang="tr-TR" dirty="0"/>
          </a:p>
        </p:txBody>
      </p:sp>
      <p:sp>
        <p:nvSpPr>
          <p:cNvPr id="4" name="Date Placeholder 3"/>
          <p:cNvSpPr>
            <a:spLocks noGrp="1"/>
          </p:cNvSpPr>
          <p:nvPr>
            <p:ph type="dt" sz="half" idx="10"/>
          </p:nvPr>
        </p:nvSpPr>
        <p:spPr/>
        <p:txBody>
          <a:bodyPr/>
          <a:lstStyle/>
          <a:p>
            <a:fld id="{EF870672-1043-4ABE-96B1-50910BB23435}"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34</a:t>
            </a:fld>
            <a:endParaRPr lang="tr-TR"/>
          </a:p>
        </p:txBody>
      </p:sp>
    </p:spTree>
    <p:extLst>
      <p:ext uri="{BB962C8B-B14F-4D97-AF65-F5344CB8AC3E}">
        <p14:creationId xmlns:p14="http://schemas.microsoft.com/office/powerpoint/2010/main" val="7527865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One Layer of a Convolutional Network</a:t>
            </a:r>
            <a:br>
              <a:rPr lang="en-US" b="1" dirty="0"/>
            </a:br>
            <a:endParaRPr lang="tr-TR" dirty="0"/>
          </a:p>
        </p:txBody>
      </p:sp>
      <p:sp>
        <p:nvSpPr>
          <p:cNvPr id="3" name="Content Placeholder 2"/>
          <p:cNvSpPr>
            <a:spLocks noGrp="1"/>
          </p:cNvSpPr>
          <p:nvPr>
            <p:ph idx="1"/>
          </p:nvPr>
        </p:nvSpPr>
        <p:spPr/>
        <p:txBody>
          <a:bodyPr>
            <a:normAutofit/>
          </a:bodyPr>
          <a:lstStyle/>
          <a:p>
            <a:r>
              <a:rPr lang="en-US" dirty="0"/>
              <a:t>Once we get an output after convolving over the entire image using a filter, we add a bias term to those outputs and finally apply an activation function to generate activations. </a:t>
            </a:r>
            <a:endParaRPr lang="tr-TR" dirty="0"/>
          </a:p>
          <a:p>
            <a:r>
              <a:rPr lang="en-US" i="1" dirty="0"/>
              <a:t>This is one layer of a convolutional network</a:t>
            </a:r>
            <a:r>
              <a:rPr lang="en-US" dirty="0"/>
              <a:t>. </a:t>
            </a:r>
            <a:endParaRPr lang="tr-TR" dirty="0"/>
          </a:p>
          <a:p>
            <a:r>
              <a:rPr lang="en-US" dirty="0"/>
              <a:t>Recall that the equation for one forward pass is given by:</a:t>
            </a:r>
          </a:p>
          <a:p>
            <a:endParaRPr lang="tr-TR" dirty="0"/>
          </a:p>
          <a:p>
            <a:r>
              <a:rPr lang="en-US" b="1" dirty="0">
                <a:solidFill>
                  <a:srgbClr val="00B0F0"/>
                </a:solidFill>
              </a:rPr>
              <a:t>z</a:t>
            </a:r>
            <a:r>
              <a:rPr lang="en-US" b="1" baseline="30000" dirty="0">
                <a:solidFill>
                  <a:srgbClr val="00B0F0"/>
                </a:solidFill>
              </a:rPr>
              <a:t>[1]</a:t>
            </a:r>
            <a:r>
              <a:rPr lang="en-US" b="1" dirty="0">
                <a:solidFill>
                  <a:srgbClr val="00B0F0"/>
                </a:solidFill>
              </a:rPr>
              <a:t> = w</a:t>
            </a:r>
            <a:r>
              <a:rPr lang="en-US" b="1" baseline="30000" dirty="0">
                <a:solidFill>
                  <a:srgbClr val="00B0F0"/>
                </a:solidFill>
              </a:rPr>
              <a:t>[1]</a:t>
            </a:r>
            <a:r>
              <a:rPr lang="en-US" b="1" dirty="0">
                <a:solidFill>
                  <a:srgbClr val="00B0F0"/>
                </a:solidFill>
              </a:rPr>
              <a:t>*a</a:t>
            </a:r>
            <a:r>
              <a:rPr lang="en-US" b="1" baseline="30000" dirty="0">
                <a:solidFill>
                  <a:srgbClr val="00B0F0"/>
                </a:solidFill>
              </a:rPr>
              <a:t>[0]</a:t>
            </a:r>
            <a:r>
              <a:rPr lang="en-US" b="1" dirty="0">
                <a:solidFill>
                  <a:srgbClr val="00B0F0"/>
                </a:solidFill>
              </a:rPr>
              <a:t> + b</a:t>
            </a:r>
            <a:r>
              <a:rPr lang="en-US" b="1" baseline="30000" dirty="0">
                <a:solidFill>
                  <a:srgbClr val="00B0F0"/>
                </a:solidFill>
              </a:rPr>
              <a:t>[1]</a:t>
            </a:r>
            <a:br>
              <a:rPr lang="en-US" b="1" dirty="0">
                <a:solidFill>
                  <a:srgbClr val="00B0F0"/>
                </a:solidFill>
              </a:rPr>
            </a:br>
            <a:r>
              <a:rPr lang="en-US" b="1" dirty="0">
                <a:solidFill>
                  <a:srgbClr val="00B0F0"/>
                </a:solidFill>
              </a:rPr>
              <a:t>a</a:t>
            </a:r>
            <a:r>
              <a:rPr lang="en-US" b="1" baseline="30000" dirty="0">
                <a:solidFill>
                  <a:srgbClr val="00B0F0"/>
                </a:solidFill>
              </a:rPr>
              <a:t>[1]</a:t>
            </a:r>
            <a:r>
              <a:rPr lang="en-US" b="1" dirty="0">
                <a:solidFill>
                  <a:srgbClr val="00B0F0"/>
                </a:solidFill>
              </a:rPr>
              <a:t> = g(z</a:t>
            </a:r>
            <a:r>
              <a:rPr lang="en-US" b="1" baseline="30000" dirty="0">
                <a:solidFill>
                  <a:srgbClr val="00B0F0"/>
                </a:solidFill>
              </a:rPr>
              <a:t>[1]</a:t>
            </a:r>
            <a:r>
              <a:rPr lang="en-US" b="1" dirty="0">
                <a:solidFill>
                  <a:srgbClr val="00B0F0"/>
                </a:solidFill>
              </a:rPr>
              <a:t>)</a:t>
            </a:r>
          </a:p>
          <a:p>
            <a:endParaRPr lang="tr-TR" dirty="0"/>
          </a:p>
        </p:txBody>
      </p:sp>
      <p:sp>
        <p:nvSpPr>
          <p:cNvPr id="4" name="Date Placeholder 3"/>
          <p:cNvSpPr>
            <a:spLocks noGrp="1"/>
          </p:cNvSpPr>
          <p:nvPr>
            <p:ph type="dt" sz="half" idx="10"/>
          </p:nvPr>
        </p:nvSpPr>
        <p:spPr/>
        <p:txBody>
          <a:bodyPr/>
          <a:lstStyle/>
          <a:p>
            <a:fld id="{D6EE45BB-A790-4268-8100-09DC47D37FAF}"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35</a:t>
            </a:fld>
            <a:endParaRPr lang="tr-TR"/>
          </a:p>
        </p:txBody>
      </p:sp>
    </p:spTree>
    <p:extLst>
      <p:ext uri="{BB962C8B-B14F-4D97-AF65-F5344CB8AC3E}">
        <p14:creationId xmlns:p14="http://schemas.microsoft.com/office/powerpoint/2010/main" val="29727408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30582" y="787782"/>
            <a:ext cx="9275618" cy="5430903"/>
          </a:xfrm>
        </p:spPr>
        <p:txBody>
          <a:bodyPr>
            <a:normAutofit/>
          </a:bodyPr>
          <a:lstStyle/>
          <a:p>
            <a:r>
              <a:rPr lang="en-US" dirty="0"/>
              <a:t>In our case, input (6 X 6 X 3) is a</a:t>
            </a:r>
            <a:r>
              <a:rPr lang="en-US" baseline="30000" dirty="0"/>
              <a:t>[0]</a:t>
            </a:r>
            <a:r>
              <a:rPr lang="en-US" dirty="0"/>
              <a:t>and filters (3 X 3 X 3) are the weights w</a:t>
            </a:r>
            <a:r>
              <a:rPr lang="en-US" baseline="30000" dirty="0"/>
              <a:t>[1]</a:t>
            </a:r>
            <a:r>
              <a:rPr lang="en-US" dirty="0"/>
              <a:t>. </a:t>
            </a:r>
            <a:endParaRPr lang="tr-TR" dirty="0"/>
          </a:p>
          <a:p>
            <a:r>
              <a:rPr lang="en-US" dirty="0"/>
              <a:t>These activations from layer 1 act as the input for layer 2, and so on. </a:t>
            </a:r>
            <a:endParaRPr lang="tr-TR" dirty="0"/>
          </a:p>
          <a:p>
            <a:r>
              <a:rPr lang="en-US" dirty="0"/>
              <a:t>Clearly, the number of parameters in case of convolutional neural networks is independent of the size of the image. </a:t>
            </a:r>
            <a:endParaRPr lang="tr-TR" dirty="0"/>
          </a:p>
          <a:p>
            <a:r>
              <a:rPr lang="en-US" dirty="0"/>
              <a:t>It essentially depends on the filter size. </a:t>
            </a:r>
            <a:endParaRPr lang="tr-TR" dirty="0"/>
          </a:p>
          <a:p>
            <a:r>
              <a:rPr lang="en-US" dirty="0"/>
              <a:t>Suppose we have 10 filters, each of shape 3 X 3 X 3. What will be the number of parameters in that layer? Let’s try to solve this:</a:t>
            </a:r>
            <a:endParaRPr lang="tr-TR" dirty="0"/>
          </a:p>
          <a:p>
            <a:endParaRPr lang="en-US" dirty="0"/>
          </a:p>
          <a:p>
            <a:r>
              <a:rPr lang="en-US" dirty="0">
                <a:solidFill>
                  <a:srgbClr val="FF0000"/>
                </a:solidFill>
              </a:rPr>
              <a:t>Number of parameters for each filter = 3*3*3 = 27</a:t>
            </a:r>
            <a:endParaRPr lang="tr-TR" dirty="0">
              <a:solidFill>
                <a:srgbClr val="FF0000"/>
              </a:solidFill>
            </a:endParaRPr>
          </a:p>
          <a:p>
            <a:endParaRPr lang="en-US" dirty="0"/>
          </a:p>
          <a:p>
            <a:r>
              <a:rPr lang="en-US" dirty="0"/>
              <a:t>There will be a bias term for each filter, so total parameters per filter = </a:t>
            </a:r>
            <a:r>
              <a:rPr lang="en-US" dirty="0">
                <a:solidFill>
                  <a:srgbClr val="FF0000"/>
                </a:solidFill>
              </a:rPr>
              <a:t>28</a:t>
            </a:r>
          </a:p>
          <a:p>
            <a:r>
              <a:rPr lang="en-US" dirty="0"/>
              <a:t>As there are 10 filters, the total parameters for that layer = </a:t>
            </a:r>
            <a:r>
              <a:rPr lang="en-US" dirty="0">
                <a:solidFill>
                  <a:srgbClr val="FF0000"/>
                </a:solidFill>
              </a:rPr>
              <a:t>28*10 = 280</a:t>
            </a:r>
          </a:p>
          <a:p>
            <a:endParaRPr lang="tr-TR" dirty="0"/>
          </a:p>
        </p:txBody>
      </p:sp>
      <p:sp>
        <p:nvSpPr>
          <p:cNvPr id="2" name="Date Placeholder 1"/>
          <p:cNvSpPr>
            <a:spLocks noGrp="1"/>
          </p:cNvSpPr>
          <p:nvPr>
            <p:ph type="dt" sz="half" idx="10"/>
          </p:nvPr>
        </p:nvSpPr>
        <p:spPr/>
        <p:txBody>
          <a:bodyPr/>
          <a:lstStyle/>
          <a:p>
            <a:fld id="{196EE6E3-24BC-443A-81D6-D591556965C3}" type="datetime1">
              <a:rPr lang="tr-TR" smtClean="0"/>
              <a:t>16.05.2025</a:t>
            </a:fld>
            <a:endParaRPr lang="tr-TR"/>
          </a:p>
        </p:txBody>
      </p:sp>
      <p:sp>
        <p:nvSpPr>
          <p:cNvPr id="4" name="Slide Number Placeholder 3"/>
          <p:cNvSpPr>
            <a:spLocks noGrp="1"/>
          </p:cNvSpPr>
          <p:nvPr>
            <p:ph type="sldNum" sz="quarter" idx="12"/>
          </p:nvPr>
        </p:nvSpPr>
        <p:spPr/>
        <p:txBody>
          <a:bodyPr/>
          <a:lstStyle/>
          <a:p>
            <a:fld id="{4C61373B-6CD7-433C-9DE2-D4B638969085}" type="slidenum">
              <a:rPr lang="tr-TR" smtClean="0"/>
              <a:t>36</a:t>
            </a:fld>
            <a:endParaRPr lang="tr-TR"/>
          </a:p>
        </p:txBody>
      </p:sp>
    </p:spTree>
    <p:extLst>
      <p:ext uri="{BB962C8B-B14F-4D97-AF65-F5344CB8AC3E}">
        <p14:creationId xmlns:p14="http://schemas.microsoft.com/office/powerpoint/2010/main" val="37907720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4568" y="787782"/>
            <a:ext cx="9303327" cy="4805521"/>
          </a:xfrm>
        </p:spPr>
        <p:txBody>
          <a:bodyPr>
            <a:normAutofit/>
          </a:bodyPr>
          <a:lstStyle/>
          <a:p>
            <a:r>
              <a:rPr lang="en-US" dirty="0"/>
              <a:t>No matter how big the image is, the parameters only depend on the filter size. </a:t>
            </a:r>
            <a:endParaRPr lang="tr-TR" dirty="0"/>
          </a:p>
          <a:p>
            <a:r>
              <a:rPr lang="en-US" dirty="0"/>
              <a:t>Awesome, isn’t it? </a:t>
            </a:r>
            <a:endParaRPr lang="tr-TR" dirty="0"/>
          </a:p>
          <a:p>
            <a:r>
              <a:rPr lang="en-US" dirty="0"/>
              <a:t>Let’s have a look at the summary of notations for a convolution layer:</a:t>
            </a:r>
            <a:endParaRPr lang="tr-TR" dirty="0"/>
          </a:p>
          <a:p>
            <a:endParaRPr lang="en-US" dirty="0"/>
          </a:p>
          <a:p>
            <a:r>
              <a:rPr lang="en-US" dirty="0"/>
              <a:t>f</a:t>
            </a:r>
            <a:r>
              <a:rPr lang="en-US" baseline="30000" dirty="0"/>
              <a:t>[l]</a:t>
            </a:r>
            <a:r>
              <a:rPr lang="en-US" dirty="0"/>
              <a:t> = filter size</a:t>
            </a:r>
          </a:p>
          <a:p>
            <a:r>
              <a:rPr lang="en-US" dirty="0"/>
              <a:t>p</a:t>
            </a:r>
            <a:r>
              <a:rPr lang="en-US" baseline="30000" dirty="0"/>
              <a:t>[l]</a:t>
            </a:r>
            <a:r>
              <a:rPr lang="en-US" dirty="0"/>
              <a:t> = padding</a:t>
            </a:r>
          </a:p>
          <a:p>
            <a:r>
              <a:rPr lang="en-US" dirty="0"/>
              <a:t>s</a:t>
            </a:r>
            <a:r>
              <a:rPr lang="en-US" baseline="30000" dirty="0"/>
              <a:t>[l]</a:t>
            </a:r>
            <a:r>
              <a:rPr lang="en-US" dirty="0"/>
              <a:t> = stride</a:t>
            </a:r>
          </a:p>
          <a:p>
            <a:r>
              <a:rPr lang="en-US" dirty="0"/>
              <a:t>n</a:t>
            </a:r>
            <a:r>
              <a:rPr lang="en-US" baseline="-25000" dirty="0"/>
              <a:t>[c]</a:t>
            </a:r>
            <a:r>
              <a:rPr lang="en-US" baseline="30000" dirty="0"/>
              <a:t>[l]</a:t>
            </a:r>
            <a:r>
              <a:rPr lang="en-US" dirty="0"/>
              <a:t> = number of filters</a:t>
            </a:r>
          </a:p>
          <a:p>
            <a:endParaRPr lang="tr-TR" dirty="0"/>
          </a:p>
          <a:p>
            <a:r>
              <a:rPr lang="en-US" dirty="0"/>
              <a:t>Let’s combine all the concepts we have learned so far and look at a convolutional network example.</a:t>
            </a:r>
          </a:p>
          <a:p>
            <a:endParaRPr lang="tr-TR" dirty="0"/>
          </a:p>
        </p:txBody>
      </p:sp>
      <p:sp>
        <p:nvSpPr>
          <p:cNvPr id="2" name="Date Placeholder 1"/>
          <p:cNvSpPr>
            <a:spLocks noGrp="1"/>
          </p:cNvSpPr>
          <p:nvPr>
            <p:ph type="dt" sz="half" idx="10"/>
          </p:nvPr>
        </p:nvSpPr>
        <p:spPr/>
        <p:txBody>
          <a:bodyPr/>
          <a:lstStyle/>
          <a:p>
            <a:fld id="{235BA2A3-D994-4D3D-BF25-4A617AAE5B01}" type="datetime1">
              <a:rPr lang="tr-TR" smtClean="0"/>
              <a:t>16.05.2025</a:t>
            </a:fld>
            <a:endParaRPr lang="tr-TR"/>
          </a:p>
        </p:txBody>
      </p:sp>
      <p:sp>
        <p:nvSpPr>
          <p:cNvPr id="4" name="Slide Number Placeholder 3"/>
          <p:cNvSpPr>
            <a:spLocks noGrp="1"/>
          </p:cNvSpPr>
          <p:nvPr>
            <p:ph type="sldNum" sz="quarter" idx="12"/>
          </p:nvPr>
        </p:nvSpPr>
        <p:spPr/>
        <p:txBody>
          <a:bodyPr/>
          <a:lstStyle/>
          <a:p>
            <a:fld id="{4C61373B-6CD7-433C-9DE2-D4B638969085}" type="slidenum">
              <a:rPr lang="tr-TR" smtClean="0"/>
              <a:t>37</a:t>
            </a:fld>
            <a:endParaRPr lang="tr-TR"/>
          </a:p>
        </p:txBody>
      </p:sp>
    </p:spTree>
    <p:extLst>
      <p:ext uri="{BB962C8B-B14F-4D97-AF65-F5344CB8AC3E}">
        <p14:creationId xmlns:p14="http://schemas.microsoft.com/office/powerpoint/2010/main" val="25880053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858326"/>
          </a:xfrm>
        </p:spPr>
        <p:txBody>
          <a:bodyPr>
            <a:normAutofit fontScale="90000"/>
          </a:bodyPr>
          <a:lstStyle/>
          <a:p>
            <a:r>
              <a:rPr lang="en-US" b="1" dirty="0"/>
              <a:t>Simple Convolutional Network Example</a:t>
            </a:r>
            <a:br>
              <a:rPr lang="tr-TR" b="1" dirty="0"/>
            </a:br>
            <a:endParaRPr lang="tr-TR" dirty="0"/>
          </a:p>
        </p:txBody>
      </p:sp>
      <p:sp>
        <p:nvSpPr>
          <p:cNvPr id="3" name="Content Placeholder 2"/>
          <p:cNvSpPr>
            <a:spLocks noGrp="1"/>
          </p:cNvSpPr>
          <p:nvPr>
            <p:ph idx="1"/>
          </p:nvPr>
        </p:nvSpPr>
        <p:spPr>
          <a:xfrm>
            <a:off x="2589212" y="1482436"/>
            <a:ext cx="8915400" cy="4428786"/>
          </a:xfrm>
        </p:spPr>
        <p:txBody>
          <a:bodyPr/>
          <a:lstStyle/>
          <a:p>
            <a:r>
              <a:rPr lang="en-US" dirty="0"/>
              <a:t>This is how a typical convolutional network looks like:</a:t>
            </a:r>
            <a:endParaRPr lang="tr-TR" dirty="0"/>
          </a:p>
        </p:txBody>
      </p:sp>
      <p:pic>
        <p:nvPicPr>
          <p:cNvPr id="4" name="Picture 3"/>
          <p:cNvPicPr>
            <a:picLocks noChangeAspect="1"/>
          </p:cNvPicPr>
          <p:nvPr/>
        </p:nvPicPr>
        <p:blipFill>
          <a:blip r:embed="rId2"/>
          <a:stretch>
            <a:fillRect/>
          </a:stretch>
        </p:blipFill>
        <p:spPr>
          <a:xfrm>
            <a:off x="1879148" y="2800874"/>
            <a:ext cx="9625464" cy="3338948"/>
          </a:xfrm>
          <a:prstGeom prst="rect">
            <a:avLst/>
          </a:prstGeom>
        </p:spPr>
      </p:pic>
      <p:sp>
        <p:nvSpPr>
          <p:cNvPr id="5" name="Date Placeholder 4"/>
          <p:cNvSpPr>
            <a:spLocks noGrp="1"/>
          </p:cNvSpPr>
          <p:nvPr>
            <p:ph type="dt" sz="half" idx="10"/>
          </p:nvPr>
        </p:nvSpPr>
        <p:spPr/>
        <p:txBody>
          <a:bodyPr/>
          <a:lstStyle/>
          <a:p>
            <a:fld id="{02D94B0C-A69B-41CD-A894-79A90D30B657}" type="datetime1">
              <a:rPr lang="tr-TR" smtClean="0"/>
              <a:t>16.05.2025</a:t>
            </a:fld>
            <a:endParaRPr lang="tr-TR"/>
          </a:p>
        </p:txBody>
      </p:sp>
      <p:sp>
        <p:nvSpPr>
          <p:cNvPr id="6" name="Slide Number Placeholder 5"/>
          <p:cNvSpPr>
            <a:spLocks noGrp="1"/>
          </p:cNvSpPr>
          <p:nvPr>
            <p:ph type="sldNum" sz="quarter" idx="12"/>
          </p:nvPr>
        </p:nvSpPr>
        <p:spPr/>
        <p:txBody>
          <a:bodyPr/>
          <a:lstStyle/>
          <a:p>
            <a:fld id="{4C61373B-6CD7-433C-9DE2-D4B638969085}" type="slidenum">
              <a:rPr lang="tr-TR" smtClean="0"/>
              <a:t>38</a:t>
            </a:fld>
            <a:endParaRPr lang="tr-TR"/>
          </a:p>
        </p:txBody>
      </p:sp>
    </p:spTree>
    <p:extLst>
      <p:ext uri="{BB962C8B-B14F-4D97-AF65-F5344CB8AC3E}">
        <p14:creationId xmlns:p14="http://schemas.microsoft.com/office/powerpoint/2010/main" val="27832882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27758" y="1152907"/>
            <a:ext cx="8915400" cy="4596730"/>
          </a:xfrm>
        </p:spPr>
        <p:txBody>
          <a:bodyPr>
            <a:normAutofit/>
          </a:bodyPr>
          <a:lstStyle/>
          <a:p>
            <a:r>
              <a:rPr lang="en-US" sz="2200" dirty="0"/>
              <a:t>We take an input image (size = 39 X 39 X 3 in our case), convolve it with 10 filters of size 3 X 3, and take the stride as 1 and no padding. </a:t>
            </a:r>
            <a:endParaRPr lang="tr-TR" sz="2200" dirty="0"/>
          </a:p>
          <a:p>
            <a:r>
              <a:rPr lang="en-US" sz="2200" dirty="0"/>
              <a:t>This will give us an output of 37 X 37 X 10. </a:t>
            </a:r>
            <a:endParaRPr lang="tr-TR" sz="2200" dirty="0"/>
          </a:p>
          <a:p>
            <a:r>
              <a:rPr lang="en-US" sz="2200" dirty="0"/>
              <a:t>We convolve this output further and get an output of 7 X 7 X 40 as shown above. </a:t>
            </a:r>
            <a:endParaRPr lang="tr-TR" sz="2200" dirty="0"/>
          </a:p>
          <a:p>
            <a:r>
              <a:rPr lang="en-US" sz="2200" dirty="0"/>
              <a:t>Finally, we take all these numbers (7 X 7 X 40 = 1960), unroll them into a large vector, and pass them to a classifier that will make predictions. </a:t>
            </a:r>
            <a:endParaRPr lang="tr-TR" sz="2200" dirty="0"/>
          </a:p>
          <a:p>
            <a:r>
              <a:rPr lang="en-US" sz="2200" dirty="0"/>
              <a:t>This is a microcosm of how a convolutional network works.</a:t>
            </a:r>
          </a:p>
        </p:txBody>
      </p:sp>
      <p:sp>
        <p:nvSpPr>
          <p:cNvPr id="2" name="Date Placeholder 1"/>
          <p:cNvSpPr>
            <a:spLocks noGrp="1"/>
          </p:cNvSpPr>
          <p:nvPr>
            <p:ph type="dt" sz="half" idx="10"/>
          </p:nvPr>
        </p:nvSpPr>
        <p:spPr/>
        <p:txBody>
          <a:bodyPr/>
          <a:lstStyle/>
          <a:p>
            <a:fld id="{3E732629-06F7-407A-925A-E7D80E54E012}" type="datetime1">
              <a:rPr lang="tr-TR" smtClean="0"/>
              <a:t>16.05.2025</a:t>
            </a:fld>
            <a:endParaRPr lang="tr-TR"/>
          </a:p>
        </p:txBody>
      </p:sp>
      <p:sp>
        <p:nvSpPr>
          <p:cNvPr id="4" name="Slide Number Placeholder 3"/>
          <p:cNvSpPr>
            <a:spLocks noGrp="1"/>
          </p:cNvSpPr>
          <p:nvPr>
            <p:ph type="sldNum" sz="quarter" idx="12"/>
          </p:nvPr>
        </p:nvSpPr>
        <p:spPr/>
        <p:txBody>
          <a:bodyPr/>
          <a:lstStyle/>
          <a:p>
            <a:fld id="{4C61373B-6CD7-433C-9DE2-D4B638969085}" type="slidenum">
              <a:rPr lang="tr-TR" smtClean="0"/>
              <a:t>39</a:t>
            </a:fld>
            <a:endParaRPr lang="tr-TR"/>
          </a:p>
        </p:txBody>
      </p:sp>
    </p:spTree>
    <p:extLst>
      <p:ext uri="{BB962C8B-B14F-4D97-AF65-F5344CB8AC3E}">
        <p14:creationId xmlns:p14="http://schemas.microsoft.com/office/powerpoint/2010/main" val="27171717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927600"/>
          </a:xfrm>
        </p:spPr>
        <p:txBody>
          <a:bodyPr/>
          <a:lstStyle/>
          <a:p>
            <a:r>
              <a:rPr lang="tr-TR" b="1" dirty="0"/>
              <a:t>Hyperparameters of CNN</a:t>
            </a:r>
            <a:endParaRPr lang="en-US" b="1" dirty="0"/>
          </a:p>
        </p:txBody>
      </p:sp>
      <p:sp>
        <p:nvSpPr>
          <p:cNvPr id="3" name="Content Placeholder 2"/>
          <p:cNvSpPr>
            <a:spLocks noGrp="1"/>
          </p:cNvSpPr>
          <p:nvPr>
            <p:ph idx="1"/>
          </p:nvPr>
        </p:nvSpPr>
        <p:spPr>
          <a:xfrm>
            <a:off x="2589212" y="1551710"/>
            <a:ext cx="8915400" cy="4779818"/>
          </a:xfrm>
        </p:spPr>
        <p:txBody>
          <a:bodyPr>
            <a:normAutofit/>
          </a:bodyPr>
          <a:lstStyle/>
          <a:p>
            <a:r>
              <a:rPr lang="en-US" dirty="0"/>
              <a:t>There are a number of </a:t>
            </a:r>
            <a:r>
              <a:rPr lang="en-US" dirty="0" err="1"/>
              <a:t>hyperparameters</a:t>
            </a:r>
            <a:r>
              <a:rPr lang="en-US" dirty="0"/>
              <a:t> that we can tweak while building a convolutional network. </a:t>
            </a:r>
            <a:endParaRPr lang="tr-TR" dirty="0"/>
          </a:p>
          <a:p>
            <a:r>
              <a:rPr lang="en-US" dirty="0"/>
              <a:t>These include the number of filters, size of filters, stride to be used, padding, etc. </a:t>
            </a:r>
            <a:endParaRPr lang="tr-TR" dirty="0"/>
          </a:p>
          <a:p>
            <a:r>
              <a:rPr lang="en-US" dirty="0"/>
              <a:t>We will look at each of these in detail later. Just keep in mind that as we go deeper into the network, the size of the image shrinks whereas the number of channels usually increases.</a:t>
            </a:r>
          </a:p>
          <a:p>
            <a:r>
              <a:rPr lang="en-US" dirty="0"/>
              <a:t>In a convolutional network (</a:t>
            </a:r>
            <a:r>
              <a:rPr lang="en-US" dirty="0" err="1"/>
              <a:t>ConvNet</a:t>
            </a:r>
            <a:r>
              <a:rPr lang="en-US" dirty="0"/>
              <a:t>), there are basically three types of layers:</a:t>
            </a:r>
          </a:p>
          <a:p>
            <a:pPr>
              <a:buFont typeface="+mj-lt"/>
              <a:buAutoNum type="arabicPeriod"/>
            </a:pPr>
            <a:r>
              <a:rPr lang="en-US" dirty="0">
                <a:solidFill>
                  <a:srgbClr val="FF0000"/>
                </a:solidFill>
              </a:rPr>
              <a:t>Convolution layer</a:t>
            </a:r>
          </a:p>
          <a:p>
            <a:pPr>
              <a:buFont typeface="+mj-lt"/>
              <a:buAutoNum type="arabicPeriod"/>
            </a:pPr>
            <a:r>
              <a:rPr lang="en-US" dirty="0">
                <a:solidFill>
                  <a:srgbClr val="FF0000"/>
                </a:solidFill>
              </a:rPr>
              <a:t>Pooling layer</a:t>
            </a:r>
          </a:p>
          <a:p>
            <a:pPr>
              <a:buFont typeface="+mj-lt"/>
              <a:buAutoNum type="arabicPeriod"/>
            </a:pPr>
            <a:r>
              <a:rPr lang="en-US" dirty="0">
                <a:solidFill>
                  <a:srgbClr val="FF0000"/>
                </a:solidFill>
              </a:rPr>
              <a:t>Fully connected layer</a:t>
            </a:r>
          </a:p>
          <a:p>
            <a:r>
              <a:rPr lang="en-US" dirty="0"/>
              <a:t>Let’s understand the pooling layer in the next section.</a:t>
            </a:r>
          </a:p>
          <a:p>
            <a:endParaRPr lang="en-US" b="1" dirty="0"/>
          </a:p>
        </p:txBody>
      </p:sp>
      <p:sp>
        <p:nvSpPr>
          <p:cNvPr id="4" name="Date Placeholder 3"/>
          <p:cNvSpPr>
            <a:spLocks noGrp="1"/>
          </p:cNvSpPr>
          <p:nvPr>
            <p:ph type="dt" sz="half" idx="10"/>
          </p:nvPr>
        </p:nvSpPr>
        <p:spPr/>
        <p:txBody>
          <a:bodyPr/>
          <a:lstStyle/>
          <a:p>
            <a:fld id="{F76F301A-368E-4D20-B890-E0EE6240A0EC}"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40</a:t>
            </a:fld>
            <a:endParaRPr lang="tr-TR"/>
          </a:p>
        </p:txBody>
      </p:sp>
    </p:spTree>
    <p:extLst>
      <p:ext uri="{BB962C8B-B14F-4D97-AF65-F5344CB8AC3E}">
        <p14:creationId xmlns:p14="http://schemas.microsoft.com/office/powerpoint/2010/main" val="7378853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b="1" dirty="0"/>
              <a:t>Pooling Layers</a:t>
            </a:r>
            <a:endParaRPr lang="en-US" dirty="0"/>
          </a:p>
        </p:txBody>
      </p:sp>
      <p:sp>
        <p:nvSpPr>
          <p:cNvPr id="3" name="Content Placeholder 2"/>
          <p:cNvSpPr>
            <a:spLocks noGrp="1"/>
          </p:cNvSpPr>
          <p:nvPr>
            <p:ph idx="1"/>
          </p:nvPr>
        </p:nvSpPr>
        <p:spPr>
          <a:xfrm>
            <a:off x="2589212" y="1468582"/>
            <a:ext cx="8915400" cy="4973782"/>
          </a:xfrm>
        </p:spPr>
        <p:txBody>
          <a:bodyPr/>
          <a:lstStyle/>
          <a:p>
            <a:r>
              <a:rPr lang="en-US" b="1" dirty="0"/>
              <a:t>Pooling layers are generally used to reduce the size of the inputs and hence speed up the computation. Consider a 4 X 4 matrix as shown below:</a:t>
            </a:r>
            <a:endParaRPr lang="tr-TR" b="1" dirty="0"/>
          </a:p>
          <a:p>
            <a:endParaRPr lang="tr-TR" dirty="0"/>
          </a:p>
          <a:p>
            <a:endParaRPr lang="tr-TR" dirty="0"/>
          </a:p>
          <a:p>
            <a:endParaRPr lang="tr-TR" dirty="0"/>
          </a:p>
          <a:p>
            <a:endParaRPr lang="tr-TR" dirty="0"/>
          </a:p>
          <a:p>
            <a:r>
              <a:rPr lang="en-US" b="1" dirty="0"/>
              <a:t>Applying max pooling on this matrix will result in a 2 X 2 output:</a:t>
            </a:r>
          </a:p>
        </p:txBody>
      </p:sp>
      <p:pic>
        <p:nvPicPr>
          <p:cNvPr id="4" name="Picture 3"/>
          <p:cNvPicPr>
            <a:picLocks noChangeAspect="1"/>
          </p:cNvPicPr>
          <p:nvPr/>
        </p:nvPicPr>
        <p:blipFill>
          <a:blip r:embed="rId2"/>
          <a:stretch>
            <a:fillRect/>
          </a:stretch>
        </p:blipFill>
        <p:spPr>
          <a:xfrm>
            <a:off x="5375563" y="2343355"/>
            <a:ext cx="1773384" cy="1220218"/>
          </a:xfrm>
          <a:prstGeom prst="rect">
            <a:avLst/>
          </a:prstGeom>
        </p:spPr>
      </p:pic>
      <p:pic>
        <p:nvPicPr>
          <p:cNvPr id="5" name="Picture 4"/>
          <p:cNvPicPr>
            <a:picLocks noChangeAspect="1"/>
          </p:cNvPicPr>
          <p:nvPr/>
        </p:nvPicPr>
        <p:blipFill>
          <a:blip r:embed="rId3"/>
          <a:stretch>
            <a:fillRect/>
          </a:stretch>
        </p:blipFill>
        <p:spPr>
          <a:xfrm>
            <a:off x="4379752" y="4408045"/>
            <a:ext cx="4430024" cy="1520268"/>
          </a:xfrm>
          <a:prstGeom prst="rect">
            <a:avLst/>
          </a:prstGeom>
        </p:spPr>
      </p:pic>
      <p:sp>
        <p:nvSpPr>
          <p:cNvPr id="6" name="Date Placeholder 5"/>
          <p:cNvSpPr>
            <a:spLocks noGrp="1"/>
          </p:cNvSpPr>
          <p:nvPr>
            <p:ph type="dt" sz="half" idx="10"/>
          </p:nvPr>
        </p:nvSpPr>
        <p:spPr/>
        <p:txBody>
          <a:bodyPr/>
          <a:lstStyle/>
          <a:p>
            <a:fld id="{D8BC6AC9-D037-4260-A3D4-F17A3633ED84}" type="datetime1">
              <a:rPr lang="tr-TR" smtClean="0"/>
              <a:t>16.05.2025</a:t>
            </a:fld>
            <a:endParaRPr lang="tr-TR"/>
          </a:p>
        </p:txBody>
      </p:sp>
      <p:sp>
        <p:nvSpPr>
          <p:cNvPr id="7" name="Slide Number Placeholder 6"/>
          <p:cNvSpPr>
            <a:spLocks noGrp="1"/>
          </p:cNvSpPr>
          <p:nvPr>
            <p:ph type="sldNum" sz="quarter" idx="12"/>
          </p:nvPr>
        </p:nvSpPr>
        <p:spPr/>
        <p:txBody>
          <a:bodyPr/>
          <a:lstStyle/>
          <a:p>
            <a:fld id="{4C61373B-6CD7-433C-9DE2-D4B638969085}" type="slidenum">
              <a:rPr lang="tr-TR" smtClean="0"/>
              <a:t>41</a:t>
            </a:fld>
            <a:endParaRPr lang="tr-TR"/>
          </a:p>
        </p:txBody>
      </p:sp>
    </p:spTree>
    <p:extLst>
      <p:ext uri="{BB962C8B-B14F-4D97-AF65-F5344CB8AC3E}">
        <p14:creationId xmlns:p14="http://schemas.microsoft.com/office/powerpoint/2010/main" val="15856366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1025236"/>
            <a:ext cx="8915400" cy="4885986"/>
          </a:xfrm>
        </p:spPr>
        <p:txBody>
          <a:bodyPr>
            <a:normAutofit lnSpcReduction="10000"/>
          </a:bodyPr>
          <a:lstStyle/>
          <a:p>
            <a:r>
              <a:rPr lang="en-US" dirty="0"/>
              <a:t>For every consecutive 2 X 2 block, we take the max number. </a:t>
            </a:r>
            <a:endParaRPr lang="tr-TR" dirty="0"/>
          </a:p>
          <a:p>
            <a:r>
              <a:rPr lang="en-US" dirty="0"/>
              <a:t>Here, we have applied a filter of size 2 and a stride of 2. </a:t>
            </a:r>
            <a:endParaRPr lang="tr-TR" dirty="0"/>
          </a:p>
          <a:p>
            <a:r>
              <a:rPr lang="en-US" dirty="0"/>
              <a:t>These are the </a:t>
            </a:r>
            <a:r>
              <a:rPr lang="en-US" dirty="0" err="1"/>
              <a:t>hyperparameters</a:t>
            </a:r>
            <a:r>
              <a:rPr lang="en-US" dirty="0"/>
              <a:t> for the pooling layer. </a:t>
            </a:r>
            <a:endParaRPr lang="tr-TR" dirty="0"/>
          </a:p>
          <a:p>
            <a:r>
              <a:rPr lang="en-US" dirty="0"/>
              <a:t>Apart from max pooling, we can also apply average pooling where, instead of taking the max of the numbers, we take their average. </a:t>
            </a:r>
            <a:endParaRPr lang="tr-TR" dirty="0"/>
          </a:p>
          <a:p>
            <a:r>
              <a:rPr lang="en-US" dirty="0"/>
              <a:t>In summary, the </a:t>
            </a:r>
            <a:r>
              <a:rPr lang="en-US" dirty="0" err="1"/>
              <a:t>hyperparameters</a:t>
            </a:r>
            <a:r>
              <a:rPr lang="en-US" dirty="0"/>
              <a:t> for a pooling layer are:</a:t>
            </a:r>
            <a:endParaRPr lang="tr-TR" dirty="0"/>
          </a:p>
          <a:p>
            <a:endParaRPr lang="en-US" dirty="0"/>
          </a:p>
          <a:p>
            <a:pPr>
              <a:buFont typeface="+mj-lt"/>
              <a:buAutoNum type="arabicPeriod"/>
            </a:pPr>
            <a:r>
              <a:rPr lang="en-US" dirty="0"/>
              <a:t>Filter size</a:t>
            </a:r>
          </a:p>
          <a:p>
            <a:pPr>
              <a:buFont typeface="+mj-lt"/>
              <a:buAutoNum type="arabicPeriod"/>
            </a:pPr>
            <a:r>
              <a:rPr lang="en-US" dirty="0"/>
              <a:t>Stride</a:t>
            </a:r>
          </a:p>
          <a:p>
            <a:pPr>
              <a:buFont typeface="+mj-lt"/>
              <a:buAutoNum type="arabicPeriod"/>
            </a:pPr>
            <a:r>
              <a:rPr lang="en-US" dirty="0"/>
              <a:t>Max or average pooling</a:t>
            </a:r>
          </a:p>
          <a:p>
            <a:endParaRPr lang="tr-TR" dirty="0"/>
          </a:p>
          <a:p>
            <a:r>
              <a:rPr lang="en-US" dirty="0"/>
              <a:t>If the input of the pooling layer is </a:t>
            </a:r>
            <a:r>
              <a:rPr lang="en-US" dirty="0" err="1"/>
              <a:t>n</a:t>
            </a:r>
            <a:r>
              <a:rPr lang="en-US" baseline="-25000" dirty="0" err="1"/>
              <a:t>h</a:t>
            </a:r>
            <a:r>
              <a:rPr lang="en-US" dirty="0"/>
              <a:t> X </a:t>
            </a:r>
            <a:r>
              <a:rPr lang="en-US" dirty="0" err="1"/>
              <a:t>n</a:t>
            </a:r>
            <a:r>
              <a:rPr lang="en-US" baseline="-25000" dirty="0" err="1"/>
              <a:t>w</a:t>
            </a:r>
            <a:r>
              <a:rPr lang="en-US" dirty="0"/>
              <a:t> X </a:t>
            </a:r>
            <a:r>
              <a:rPr lang="en-US" dirty="0" err="1"/>
              <a:t>n</a:t>
            </a:r>
            <a:r>
              <a:rPr lang="en-US" baseline="-25000" dirty="0" err="1"/>
              <a:t>c</a:t>
            </a:r>
            <a:r>
              <a:rPr lang="en-US" dirty="0"/>
              <a:t>, then the output will be </a:t>
            </a:r>
            <a:endParaRPr lang="tr-TR" dirty="0"/>
          </a:p>
          <a:p>
            <a:pPr marL="0" indent="0" algn="ctr">
              <a:buNone/>
            </a:pPr>
            <a:r>
              <a:rPr lang="en-US" b="1" dirty="0">
                <a:solidFill>
                  <a:srgbClr val="FF0000"/>
                </a:solidFill>
              </a:rPr>
              <a:t>[(</a:t>
            </a:r>
            <a:r>
              <a:rPr lang="en-US" b="1" dirty="0" err="1">
                <a:solidFill>
                  <a:srgbClr val="FF0000"/>
                </a:solidFill>
              </a:rPr>
              <a:t>n</a:t>
            </a:r>
            <a:r>
              <a:rPr lang="en-US" b="1" baseline="-25000" dirty="0" err="1">
                <a:solidFill>
                  <a:srgbClr val="FF0000"/>
                </a:solidFill>
              </a:rPr>
              <a:t>h</a:t>
            </a:r>
            <a:r>
              <a:rPr lang="en-US" b="1" dirty="0">
                <a:solidFill>
                  <a:srgbClr val="FF0000"/>
                </a:solidFill>
              </a:rPr>
              <a:t> – f) / s + 1</a:t>
            </a:r>
            <a:r>
              <a:rPr lang="tr-TR" b="1" dirty="0">
                <a:solidFill>
                  <a:srgbClr val="FF0000"/>
                </a:solidFill>
              </a:rPr>
              <a:t>]</a:t>
            </a:r>
            <a:r>
              <a:rPr lang="en-US" b="1" dirty="0">
                <a:solidFill>
                  <a:srgbClr val="FF0000"/>
                </a:solidFill>
              </a:rPr>
              <a:t> </a:t>
            </a:r>
            <a:r>
              <a:rPr lang="tr-TR" b="1" dirty="0">
                <a:solidFill>
                  <a:srgbClr val="FF0000"/>
                </a:solidFill>
              </a:rPr>
              <a:t>  </a:t>
            </a:r>
            <a:r>
              <a:rPr lang="en-US" b="1" dirty="0"/>
              <a:t>X </a:t>
            </a:r>
            <a:r>
              <a:rPr lang="tr-TR" b="1" dirty="0"/>
              <a:t>  </a:t>
            </a:r>
            <a:r>
              <a:rPr lang="tr-TR" b="1" dirty="0">
                <a:solidFill>
                  <a:srgbClr val="00B050"/>
                </a:solidFill>
              </a:rPr>
              <a:t>[</a:t>
            </a:r>
            <a:r>
              <a:rPr lang="en-US" b="1" dirty="0">
                <a:solidFill>
                  <a:srgbClr val="00B050"/>
                </a:solidFill>
              </a:rPr>
              <a:t>(</a:t>
            </a:r>
            <a:r>
              <a:rPr lang="en-US" b="1" dirty="0" err="1">
                <a:solidFill>
                  <a:srgbClr val="00B050"/>
                </a:solidFill>
              </a:rPr>
              <a:t>n</a:t>
            </a:r>
            <a:r>
              <a:rPr lang="en-US" b="1" baseline="-25000" dirty="0" err="1">
                <a:solidFill>
                  <a:srgbClr val="00B050"/>
                </a:solidFill>
              </a:rPr>
              <a:t>w</a:t>
            </a:r>
            <a:r>
              <a:rPr lang="en-US" b="1" dirty="0">
                <a:solidFill>
                  <a:srgbClr val="00B050"/>
                </a:solidFill>
              </a:rPr>
              <a:t> – f) / s + 1</a:t>
            </a:r>
            <a:r>
              <a:rPr lang="tr-TR" b="1" dirty="0">
                <a:solidFill>
                  <a:srgbClr val="00B050"/>
                </a:solidFill>
              </a:rPr>
              <a:t>]</a:t>
            </a:r>
            <a:r>
              <a:rPr lang="en-US" b="1" dirty="0">
                <a:solidFill>
                  <a:srgbClr val="00B050"/>
                </a:solidFill>
              </a:rPr>
              <a:t> </a:t>
            </a:r>
            <a:r>
              <a:rPr lang="tr-TR" b="1" dirty="0">
                <a:solidFill>
                  <a:srgbClr val="00B050"/>
                </a:solidFill>
              </a:rPr>
              <a:t>  </a:t>
            </a:r>
            <a:r>
              <a:rPr lang="en-US" b="1" dirty="0"/>
              <a:t>X </a:t>
            </a:r>
            <a:r>
              <a:rPr lang="tr-TR" b="1" dirty="0"/>
              <a:t>  </a:t>
            </a:r>
            <a:r>
              <a:rPr lang="tr-TR" b="1" dirty="0">
                <a:solidFill>
                  <a:srgbClr val="002060"/>
                </a:solidFill>
              </a:rPr>
              <a:t>[</a:t>
            </a:r>
            <a:r>
              <a:rPr lang="en-US" b="1" dirty="0" err="1">
                <a:solidFill>
                  <a:srgbClr val="002060"/>
                </a:solidFill>
              </a:rPr>
              <a:t>n</a:t>
            </a:r>
            <a:r>
              <a:rPr lang="en-US" b="1" baseline="-25000" dirty="0" err="1">
                <a:solidFill>
                  <a:srgbClr val="002060"/>
                </a:solidFill>
              </a:rPr>
              <a:t>c</a:t>
            </a:r>
            <a:r>
              <a:rPr lang="en-US" b="1" dirty="0">
                <a:solidFill>
                  <a:srgbClr val="002060"/>
                </a:solidFill>
              </a:rPr>
              <a:t>]</a:t>
            </a:r>
          </a:p>
          <a:p>
            <a:endParaRPr lang="en-US" dirty="0"/>
          </a:p>
        </p:txBody>
      </p:sp>
      <p:sp>
        <p:nvSpPr>
          <p:cNvPr id="2" name="Date Placeholder 1"/>
          <p:cNvSpPr>
            <a:spLocks noGrp="1"/>
          </p:cNvSpPr>
          <p:nvPr>
            <p:ph type="dt" sz="half" idx="10"/>
          </p:nvPr>
        </p:nvSpPr>
        <p:spPr/>
        <p:txBody>
          <a:bodyPr/>
          <a:lstStyle/>
          <a:p>
            <a:fld id="{321F10C6-D7F5-4736-A44E-D17F0EA65492}" type="datetime1">
              <a:rPr lang="tr-TR" smtClean="0"/>
              <a:t>16.05.2025</a:t>
            </a:fld>
            <a:endParaRPr lang="tr-TR"/>
          </a:p>
        </p:txBody>
      </p:sp>
      <p:sp>
        <p:nvSpPr>
          <p:cNvPr id="4" name="Slide Number Placeholder 3"/>
          <p:cNvSpPr>
            <a:spLocks noGrp="1"/>
          </p:cNvSpPr>
          <p:nvPr>
            <p:ph type="sldNum" sz="quarter" idx="12"/>
          </p:nvPr>
        </p:nvSpPr>
        <p:spPr/>
        <p:txBody>
          <a:bodyPr/>
          <a:lstStyle/>
          <a:p>
            <a:fld id="{4C61373B-6CD7-433C-9DE2-D4B638969085}" type="slidenum">
              <a:rPr lang="tr-TR" smtClean="0"/>
              <a:t>42</a:t>
            </a:fld>
            <a:endParaRPr lang="tr-TR"/>
          </a:p>
        </p:txBody>
      </p:sp>
    </p:spTree>
    <p:extLst>
      <p:ext uri="{BB962C8B-B14F-4D97-AF65-F5344CB8AC3E}">
        <p14:creationId xmlns:p14="http://schemas.microsoft.com/office/powerpoint/2010/main" val="35497587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89054"/>
          </a:xfrm>
        </p:spPr>
        <p:txBody>
          <a:bodyPr/>
          <a:lstStyle/>
          <a:p>
            <a:r>
              <a:rPr lang="tr-TR" b="1" dirty="0"/>
              <a:t>Rectified Linear Unit-ReLU</a:t>
            </a:r>
            <a:endParaRPr lang="en-US" b="1" dirty="0"/>
          </a:p>
        </p:txBody>
      </p:sp>
      <p:sp>
        <p:nvSpPr>
          <p:cNvPr id="3" name="Content Placeholder 2"/>
          <p:cNvSpPr>
            <a:spLocks noGrp="1"/>
          </p:cNvSpPr>
          <p:nvPr>
            <p:ph idx="1"/>
          </p:nvPr>
        </p:nvSpPr>
        <p:spPr>
          <a:xfrm>
            <a:off x="2589212" y="1413164"/>
            <a:ext cx="8915400" cy="5264727"/>
          </a:xfrm>
        </p:spPr>
        <p:txBody>
          <a:bodyPr/>
          <a:lstStyle/>
          <a:p>
            <a:r>
              <a:rPr lang="en-US" dirty="0" err="1"/>
              <a:t>ReLU</a:t>
            </a:r>
            <a:r>
              <a:rPr lang="en-US" dirty="0"/>
              <a:t> stands for rectified linear unit, and is a type of activation function. Mathematically, it is defined as </a:t>
            </a:r>
            <a:endParaRPr lang="tr-TR" dirty="0"/>
          </a:p>
          <a:p>
            <a:r>
              <a:rPr lang="en-US" b="1" i="1" dirty="0">
                <a:solidFill>
                  <a:srgbClr val="FF0000"/>
                </a:solidFill>
              </a:rPr>
              <a:t>y = max(0, x)</a:t>
            </a:r>
            <a:endParaRPr lang="tr-TR" b="1" dirty="0">
              <a:solidFill>
                <a:srgbClr val="FF0000"/>
              </a:solidFill>
            </a:endParaRPr>
          </a:p>
          <a:p>
            <a:endParaRPr lang="tr-TR" dirty="0"/>
          </a:p>
          <a:p>
            <a:endParaRPr lang="tr-TR" dirty="0"/>
          </a:p>
          <a:p>
            <a:endParaRPr lang="tr-TR" dirty="0"/>
          </a:p>
          <a:p>
            <a:endParaRPr lang="tr-TR" dirty="0"/>
          </a:p>
          <a:p>
            <a:endParaRPr lang="tr-TR" dirty="0"/>
          </a:p>
          <a:p>
            <a:endParaRPr lang="tr-TR" dirty="0"/>
          </a:p>
          <a:p>
            <a:r>
              <a:rPr lang="en-US" b="1" dirty="0" err="1">
                <a:solidFill>
                  <a:srgbClr val="00B0F0"/>
                </a:solidFill>
              </a:rPr>
              <a:t>ReLU</a:t>
            </a:r>
            <a:r>
              <a:rPr lang="en-US" dirty="0"/>
              <a:t> is the most commonly used activation function in neural networks, especially in CNNs. </a:t>
            </a:r>
            <a:endParaRPr lang="tr-TR" dirty="0"/>
          </a:p>
          <a:p>
            <a:r>
              <a:rPr lang="en-US" dirty="0"/>
              <a:t>If you are unsure what activation function to use in your network, </a:t>
            </a:r>
            <a:r>
              <a:rPr lang="en-US" dirty="0" err="1"/>
              <a:t>ReLU</a:t>
            </a:r>
            <a:r>
              <a:rPr lang="en-US" dirty="0"/>
              <a:t> is usually a good first choice.</a:t>
            </a:r>
          </a:p>
        </p:txBody>
      </p:sp>
      <p:pic>
        <p:nvPicPr>
          <p:cNvPr id="1026" name="Picture 2" descr="https://miro.medium.com/max/1026/1*DfMRHwxY1gyyDmrIAd-gjQ.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6588" y="2445476"/>
            <a:ext cx="4720648" cy="2148678"/>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A724E813-33A9-4E2B-BE7F-49F102609442}" type="datetime1">
              <a:rPr lang="tr-TR" smtClean="0"/>
              <a:t>16.05.2025</a:t>
            </a:fld>
            <a:endParaRPr lang="tr-TR"/>
          </a:p>
        </p:txBody>
      </p:sp>
      <p:sp>
        <p:nvSpPr>
          <p:cNvPr id="6" name="Slide Number Placeholder 5"/>
          <p:cNvSpPr>
            <a:spLocks noGrp="1"/>
          </p:cNvSpPr>
          <p:nvPr>
            <p:ph type="sldNum" sz="quarter" idx="12"/>
          </p:nvPr>
        </p:nvSpPr>
        <p:spPr/>
        <p:txBody>
          <a:bodyPr/>
          <a:lstStyle/>
          <a:p>
            <a:fld id="{4C61373B-6CD7-433C-9DE2-D4B638969085}" type="slidenum">
              <a:rPr lang="tr-TR" smtClean="0"/>
              <a:t>43</a:t>
            </a:fld>
            <a:endParaRPr lang="tr-TR"/>
          </a:p>
        </p:txBody>
      </p:sp>
    </p:spTree>
    <p:extLst>
      <p:ext uri="{BB962C8B-B14F-4D97-AF65-F5344CB8AC3E}">
        <p14:creationId xmlns:p14="http://schemas.microsoft.com/office/powerpoint/2010/main" val="29934860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802908"/>
          </a:xfrm>
        </p:spPr>
        <p:txBody>
          <a:bodyPr>
            <a:normAutofit fontScale="90000"/>
          </a:bodyPr>
          <a:lstStyle/>
          <a:p>
            <a:r>
              <a:rPr lang="tr-TR" b="1" dirty="0"/>
              <a:t>How does ReLU compare</a:t>
            </a:r>
            <a:br>
              <a:rPr lang="tr-TR" b="1" dirty="0"/>
            </a:br>
            <a:endParaRPr lang="en-US" dirty="0"/>
          </a:p>
        </p:txBody>
      </p:sp>
      <p:sp>
        <p:nvSpPr>
          <p:cNvPr id="3" name="Content Placeholder 2"/>
          <p:cNvSpPr>
            <a:spLocks noGrp="1"/>
          </p:cNvSpPr>
          <p:nvPr>
            <p:ph idx="1"/>
          </p:nvPr>
        </p:nvSpPr>
        <p:spPr>
          <a:xfrm>
            <a:off x="2589212" y="1316181"/>
            <a:ext cx="8915400" cy="5264727"/>
          </a:xfrm>
        </p:spPr>
        <p:txBody>
          <a:bodyPr/>
          <a:lstStyle/>
          <a:p>
            <a:r>
              <a:rPr lang="en-US" dirty="0" err="1"/>
              <a:t>ReLU</a:t>
            </a:r>
            <a:r>
              <a:rPr lang="en-US" dirty="0"/>
              <a:t> is linear (identity) for all positive values, and zero for all negative values. This means that:</a:t>
            </a:r>
          </a:p>
          <a:p>
            <a:r>
              <a:rPr lang="en-US" dirty="0"/>
              <a:t>It’s cheap to compute as there is no complicated math. The model can therefore take less time to train or run.</a:t>
            </a:r>
          </a:p>
          <a:p>
            <a:r>
              <a:rPr lang="en-US" dirty="0"/>
              <a:t>It converges faster. Linearity means that the slope doesn’t plateau, or “saturate,” when </a:t>
            </a:r>
            <a:r>
              <a:rPr lang="en-US" i="1" dirty="0"/>
              <a:t>x</a:t>
            </a:r>
            <a:r>
              <a:rPr lang="en-US" dirty="0"/>
              <a:t> gets large. </a:t>
            </a:r>
            <a:endParaRPr lang="tr-TR" dirty="0"/>
          </a:p>
          <a:p>
            <a:r>
              <a:rPr lang="en-US" dirty="0"/>
              <a:t>It doesn’t have the vanishing gradient problem suffered by other activation functions like sigmoid or </a:t>
            </a:r>
            <a:r>
              <a:rPr lang="en-US" dirty="0" err="1"/>
              <a:t>tanh</a:t>
            </a:r>
            <a:r>
              <a:rPr lang="en-US" dirty="0"/>
              <a:t>.</a:t>
            </a:r>
          </a:p>
          <a:p>
            <a:r>
              <a:rPr lang="en-US" dirty="0"/>
              <a:t>It’s sparsely activated. </a:t>
            </a:r>
            <a:endParaRPr lang="tr-TR" dirty="0"/>
          </a:p>
          <a:p>
            <a:r>
              <a:rPr lang="en-US" dirty="0"/>
              <a:t>Since </a:t>
            </a:r>
            <a:r>
              <a:rPr lang="en-US" dirty="0" err="1"/>
              <a:t>ReLU</a:t>
            </a:r>
            <a:r>
              <a:rPr lang="en-US" dirty="0"/>
              <a:t> is zero for all negative inputs, it’s likely for any given unit to not activate at all. </a:t>
            </a:r>
            <a:endParaRPr lang="tr-TR" dirty="0"/>
          </a:p>
          <a:p>
            <a:r>
              <a:rPr lang="en-US" dirty="0"/>
              <a:t>This is often desirable (see below).</a:t>
            </a:r>
          </a:p>
          <a:p>
            <a:endParaRPr lang="en-US" dirty="0"/>
          </a:p>
        </p:txBody>
      </p:sp>
      <p:sp>
        <p:nvSpPr>
          <p:cNvPr id="4" name="Date Placeholder 3"/>
          <p:cNvSpPr>
            <a:spLocks noGrp="1"/>
          </p:cNvSpPr>
          <p:nvPr>
            <p:ph type="dt" sz="half" idx="10"/>
          </p:nvPr>
        </p:nvSpPr>
        <p:spPr/>
        <p:txBody>
          <a:bodyPr/>
          <a:lstStyle/>
          <a:p>
            <a:fld id="{4E34423B-BBF5-40A5-8AFB-268C8432C0AB}"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44</a:t>
            </a:fld>
            <a:endParaRPr lang="tr-TR"/>
          </a:p>
        </p:txBody>
      </p:sp>
    </p:spTree>
    <p:extLst>
      <p:ext uri="{BB962C8B-B14F-4D97-AF65-F5344CB8AC3E}">
        <p14:creationId xmlns:p14="http://schemas.microsoft.com/office/powerpoint/2010/main" val="17913304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64363"/>
          </a:xfrm>
        </p:spPr>
        <p:txBody>
          <a:bodyPr>
            <a:normAutofit fontScale="90000"/>
          </a:bodyPr>
          <a:lstStyle/>
          <a:p>
            <a:r>
              <a:rPr lang="tr-TR" b="1" dirty="0"/>
              <a:t>Sparsity</a:t>
            </a:r>
            <a:br>
              <a:rPr lang="tr-TR" b="1" dirty="0"/>
            </a:br>
            <a:endParaRPr lang="en-US" dirty="0"/>
          </a:p>
        </p:txBody>
      </p:sp>
      <p:sp>
        <p:nvSpPr>
          <p:cNvPr id="3" name="Content Placeholder 2"/>
          <p:cNvSpPr>
            <a:spLocks noGrp="1"/>
          </p:cNvSpPr>
          <p:nvPr>
            <p:ph idx="1"/>
          </p:nvPr>
        </p:nvSpPr>
        <p:spPr>
          <a:xfrm>
            <a:off x="2589212" y="1745673"/>
            <a:ext cx="8915400" cy="4197927"/>
          </a:xfrm>
        </p:spPr>
        <p:txBody>
          <a:bodyPr/>
          <a:lstStyle/>
          <a:p>
            <a:r>
              <a:rPr lang="en-US" dirty="0"/>
              <a:t>Why is sparsity good? It makes intuitive sense if we think about the biological neural network, which artificial ones try to imitate. While we have billions of neurons in our bodies, not all of them fire all the time for everything we do. Instead, they have different roles and are activated by different signals.</a:t>
            </a:r>
          </a:p>
          <a:p>
            <a:r>
              <a:rPr lang="en-US" dirty="0"/>
              <a:t>Sparsity results in concise models that often have better predictive power and less overfitting/noise. In a sparse network, it’s more likely that neurons are actually processing meaningful aspects of the problem. For example, in a model detecting cats in images, there may be a neuron that can identify ears, which obviously shouldn’t be activated if the image is about a building.</a:t>
            </a:r>
            <a:endParaRPr lang="tr-TR" dirty="0"/>
          </a:p>
          <a:p>
            <a:r>
              <a:rPr lang="en-US" dirty="0"/>
              <a:t>Finally, a sparse network is faster than a dense network, as there are fewer things to compute.</a:t>
            </a:r>
          </a:p>
          <a:p>
            <a:endParaRPr lang="en-US" dirty="0"/>
          </a:p>
        </p:txBody>
      </p:sp>
      <p:sp>
        <p:nvSpPr>
          <p:cNvPr id="4" name="Date Placeholder 3"/>
          <p:cNvSpPr>
            <a:spLocks noGrp="1"/>
          </p:cNvSpPr>
          <p:nvPr>
            <p:ph type="dt" sz="half" idx="10"/>
          </p:nvPr>
        </p:nvSpPr>
        <p:spPr/>
        <p:txBody>
          <a:bodyPr/>
          <a:lstStyle/>
          <a:p>
            <a:fld id="{F7582AB8-A941-4E42-AF59-2E3F490C89E5}"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45</a:t>
            </a:fld>
            <a:endParaRPr lang="tr-TR"/>
          </a:p>
        </p:txBody>
      </p:sp>
    </p:spTree>
    <p:extLst>
      <p:ext uri="{BB962C8B-B14F-4D97-AF65-F5344CB8AC3E}">
        <p14:creationId xmlns:p14="http://schemas.microsoft.com/office/powerpoint/2010/main" val="35968720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b="1" dirty="0"/>
              <a:t>CNN Example</a:t>
            </a:r>
            <a:br>
              <a:rPr lang="tr-TR" b="1" dirty="0"/>
            </a:br>
            <a:endParaRPr lang="en-US" dirty="0"/>
          </a:p>
        </p:txBody>
      </p:sp>
      <p:sp>
        <p:nvSpPr>
          <p:cNvPr id="3" name="Content Placeholder 2"/>
          <p:cNvSpPr>
            <a:spLocks noGrp="1"/>
          </p:cNvSpPr>
          <p:nvPr>
            <p:ph idx="1"/>
          </p:nvPr>
        </p:nvSpPr>
        <p:spPr/>
        <p:txBody>
          <a:bodyPr/>
          <a:lstStyle/>
          <a:p>
            <a:r>
              <a:rPr lang="en-US" dirty="0"/>
              <a:t>We’ll take things up a notch now. Let’s look at how a convolution neural network with convolutional and pooling layer works. Suppose we have an input of shape 32 X 32 X 3:</a:t>
            </a:r>
          </a:p>
        </p:txBody>
      </p:sp>
      <p:pic>
        <p:nvPicPr>
          <p:cNvPr id="4" name="Picture 3"/>
          <p:cNvPicPr>
            <a:picLocks noChangeAspect="1"/>
          </p:cNvPicPr>
          <p:nvPr/>
        </p:nvPicPr>
        <p:blipFill>
          <a:blip r:embed="rId2"/>
          <a:stretch>
            <a:fillRect/>
          </a:stretch>
        </p:blipFill>
        <p:spPr>
          <a:xfrm>
            <a:off x="2521081" y="3426497"/>
            <a:ext cx="9051662" cy="2360276"/>
          </a:xfrm>
          <a:prstGeom prst="rect">
            <a:avLst/>
          </a:prstGeom>
        </p:spPr>
      </p:pic>
      <p:sp>
        <p:nvSpPr>
          <p:cNvPr id="5" name="Date Placeholder 4"/>
          <p:cNvSpPr>
            <a:spLocks noGrp="1"/>
          </p:cNvSpPr>
          <p:nvPr>
            <p:ph type="dt" sz="half" idx="10"/>
          </p:nvPr>
        </p:nvSpPr>
        <p:spPr/>
        <p:txBody>
          <a:bodyPr/>
          <a:lstStyle/>
          <a:p>
            <a:fld id="{4375D18B-A60D-4479-A9D6-8D54B66A9C61}" type="datetime1">
              <a:rPr lang="tr-TR" smtClean="0"/>
              <a:t>16.05.2025</a:t>
            </a:fld>
            <a:endParaRPr lang="tr-TR"/>
          </a:p>
        </p:txBody>
      </p:sp>
      <p:sp>
        <p:nvSpPr>
          <p:cNvPr id="6" name="Slide Number Placeholder 5"/>
          <p:cNvSpPr>
            <a:spLocks noGrp="1"/>
          </p:cNvSpPr>
          <p:nvPr>
            <p:ph type="sldNum" sz="quarter" idx="12"/>
          </p:nvPr>
        </p:nvSpPr>
        <p:spPr/>
        <p:txBody>
          <a:bodyPr/>
          <a:lstStyle/>
          <a:p>
            <a:fld id="{4C61373B-6CD7-433C-9DE2-D4B638969085}" type="slidenum">
              <a:rPr lang="tr-TR" smtClean="0"/>
              <a:t>46</a:t>
            </a:fld>
            <a:endParaRPr lang="tr-TR"/>
          </a:p>
        </p:txBody>
      </p:sp>
    </p:spTree>
    <p:extLst>
      <p:ext uri="{BB962C8B-B14F-4D97-AF65-F5344CB8AC3E}">
        <p14:creationId xmlns:p14="http://schemas.microsoft.com/office/powerpoint/2010/main" val="31090808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720437"/>
            <a:ext cx="8915400" cy="5735782"/>
          </a:xfrm>
        </p:spPr>
        <p:txBody>
          <a:bodyPr/>
          <a:lstStyle/>
          <a:p>
            <a:r>
              <a:rPr lang="en-US" sz="2200" dirty="0"/>
              <a:t>There are a combination of convolution and pooling layers at the beginning, a few fully connected layers at the end and finally a </a:t>
            </a:r>
            <a:r>
              <a:rPr lang="en-US" sz="2200" dirty="0" err="1"/>
              <a:t>softmax</a:t>
            </a:r>
            <a:r>
              <a:rPr lang="en-US" sz="2200" dirty="0"/>
              <a:t> classifier to classify the input into various categories. There are a lot of </a:t>
            </a:r>
            <a:r>
              <a:rPr lang="en-US" sz="2200" dirty="0" err="1"/>
              <a:t>hyperparameters</a:t>
            </a:r>
            <a:r>
              <a:rPr lang="en-US" sz="2200" dirty="0"/>
              <a:t> in this network which we have to specify as well.</a:t>
            </a:r>
            <a:endParaRPr lang="tr-TR" sz="2200" dirty="0"/>
          </a:p>
          <a:p>
            <a:endParaRPr lang="en-US" sz="2200" dirty="0"/>
          </a:p>
          <a:p>
            <a:r>
              <a:rPr lang="en-US" sz="2200" dirty="0"/>
              <a:t>Generally, we take the set of </a:t>
            </a:r>
            <a:r>
              <a:rPr lang="en-US" sz="2200" dirty="0" err="1"/>
              <a:t>hyperparameters</a:t>
            </a:r>
            <a:r>
              <a:rPr lang="en-US" sz="2200" dirty="0"/>
              <a:t> which have been used in proven research and they end up doing well. As seen in the above example, the height and width of the input shrinks as we go deeper into the network (from 32 X 32 to 5 X 5) and the number of channels increases (from 3 to 10).</a:t>
            </a:r>
            <a:endParaRPr lang="tr-TR" sz="2200" dirty="0"/>
          </a:p>
          <a:p>
            <a:endParaRPr lang="en-US" sz="2200" dirty="0"/>
          </a:p>
          <a:p>
            <a:r>
              <a:rPr lang="en-US" sz="2200" dirty="0"/>
              <a:t>All of these concepts and techniques bring up a very fundamental question – </a:t>
            </a:r>
            <a:r>
              <a:rPr lang="en-US" sz="2200" b="1" dirty="0">
                <a:solidFill>
                  <a:srgbClr val="FF0000"/>
                </a:solidFill>
              </a:rPr>
              <a:t>why convolutions? </a:t>
            </a:r>
            <a:r>
              <a:rPr lang="en-US" sz="2200" dirty="0"/>
              <a:t>Why not something else?</a:t>
            </a:r>
          </a:p>
          <a:p>
            <a:endParaRPr lang="en-US" dirty="0"/>
          </a:p>
        </p:txBody>
      </p:sp>
      <p:sp>
        <p:nvSpPr>
          <p:cNvPr id="2" name="Date Placeholder 1"/>
          <p:cNvSpPr>
            <a:spLocks noGrp="1"/>
          </p:cNvSpPr>
          <p:nvPr>
            <p:ph type="dt" sz="half" idx="10"/>
          </p:nvPr>
        </p:nvSpPr>
        <p:spPr/>
        <p:txBody>
          <a:bodyPr/>
          <a:lstStyle/>
          <a:p>
            <a:fld id="{B67EC2A3-8B59-4A5F-ABF4-9C7B131DDF47}" type="datetime1">
              <a:rPr lang="tr-TR" smtClean="0"/>
              <a:t>16.05.2025</a:t>
            </a:fld>
            <a:endParaRPr lang="tr-TR"/>
          </a:p>
        </p:txBody>
      </p:sp>
      <p:sp>
        <p:nvSpPr>
          <p:cNvPr id="4" name="Slide Number Placeholder 3"/>
          <p:cNvSpPr>
            <a:spLocks noGrp="1"/>
          </p:cNvSpPr>
          <p:nvPr>
            <p:ph type="sldNum" sz="quarter" idx="12"/>
          </p:nvPr>
        </p:nvSpPr>
        <p:spPr/>
        <p:txBody>
          <a:bodyPr/>
          <a:lstStyle/>
          <a:p>
            <a:fld id="{4C61373B-6CD7-433C-9DE2-D4B638969085}" type="slidenum">
              <a:rPr lang="tr-TR" smtClean="0"/>
              <a:t>47</a:t>
            </a:fld>
            <a:endParaRPr lang="tr-TR"/>
          </a:p>
        </p:txBody>
      </p:sp>
    </p:spTree>
    <p:extLst>
      <p:ext uri="{BB962C8B-B14F-4D97-AF65-F5344CB8AC3E}">
        <p14:creationId xmlns:p14="http://schemas.microsoft.com/office/powerpoint/2010/main" val="18324906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b="1" dirty="0"/>
              <a:t>Why Convolutions?</a:t>
            </a:r>
            <a:br>
              <a:rPr lang="tr-TR" b="1" dirty="0"/>
            </a:br>
            <a:endParaRPr lang="en-US" dirty="0"/>
          </a:p>
        </p:txBody>
      </p:sp>
      <p:sp>
        <p:nvSpPr>
          <p:cNvPr id="3" name="Content Placeholder 2"/>
          <p:cNvSpPr>
            <a:spLocks noGrp="1"/>
          </p:cNvSpPr>
          <p:nvPr>
            <p:ph idx="1"/>
          </p:nvPr>
        </p:nvSpPr>
        <p:spPr/>
        <p:txBody>
          <a:bodyPr/>
          <a:lstStyle/>
          <a:p>
            <a:r>
              <a:rPr lang="en-US" dirty="0"/>
              <a:t>There are primarily two major advantages of using convolutional layers over using just fully connected layers:</a:t>
            </a:r>
            <a:endParaRPr lang="tr-TR" dirty="0"/>
          </a:p>
          <a:p>
            <a:endParaRPr lang="en-US" dirty="0"/>
          </a:p>
          <a:p>
            <a:r>
              <a:rPr lang="en-US" dirty="0"/>
              <a:t>Parameter sharing</a:t>
            </a:r>
          </a:p>
          <a:p>
            <a:r>
              <a:rPr lang="en-US" dirty="0"/>
              <a:t>Sparsity of connections</a:t>
            </a:r>
          </a:p>
          <a:p>
            <a:pPr marL="0" indent="0">
              <a:buNone/>
            </a:pPr>
            <a:endParaRPr lang="tr-TR" dirty="0"/>
          </a:p>
          <a:p>
            <a:pPr marL="0" indent="0">
              <a:buNone/>
            </a:pPr>
            <a:r>
              <a:rPr lang="en-US" dirty="0"/>
              <a:t>Consider the below example:</a:t>
            </a:r>
          </a:p>
          <a:p>
            <a:endParaRPr lang="en-US" dirty="0"/>
          </a:p>
        </p:txBody>
      </p:sp>
      <p:sp>
        <p:nvSpPr>
          <p:cNvPr id="4" name="Date Placeholder 3"/>
          <p:cNvSpPr>
            <a:spLocks noGrp="1"/>
          </p:cNvSpPr>
          <p:nvPr>
            <p:ph type="dt" sz="half" idx="10"/>
          </p:nvPr>
        </p:nvSpPr>
        <p:spPr/>
        <p:txBody>
          <a:bodyPr/>
          <a:lstStyle/>
          <a:p>
            <a:fld id="{9C320603-C072-47A5-BBB8-69F5535F4730}"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48</a:t>
            </a:fld>
            <a:endParaRPr lang="tr-TR"/>
          </a:p>
        </p:txBody>
      </p:sp>
    </p:spTree>
    <p:extLst>
      <p:ext uri="{BB962C8B-B14F-4D97-AF65-F5344CB8AC3E}">
        <p14:creationId xmlns:p14="http://schemas.microsoft.com/office/powerpoint/2010/main" val="38562232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678873"/>
            <a:ext cx="8915400" cy="5624945"/>
          </a:xfrm>
        </p:spPr>
        <p:txBody>
          <a:bodyPr/>
          <a:lstStyle/>
          <a:p>
            <a:endParaRPr lang="tr-TR" dirty="0"/>
          </a:p>
          <a:p>
            <a:endParaRPr lang="tr-TR" dirty="0"/>
          </a:p>
          <a:p>
            <a:endParaRPr lang="tr-TR" dirty="0"/>
          </a:p>
          <a:p>
            <a:endParaRPr lang="tr-TR" dirty="0"/>
          </a:p>
          <a:p>
            <a:endParaRPr lang="tr-TR" dirty="0"/>
          </a:p>
          <a:p>
            <a:r>
              <a:rPr lang="en-US" dirty="0"/>
              <a:t>If we would have used just the fully connected layer, the number of parameters would be = 32*32*3*28*28*6, which is nearly equal to 14 million! </a:t>
            </a:r>
            <a:endParaRPr lang="tr-TR" dirty="0"/>
          </a:p>
          <a:p>
            <a:r>
              <a:rPr lang="en-US" dirty="0"/>
              <a:t>Makes no sense, right?</a:t>
            </a:r>
            <a:endParaRPr lang="tr-TR" dirty="0"/>
          </a:p>
          <a:p>
            <a:endParaRPr lang="tr-TR" dirty="0"/>
          </a:p>
          <a:p>
            <a:r>
              <a:rPr lang="en-US" dirty="0"/>
              <a:t>If we see the number of parameters in case of a convolutional layer, it will be = (5*5 + 1) * 6 (if there are 6 filters), which is equal to 156. </a:t>
            </a:r>
            <a:endParaRPr lang="tr-TR" dirty="0"/>
          </a:p>
          <a:p>
            <a:endParaRPr lang="tr-TR" dirty="0"/>
          </a:p>
          <a:p>
            <a:r>
              <a:rPr lang="en-US" dirty="0"/>
              <a:t>Convolutional layers reduce the number of parameters and speed up the training of the model significantly.</a:t>
            </a:r>
            <a:endParaRPr lang="tr-TR" dirty="0"/>
          </a:p>
        </p:txBody>
      </p:sp>
      <p:pic>
        <p:nvPicPr>
          <p:cNvPr id="5" name="Picture 4"/>
          <p:cNvPicPr>
            <a:picLocks noChangeAspect="1"/>
          </p:cNvPicPr>
          <p:nvPr/>
        </p:nvPicPr>
        <p:blipFill>
          <a:blip r:embed="rId2"/>
          <a:stretch>
            <a:fillRect/>
          </a:stretch>
        </p:blipFill>
        <p:spPr>
          <a:xfrm>
            <a:off x="5389416" y="678873"/>
            <a:ext cx="2854040" cy="1475746"/>
          </a:xfrm>
          <a:prstGeom prst="rect">
            <a:avLst/>
          </a:prstGeom>
        </p:spPr>
      </p:pic>
      <p:sp>
        <p:nvSpPr>
          <p:cNvPr id="2" name="Date Placeholder 1"/>
          <p:cNvSpPr>
            <a:spLocks noGrp="1"/>
          </p:cNvSpPr>
          <p:nvPr>
            <p:ph type="dt" sz="half" idx="10"/>
          </p:nvPr>
        </p:nvSpPr>
        <p:spPr/>
        <p:txBody>
          <a:bodyPr/>
          <a:lstStyle/>
          <a:p>
            <a:fld id="{016B6140-7554-46CD-B8D7-6CD6999798B1}" type="datetime1">
              <a:rPr lang="tr-TR" smtClean="0"/>
              <a:t>16.05.2025</a:t>
            </a:fld>
            <a:endParaRPr lang="tr-TR"/>
          </a:p>
        </p:txBody>
      </p:sp>
      <p:sp>
        <p:nvSpPr>
          <p:cNvPr id="4" name="Slide Number Placeholder 3"/>
          <p:cNvSpPr>
            <a:spLocks noGrp="1"/>
          </p:cNvSpPr>
          <p:nvPr>
            <p:ph type="sldNum" sz="quarter" idx="12"/>
          </p:nvPr>
        </p:nvSpPr>
        <p:spPr/>
        <p:txBody>
          <a:bodyPr/>
          <a:lstStyle/>
          <a:p>
            <a:fld id="{4C61373B-6CD7-433C-9DE2-D4B638969085}" type="slidenum">
              <a:rPr lang="tr-TR" smtClean="0"/>
              <a:t>49</a:t>
            </a:fld>
            <a:endParaRPr lang="tr-TR"/>
          </a:p>
        </p:txBody>
      </p:sp>
    </p:spTree>
    <p:extLst>
      <p:ext uri="{BB962C8B-B14F-4D97-AF65-F5344CB8AC3E}">
        <p14:creationId xmlns:p14="http://schemas.microsoft.com/office/powerpoint/2010/main" val="31841848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1357745"/>
            <a:ext cx="8915400" cy="4553477"/>
          </a:xfrm>
        </p:spPr>
        <p:txBody>
          <a:bodyPr/>
          <a:lstStyle/>
          <a:p>
            <a:r>
              <a:rPr lang="en-US" dirty="0"/>
              <a:t>In convolutions, we share the parameters while convolving through the input. The intuition behind this is that a feature detector, which is helpful in one part of the image, is probably also useful in another part of the image. </a:t>
            </a:r>
            <a:endParaRPr lang="tr-TR" dirty="0"/>
          </a:p>
          <a:p>
            <a:endParaRPr lang="tr-TR" dirty="0"/>
          </a:p>
          <a:p>
            <a:pPr>
              <a:buFont typeface="+mj-lt"/>
              <a:buAutoNum type="arabicPeriod"/>
            </a:pPr>
            <a:r>
              <a:rPr lang="en-US" b="1" dirty="0">
                <a:solidFill>
                  <a:srgbClr val="FF0000"/>
                </a:solidFill>
              </a:rPr>
              <a:t>So a single filter is convolved over the entire input and hence the parameters are shared.</a:t>
            </a:r>
          </a:p>
          <a:p>
            <a:endParaRPr lang="tr-TR" dirty="0"/>
          </a:p>
          <a:p>
            <a:r>
              <a:rPr lang="en-US" dirty="0"/>
              <a:t>The second advantage of convolution is the sparsity of connections. </a:t>
            </a:r>
            <a:endParaRPr lang="tr-TR" dirty="0"/>
          </a:p>
          <a:p>
            <a:endParaRPr lang="tr-TR" dirty="0"/>
          </a:p>
          <a:p>
            <a:pPr>
              <a:buFont typeface="+mj-lt"/>
              <a:buAutoNum type="arabicPeriod" startAt="2"/>
            </a:pPr>
            <a:r>
              <a:rPr lang="en-US" b="1" dirty="0">
                <a:solidFill>
                  <a:srgbClr val="FF0000"/>
                </a:solidFill>
              </a:rPr>
              <a:t>For each layer, each output value depends on a small number of inputs, instead of taking into account all the inputs.</a:t>
            </a:r>
          </a:p>
          <a:p>
            <a:endParaRPr lang="en-US" dirty="0"/>
          </a:p>
        </p:txBody>
      </p:sp>
      <p:sp>
        <p:nvSpPr>
          <p:cNvPr id="2" name="Date Placeholder 1"/>
          <p:cNvSpPr>
            <a:spLocks noGrp="1"/>
          </p:cNvSpPr>
          <p:nvPr>
            <p:ph type="dt" sz="half" idx="10"/>
          </p:nvPr>
        </p:nvSpPr>
        <p:spPr/>
        <p:txBody>
          <a:bodyPr/>
          <a:lstStyle/>
          <a:p>
            <a:fld id="{440D371D-11D0-41A2-91CC-EDCB913FFB16}" type="datetime1">
              <a:rPr lang="tr-TR" smtClean="0"/>
              <a:t>16.05.2025</a:t>
            </a:fld>
            <a:endParaRPr lang="tr-TR"/>
          </a:p>
        </p:txBody>
      </p:sp>
      <p:sp>
        <p:nvSpPr>
          <p:cNvPr id="4" name="Slide Number Placeholder 3"/>
          <p:cNvSpPr>
            <a:spLocks noGrp="1"/>
          </p:cNvSpPr>
          <p:nvPr>
            <p:ph type="sldNum" sz="quarter" idx="12"/>
          </p:nvPr>
        </p:nvSpPr>
        <p:spPr/>
        <p:txBody>
          <a:bodyPr/>
          <a:lstStyle/>
          <a:p>
            <a:fld id="{4C61373B-6CD7-433C-9DE2-D4B638969085}" type="slidenum">
              <a:rPr lang="tr-TR" smtClean="0"/>
              <a:t>50</a:t>
            </a:fld>
            <a:endParaRPr lang="tr-TR"/>
          </a:p>
        </p:txBody>
      </p:sp>
    </p:spTree>
    <p:extLst>
      <p:ext uri="{BB962C8B-B14F-4D97-AF65-F5344CB8AC3E}">
        <p14:creationId xmlns:p14="http://schemas.microsoft.com/office/powerpoint/2010/main" val="27207044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Classic Networks</a:t>
            </a:r>
            <a:br>
              <a:rPr lang="en-US" b="1" dirty="0"/>
            </a:br>
            <a:endParaRPr lang="en-US" dirty="0"/>
          </a:p>
        </p:txBody>
      </p:sp>
      <p:sp>
        <p:nvSpPr>
          <p:cNvPr id="3" name="Content Placeholder 2"/>
          <p:cNvSpPr>
            <a:spLocks noGrp="1"/>
          </p:cNvSpPr>
          <p:nvPr>
            <p:ph idx="1"/>
          </p:nvPr>
        </p:nvSpPr>
        <p:spPr/>
        <p:txBody>
          <a:bodyPr/>
          <a:lstStyle/>
          <a:p>
            <a:r>
              <a:rPr lang="en-US" dirty="0"/>
              <a:t>In this section, we will look at the following popular networks:</a:t>
            </a:r>
            <a:endParaRPr lang="tr-TR" dirty="0"/>
          </a:p>
          <a:p>
            <a:endParaRPr lang="en-US" dirty="0"/>
          </a:p>
          <a:p>
            <a:r>
              <a:rPr lang="en-US" b="1" dirty="0">
                <a:solidFill>
                  <a:srgbClr val="FF0000"/>
                </a:solidFill>
              </a:rPr>
              <a:t>LeNet-5</a:t>
            </a:r>
          </a:p>
          <a:p>
            <a:r>
              <a:rPr lang="en-US" b="1" dirty="0" err="1">
                <a:solidFill>
                  <a:srgbClr val="FF0000"/>
                </a:solidFill>
              </a:rPr>
              <a:t>AlexNet</a:t>
            </a:r>
            <a:endParaRPr lang="en-US" b="1" dirty="0">
              <a:solidFill>
                <a:srgbClr val="FF0000"/>
              </a:solidFill>
            </a:endParaRPr>
          </a:p>
          <a:p>
            <a:r>
              <a:rPr lang="en-US" b="1" dirty="0">
                <a:solidFill>
                  <a:srgbClr val="FF0000"/>
                </a:solidFill>
              </a:rPr>
              <a:t>VGG</a:t>
            </a:r>
            <a:endParaRPr lang="tr-TR" b="1" dirty="0">
              <a:solidFill>
                <a:srgbClr val="FF0000"/>
              </a:solidFill>
            </a:endParaRPr>
          </a:p>
          <a:p>
            <a:endParaRPr lang="en-US" dirty="0"/>
          </a:p>
          <a:p>
            <a:r>
              <a:rPr lang="en-US" dirty="0"/>
              <a:t>We will also see how </a:t>
            </a:r>
            <a:r>
              <a:rPr lang="en-US" b="1" dirty="0" err="1">
                <a:solidFill>
                  <a:srgbClr val="00B050"/>
                </a:solidFill>
              </a:rPr>
              <a:t>ResNet</a:t>
            </a:r>
            <a:r>
              <a:rPr lang="en-US" dirty="0"/>
              <a:t> works and finally go through a case study of an </a:t>
            </a:r>
            <a:r>
              <a:rPr lang="en-US" b="1" dirty="0">
                <a:solidFill>
                  <a:srgbClr val="00B050"/>
                </a:solidFill>
              </a:rPr>
              <a:t>inception neural network</a:t>
            </a:r>
            <a:r>
              <a:rPr lang="en-US" dirty="0"/>
              <a:t>.</a:t>
            </a:r>
          </a:p>
          <a:p>
            <a:endParaRPr lang="en-US" dirty="0"/>
          </a:p>
        </p:txBody>
      </p:sp>
      <p:sp>
        <p:nvSpPr>
          <p:cNvPr id="4" name="Date Placeholder 3"/>
          <p:cNvSpPr>
            <a:spLocks noGrp="1"/>
          </p:cNvSpPr>
          <p:nvPr>
            <p:ph type="dt" sz="half" idx="10"/>
          </p:nvPr>
        </p:nvSpPr>
        <p:spPr/>
        <p:txBody>
          <a:bodyPr/>
          <a:lstStyle/>
          <a:p>
            <a:fld id="{53A6BF73-DFFD-4D47-9276-FFDD632B5B2C}"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51</a:t>
            </a:fld>
            <a:endParaRPr lang="tr-TR"/>
          </a:p>
        </p:txBody>
      </p:sp>
    </p:spTree>
    <p:extLst>
      <p:ext uri="{BB962C8B-B14F-4D97-AF65-F5344CB8AC3E}">
        <p14:creationId xmlns:p14="http://schemas.microsoft.com/office/powerpoint/2010/main" val="40588480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b="1" i="1" dirty="0"/>
              <a:t>LeNet-5</a:t>
            </a:r>
            <a:endParaRPr lang="en-US" dirty="0"/>
          </a:p>
        </p:txBody>
      </p:sp>
      <p:sp>
        <p:nvSpPr>
          <p:cNvPr id="3" name="Content Placeholder 2"/>
          <p:cNvSpPr>
            <a:spLocks noGrp="1"/>
          </p:cNvSpPr>
          <p:nvPr>
            <p:ph idx="1"/>
          </p:nvPr>
        </p:nvSpPr>
        <p:spPr>
          <a:xfrm>
            <a:off x="2589212" y="2133599"/>
            <a:ext cx="8915400" cy="3996837"/>
          </a:xfrm>
        </p:spPr>
        <p:txBody>
          <a:bodyPr/>
          <a:lstStyle/>
          <a:p>
            <a:endParaRPr lang="tr-TR" dirty="0"/>
          </a:p>
          <a:p>
            <a:endParaRPr lang="tr-TR" dirty="0"/>
          </a:p>
          <a:p>
            <a:endParaRPr lang="tr-TR" dirty="0"/>
          </a:p>
          <a:p>
            <a:r>
              <a:rPr lang="en-US" dirty="0"/>
              <a:t>It takes a grayscale image as input. Once we pass it through a combination of convolution and pooling layers, the output will be passed through fully connected layers and classified into corresponding classes. The total number of parameters in LeNet-5 are:</a:t>
            </a:r>
          </a:p>
          <a:p>
            <a:r>
              <a:rPr lang="en-US" b="1" dirty="0"/>
              <a:t>Parameters:</a:t>
            </a:r>
            <a:r>
              <a:rPr lang="en-US" dirty="0"/>
              <a:t> 60</a:t>
            </a:r>
            <a:r>
              <a:rPr lang="tr-TR" dirty="0"/>
              <a:t> million</a:t>
            </a:r>
            <a:endParaRPr lang="en-US" dirty="0"/>
          </a:p>
          <a:p>
            <a:r>
              <a:rPr lang="en-US" b="1" dirty="0"/>
              <a:t>Layers flow:</a:t>
            </a:r>
            <a:r>
              <a:rPr lang="en-US" dirty="0"/>
              <a:t> </a:t>
            </a:r>
            <a:r>
              <a:rPr lang="en-US" dirty="0" err="1"/>
              <a:t>Conv</a:t>
            </a:r>
            <a:r>
              <a:rPr lang="en-US" dirty="0"/>
              <a:t> -&gt; Pool -&gt; </a:t>
            </a:r>
            <a:r>
              <a:rPr lang="en-US" dirty="0" err="1"/>
              <a:t>Conv</a:t>
            </a:r>
            <a:r>
              <a:rPr lang="en-US" dirty="0"/>
              <a:t> -&gt; Pool -&gt; FC -&gt; FC -&gt; Output</a:t>
            </a:r>
          </a:p>
          <a:p>
            <a:r>
              <a:rPr lang="en-US" b="1" dirty="0"/>
              <a:t>Activation functions:</a:t>
            </a:r>
            <a:r>
              <a:rPr lang="en-US" dirty="0"/>
              <a:t> Sigmoid/</a:t>
            </a:r>
            <a:r>
              <a:rPr lang="en-US" dirty="0" err="1"/>
              <a:t>tanh</a:t>
            </a:r>
            <a:r>
              <a:rPr lang="en-US" dirty="0"/>
              <a:t> and </a:t>
            </a:r>
            <a:r>
              <a:rPr lang="en-US" dirty="0" err="1"/>
              <a:t>ReLu</a:t>
            </a:r>
            <a:endParaRPr lang="en-US" dirty="0"/>
          </a:p>
        </p:txBody>
      </p:sp>
      <p:pic>
        <p:nvPicPr>
          <p:cNvPr id="5" name="Picture 4"/>
          <p:cNvPicPr>
            <a:picLocks noChangeAspect="1"/>
          </p:cNvPicPr>
          <p:nvPr/>
        </p:nvPicPr>
        <p:blipFill>
          <a:blip r:embed="rId2"/>
          <a:stretch>
            <a:fillRect/>
          </a:stretch>
        </p:blipFill>
        <p:spPr>
          <a:xfrm>
            <a:off x="2589212" y="1368569"/>
            <a:ext cx="8658225" cy="1876425"/>
          </a:xfrm>
          <a:prstGeom prst="rect">
            <a:avLst/>
          </a:prstGeom>
        </p:spPr>
      </p:pic>
      <p:sp>
        <p:nvSpPr>
          <p:cNvPr id="4" name="Date Placeholder 3"/>
          <p:cNvSpPr>
            <a:spLocks noGrp="1"/>
          </p:cNvSpPr>
          <p:nvPr>
            <p:ph type="dt" sz="half" idx="10"/>
          </p:nvPr>
        </p:nvSpPr>
        <p:spPr/>
        <p:txBody>
          <a:bodyPr/>
          <a:lstStyle/>
          <a:p>
            <a:fld id="{1C92E6F9-8BAD-48F8-90FA-40E556435B38}" type="datetime1">
              <a:rPr lang="tr-TR" smtClean="0"/>
              <a:t>16.05.2025</a:t>
            </a:fld>
            <a:endParaRPr lang="tr-TR"/>
          </a:p>
        </p:txBody>
      </p:sp>
      <p:sp>
        <p:nvSpPr>
          <p:cNvPr id="6" name="Slide Number Placeholder 5"/>
          <p:cNvSpPr>
            <a:spLocks noGrp="1"/>
          </p:cNvSpPr>
          <p:nvPr>
            <p:ph type="sldNum" sz="quarter" idx="12"/>
          </p:nvPr>
        </p:nvSpPr>
        <p:spPr/>
        <p:txBody>
          <a:bodyPr/>
          <a:lstStyle/>
          <a:p>
            <a:fld id="{4C61373B-6CD7-433C-9DE2-D4B638969085}" type="slidenum">
              <a:rPr lang="tr-TR" smtClean="0"/>
              <a:t>52</a:t>
            </a:fld>
            <a:endParaRPr lang="tr-TR"/>
          </a:p>
        </p:txBody>
      </p:sp>
    </p:spTree>
    <p:extLst>
      <p:ext uri="{BB962C8B-B14F-4D97-AF65-F5344CB8AC3E}">
        <p14:creationId xmlns:p14="http://schemas.microsoft.com/office/powerpoint/2010/main" val="20881789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b="1" i="1" dirty="0"/>
              <a:t>AlexNet</a:t>
            </a:r>
            <a:endParaRPr lang="en-US" dirty="0"/>
          </a:p>
        </p:txBody>
      </p:sp>
      <p:sp>
        <p:nvSpPr>
          <p:cNvPr id="3" name="Content Placeholder 2"/>
          <p:cNvSpPr>
            <a:spLocks noGrp="1"/>
          </p:cNvSpPr>
          <p:nvPr>
            <p:ph idx="1"/>
          </p:nvPr>
        </p:nvSpPr>
        <p:spPr>
          <a:xfrm>
            <a:off x="2589212" y="2147454"/>
            <a:ext cx="8915400" cy="4502727"/>
          </a:xfrm>
        </p:spPr>
        <p:txBody>
          <a:bodyPr/>
          <a:lstStyle/>
          <a:p>
            <a:endParaRPr lang="tr-TR" dirty="0"/>
          </a:p>
          <a:p>
            <a:endParaRPr lang="tr-TR" dirty="0"/>
          </a:p>
          <a:p>
            <a:endParaRPr lang="tr-TR" dirty="0"/>
          </a:p>
          <a:p>
            <a:endParaRPr lang="tr-TR" dirty="0"/>
          </a:p>
          <a:p>
            <a:endParaRPr lang="tr-TR" dirty="0"/>
          </a:p>
          <a:p>
            <a:endParaRPr lang="tr-TR" dirty="0"/>
          </a:p>
          <a:p>
            <a:endParaRPr lang="tr-TR" dirty="0"/>
          </a:p>
          <a:p>
            <a:r>
              <a:rPr lang="en-US" dirty="0"/>
              <a:t>This network is similar to LeNet-5 with just more convolution and pooling layers:</a:t>
            </a:r>
          </a:p>
          <a:p>
            <a:r>
              <a:rPr lang="en-US" b="1" dirty="0"/>
              <a:t>Parameters:</a:t>
            </a:r>
            <a:r>
              <a:rPr lang="en-US" dirty="0"/>
              <a:t> 60 million</a:t>
            </a:r>
          </a:p>
          <a:p>
            <a:r>
              <a:rPr lang="en-US" b="1" dirty="0"/>
              <a:t>Activation function:</a:t>
            </a:r>
            <a:r>
              <a:rPr lang="en-US" dirty="0"/>
              <a:t> </a:t>
            </a:r>
            <a:r>
              <a:rPr lang="en-US" dirty="0" err="1"/>
              <a:t>ReLu</a:t>
            </a:r>
            <a:endParaRPr lang="en-US" dirty="0"/>
          </a:p>
        </p:txBody>
      </p:sp>
      <p:pic>
        <p:nvPicPr>
          <p:cNvPr id="4" name="Picture 3"/>
          <p:cNvPicPr>
            <a:picLocks noChangeAspect="1"/>
          </p:cNvPicPr>
          <p:nvPr/>
        </p:nvPicPr>
        <p:blipFill>
          <a:blip r:embed="rId2"/>
          <a:stretch>
            <a:fillRect/>
          </a:stretch>
        </p:blipFill>
        <p:spPr>
          <a:xfrm>
            <a:off x="2589212" y="1264555"/>
            <a:ext cx="8820150" cy="3333750"/>
          </a:xfrm>
          <a:prstGeom prst="rect">
            <a:avLst/>
          </a:prstGeom>
        </p:spPr>
      </p:pic>
      <p:sp>
        <p:nvSpPr>
          <p:cNvPr id="5" name="Date Placeholder 4"/>
          <p:cNvSpPr>
            <a:spLocks noGrp="1"/>
          </p:cNvSpPr>
          <p:nvPr>
            <p:ph type="dt" sz="half" idx="10"/>
          </p:nvPr>
        </p:nvSpPr>
        <p:spPr/>
        <p:txBody>
          <a:bodyPr/>
          <a:lstStyle/>
          <a:p>
            <a:fld id="{B4A2D707-CEE1-4550-87B5-5FB78CB31CF0}" type="datetime1">
              <a:rPr lang="tr-TR" smtClean="0"/>
              <a:t>16.05.2025</a:t>
            </a:fld>
            <a:endParaRPr lang="tr-TR"/>
          </a:p>
        </p:txBody>
      </p:sp>
      <p:sp>
        <p:nvSpPr>
          <p:cNvPr id="6" name="Slide Number Placeholder 5"/>
          <p:cNvSpPr>
            <a:spLocks noGrp="1"/>
          </p:cNvSpPr>
          <p:nvPr>
            <p:ph type="sldNum" sz="quarter" idx="12"/>
          </p:nvPr>
        </p:nvSpPr>
        <p:spPr/>
        <p:txBody>
          <a:bodyPr/>
          <a:lstStyle/>
          <a:p>
            <a:fld id="{4C61373B-6CD7-433C-9DE2-D4B638969085}" type="slidenum">
              <a:rPr lang="tr-TR" smtClean="0"/>
              <a:t>53</a:t>
            </a:fld>
            <a:endParaRPr lang="tr-TR"/>
          </a:p>
        </p:txBody>
      </p:sp>
    </p:spTree>
    <p:extLst>
      <p:ext uri="{BB962C8B-B14F-4D97-AF65-F5344CB8AC3E}">
        <p14:creationId xmlns:p14="http://schemas.microsoft.com/office/powerpoint/2010/main" val="13519346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92072"/>
          </a:xfrm>
        </p:spPr>
        <p:txBody>
          <a:bodyPr/>
          <a:lstStyle/>
          <a:p>
            <a:r>
              <a:rPr lang="tr-TR" b="1" i="1" dirty="0"/>
              <a:t>VGG-16</a:t>
            </a:r>
            <a:endParaRPr lang="en-US" dirty="0"/>
          </a:p>
        </p:txBody>
      </p:sp>
      <p:sp>
        <p:nvSpPr>
          <p:cNvPr id="3" name="Content Placeholder 2"/>
          <p:cNvSpPr>
            <a:spLocks noGrp="1"/>
          </p:cNvSpPr>
          <p:nvPr>
            <p:ph idx="1"/>
          </p:nvPr>
        </p:nvSpPr>
        <p:spPr>
          <a:xfrm>
            <a:off x="2272145" y="1316182"/>
            <a:ext cx="9587346" cy="5320146"/>
          </a:xfrm>
        </p:spPr>
        <p:txBody>
          <a:bodyPr>
            <a:normAutofit lnSpcReduction="10000"/>
          </a:bodyPr>
          <a:lstStyle/>
          <a:p>
            <a:r>
              <a:rPr lang="en-US" dirty="0"/>
              <a:t>The underlying idea behind VGG-16 was to use a much simpler network where the focus is on having convolution layers that have 3 X 3 filters with a stride of 1 (and always using the same padding). The max pool layer is used after each convolution layer with a filter size of 2 and a stride of 2. Let’s look at the architecture of VGG-16:</a:t>
            </a:r>
            <a:endParaRPr lang="tr-TR" dirty="0"/>
          </a:p>
          <a:p>
            <a:endParaRPr lang="tr-TR" dirty="0"/>
          </a:p>
          <a:p>
            <a:endParaRPr lang="tr-TR" dirty="0"/>
          </a:p>
          <a:p>
            <a:endParaRPr lang="tr-TR" dirty="0"/>
          </a:p>
          <a:p>
            <a:endParaRPr lang="tr-TR" dirty="0"/>
          </a:p>
          <a:p>
            <a:endParaRPr lang="tr-TR" dirty="0"/>
          </a:p>
          <a:p>
            <a:endParaRPr lang="tr-TR" dirty="0"/>
          </a:p>
          <a:p>
            <a:endParaRPr lang="tr-TR" dirty="0"/>
          </a:p>
          <a:p>
            <a:r>
              <a:rPr lang="en-US" dirty="0"/>
              <a:t>As it is a bigger network, the number of parameters are also more.</a:t>
            </a:r>
          </a:p>
          <a:p>
            <a:r>
              <a:rPr lang="en-US" b="1" dirty="0"/>
              <a:t>Parameters:</a:t>
            </a:r>
            <a:r>
              <a:rPr lang="en-US" dirty="0"/>
              <a:t> 138 million</a:t>
            </a:r>
          </a:p>
          <a:p>
            <a:r>
              <a:rPr lang="en-US" dirty="0"/>
              <a:t>These are three classic architectures. Next, we’ll look at more advanced architecture starting with </a:t>
            </a:r>
            <a:r>
              <a:rPr lang="en-US" dirty="0" err="1"/>
              <a:t>ResNet</a:t>
            </a:r>
            <a:r>
              <a:rPr lang="en-US" dirty="0"/>
              <a:t>.</a:t>
            </a:r>
          </a:p>
          <a:p>
            <a:endParaRPr lang="en-US" dirty="0"/>
          </a:p>
        </p:txBody>
      </p:sp>
      <p:pic>
        <p:nvPicPr>
          <p:cNvPr id="5" name="Picture 4"/>
          <p:cNvPicPr>
            <a:picLocks noChangeAspect="1"/>
          </p:cNvPicPr>
          <p:nvPr/>
        </p:nvPicPr>
        <p:blipFill>
          <a:blip r:embed="rId2"/>
          <a:stretch>
            <a:fillRect/>
          </a:stretch>
        </p:blipFill>
        <p:spPr>
          <a:xfrm>
            <a:off x="3781693" y="2597072"/>
            <a:ext cx="6534150" cy="2657475"/>
          </a:xfrm>
          <a:prstGeom prst="rect">
            <a:avLst/>
          </a:prstGeom>
        </p:spPr>
      </p:pic>
      <p:sp>
        <p:nvSpPr>
          <p:cNvPr id="4" name="Date Placeholder 3"/>
          <p:cNvSpPr>
            <a:spLocks noGrp="1"/>
          </p:cNvSpPr>
          <p:nvPr>
            <p:ph type="dt" sz="half" idx="10"/>
          </p:nvPr>
        </p:nvSpPr>
        <p:spPr/>
        <p:txBody>
          <a:bodyPr/>
          <a:lstStyle/>
          <a:p>
            <a:fld id="{4F87A405-2A9B-4130-B59A-68E0EB0D7412}" type="datetime1">
              <a:rPr lang="tr-TR" smtClean="0"/>
              <a:t>16.05.2025</a:t>
            </a:fld>
            <a:endParaRPr lang="tr-TR"/>
          </a:p>
        </p:txBody>
      </p:sp>
      <p:sp>
        <p:nvSpPr>
          <p:cNvPr id="6" name="Slide Number Placeholder 5"/>
          <p:cNvSpPr>
            <a:spLocks noGrp="1"/>
          </p:cNvSpPr>
          <p:nvPr>
            <p:ph type="sldNum" sz="quarter" idx="12"/>
          </p:nvPr>
        </p:nvSpPr>
        <p:spPr/>
        <p:txBody>
          <a:bodyPr/>
          <a:lstStyle/>
          <a:p>
            <a:fld id="{4C61373B-6CD7-433C-9DE2-D4B638969085}" type="slidenum">
              <a:rPr lang="tr-TR" smtClean="0"/>
              <a:t>54</a:t>
            </a:fld>
            <a:endParaRPr lang="tr-TR"/>
          </a:p>
        </p:txBody>
      </p:sp>
    </p:spTree>
    <p:extLst>
      <p:ext uri="{BB962C8B-B14F-4D97-AF65-F5344CB8AC3E}">
        <p14:creationId xmlns:p14="http://schemas.microsoft.com/office/powerpoint/2010/main" val="33231662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b="1" dirty="0"/>
              <a:t>ResNet</a:t>
            </a:r>
            <a:br>
              <a:rPr lang="tr-TR" b="1" dirty="0"/>
            </a:br>
            <a:endParaRPr lang="en-US" dirty="0"/>
          </a:p>
        </p:txBody>
      </p:sp>
      <p:sp>
        <p:nvSpPr>
          <p:cNvPr id="3" name="Content Placeholder 2"/>
          <p:cNvSpPr>
            <a:spLocks noGrp="1"/>
          </p:cNvSpPr>
          <p:nvPr>
            <p:ph idx="1"/>
          </p:nvPr>
        </p:nvSpPr>
        <p:spPr/>
        <p:txBody>
          <a:bodyPr/>
          <a:lstStyle/>
          <a:p>
            <a:r>
              <a:rPr lang="en-US" dirty="0"/>
              <a:t>Training very deep networks can lead to problems like vanishing and exploding gradients. </a:t>
            </a:r>
            <a:endParaRPr lang="tr-TR" dirty="0"/>
          </a:p>
          <a:p>
            <a:r>
              <a:rPr lang="en-US" dirty="0"/>
              <a:t>How do we deal with these issues? </a:t>
            </a:r>
            <a:endParaRPr lang="tr-TR" dirty="0"/>
          </a:p>
          <a:p>
            <a:r>
              <a:rPr lang="en-US" dirty="0"/>
              <a:t>We can use skip connections where we take activations from one layer and feed it to another layer that is even more deeper in the network. </a:t>
            </a:r>
            <a:endParaRPr lang="tr-TR" dirty="0"/>
          </a:p>
          <a:p>
            <a:r>
              <a:rPr lang="en-US" dirty="0"/>
              <a:t>There are residual blocks in </a:t>
            </a:r>
            <a:r>
              <a:rPr lang="en-US" dirty="0" err="1"/>
              <a:t>ResNet</a:t>
            </a:r>
            <a:r>
              <a:rPr lang="en-US" dirty="0"/>
              <a:t> which help in training deeper networks.</a:t>
            </a:r>
          </a:p>
        </p:txBody>
      </p:sp>
      <p:sp>
        <p:nvSpPr>
          <p:cNvPr id="4" name="Date Placeholder 3"/>
          <p:cNvSpPr>
            <a:spLocks noGrp="1"/>
          </p:cNvSpPr>
          <p:nvPr>
            <p:ph type="dt" sz="half" idx="10"/>
          </p:nvPr>
        </p:nvSpPr>
        <p:spPr/>
        <p:txBody>
          <a:bodyPr/>
          <a:lstStyle/>
          <a:p>
            <a:fld id="{289529FB-88F0-4BB7-95F7-EF7D6D446C1F}"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55</a:t>
            </a:fld>
            <a:endParaRPr lang="tr-TR"/>
          </a:p>
        </p:txBody>
      </p:sp>
    </p:spTree>
    <p:extLst>
      <p:ext uri="{BB962C8B-B14F-4D97-AF65-F5344CB8AC3E}">
        <p14:creationId xmlns:p14="http://schemas.microsoft.com/office/powerpoint/2010/main" val="6259769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b="1" i="1" dirty="0"/>
              <a:t>Residual Blocks</a:t>
            </a:r>
            <a:endParaRPr lang="en-US" dirty="0"/>
          </a:p>
        </p:txBody>
      </p:sp>
      <p:sp>
        <p:nvSpPr>
          <p:cNvPr id="3" name="Content Placeholder 2"/>
          <p:cNvSpPr>
            <a:spLocks noGrp="1"/>
          </p:cNvSpPr>
          <p:nvPr>
            <p:ph idx="1"/>
          </p:nvPr>
        </p:nvSpPr>
        <p:spPr/>
        <p:txBody>
          <a:bodyPr/>
          <a:lstStyle/>
          <a:p>
            <a:r>
              <a:rPr lang="en-US" dirty="0"/>
              <a:t>The general flow to calculate activations from different layers can be given as:</a:t>
            </a:r>
          </a:p>
        </p:txBody>
      </p:sp>
      <p:pic>
        <p:nvPicPr>
          <p:cNvPr id="4" name="Picture 3"/>
          <p:cNvPicPr>
            <a:picLocks noChangeAspect="1"/>
          </p:cNvPicPr>
          <p:nvPr/>
        </p:nvPicPr>
        <p:blipFill>
          <a:blip r:embed="rId2"/>
          <a:stretch>
            <a:fillRect/>
          </a:stretch>
        </p:blipFill>
        <p:spPr>
          <a:xfrm>
            <a:off x="4743221" y="2750654"/>
            <a:ext cx="3336500" cy="1233054"/>
          </a:xfrm>
          <a:prstGeom prst="rect">
            <a:avLst/>
          </a:prstGeom>
        </p:spPr>
      </p:pic>
      <p:pic>
        <p:nvPicPr>
          <p:cNvPr id="5" name="Picture 4"/>
          <p:cNvPicPr>
            <a:picLocks noChangeAspect="1"/>
          </p:cNvPicPr>
          <p:nvPr/>
        </p:nvPicPr>
        <p:blipFill>
          <a:blip r:embed="rId3"/>
          <a:stretch>
            <a:fillRect/>
          </a:stretch>
        </p:blipFill>
        <p:spPr>
          <a:xfrm>
            <a:off x="4743221" y="4212308"/>
            <a:ext cx="3010356" cy="1698914"/>
          </a:xfrm>
          <a:prstGeom prst="rect">
            <a:avLst/>
          </a:prstGeom>
        </p:spPr>
      </p:pic>
      <p:sp>
        <p:nvSpPr>
          <p:cNvPr id="6" name="Date Placeholder 5"/>
          <p:cNvSpPr>
            <a:spLocks noGrp="1"/>
          </p:cNvSpPr>
          <p:nvPr>
            <p:ph type="dt" sz="half" idx="10"/>
          </p:nvPr>
        </p:nvSpPr>
        <p:spPr/>
        <p:txBody>
          <a:bodyPr/>
          <a:lstStyle/>
          <a:p>
            <a:fld id="{CF3D3FCC-7BA8-4AC5-A440-7EC8F244F49F}" type="datetime1">
              <a:rPr lang="tr-TR" smtClean="0"/>
              <a:t>16.05.2025</a:t>
            </a:fld>
            <a:endParaRPr lang="tr-TR"/>
          </a:p>
        </p:txBody>
      </p:sp>
      <p:sp>
        <p:nvSpPr>
          <p:cNvPr id="7" name="Slide Number Placeholder 6"/>
          <p:cNvSpPr>
            <a:spLocks noGrp="1"/>
          </p:cNvSpPr>
          <p:nvPr>
            <p:ph type="sldNum" sz="quarter" idx="12"/>
          </p:nvPr>
        </p:nvSpPr>
        <p:spPr/>
        <p:txBody>
          <a:bodyPr/>
          <a:lstStyle/>
          <a:p>
            <a:fld id="{4C61373B-6CD7-433C-9DE2-D4B638969085}" type="slidenum">
              <a:rPr lang="tr-TR" smtClean="0"/>
              <a:t>56</a:t>
            </a:fld>
            <a:endParaRPr lang="tr-TR"/>
          </a:p>
        </p:txBody>
      </p:sp>
    </p:spTree>
    <p:extLst>
      <p:ext uri="{BB962C8B-B14F-4D97-AF65-F5344CB8AC3E}">
        <p14:creationId xmlns:p14="http://schemas.microsoft.com/office/powerpoint/2010/main" val="21514117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748145"/>
            <a:ext cx="8915400" cy="5694219"/>
          </a:xfrm>
        </p:spPr>
        <p:txBody>
          <a:bodyPr/>
          <a:lstStyle/>
          <a:p>
            <a:r>
              <a:rPr lang="en-US" dirty="0"/>
              <a:t>This is how we calculate the activations a</a:t>
            </a:r>
            <a:r>
              <a:rPr lang="en-US" baseline="30000" dirty="0"/>
              <a:t>[l+2]</a:t>
            </a:r>
            <a:r>
              <a:rPr lang="en-US" dirty="0"/>
              <a:t> using the activations a</a:t>
            </a:r>
            <a:r>
              <a:rPr lang="en-US" baseline="30000" dirty="0"/>
              <a:t>[l]</a:t>
            </a:r>
            <a:r>
              <a:rPr lang="en-US" dirty="0"/>
              <a:t> and then a</a:t>
            </a:r>
            <a:r>
              <a:rPr lang="en-US" baseline="30000" dirty="0"/>
              <a:t>[l+1]</a:t>
            </a:r>
            <a:r>
              <a:rPr lang="en-US" dirty="0"/>
              <a:t>. a</a:t>
            </a:r>
            <a:r>
              <a:rPr lang="en-US" baseline="30000" dirty="0"/>
              <a:t>[l]</a:t>
            </a:r>
            <a:r>
              <a:rPr lang="en-US" dirty="0"/>
              <a:t> needs to go through all these steps to generate a</a:t>
            </a:r>
            <a:r>
              <a:rPr lang="en-US" baseline="30000" dirty="0"/>
              <a:t>[l+2]</a:t>
            </a:r>
            <a:r>
              <a:rPr lang="en-US" dirty="0"/>
              <a:t>:</a:t>
            </a:r>
            <a:endParaRPr lang="tr-TR" dirty="0"/>
          </a:p>
          <a:p>
            <a:endParaRPr lang="tr-TR" dirty="0"/>
          </a:p>
          <a:p>
            <a:endParaRPr lang="tr-TR" dirty="0"/>
          </a:p>
          <a:p>
            <a:endParaRPr lang="tr-TR" dirty="0"/>
          </a:p>
          <a:p>
            <a:r>
              <a:rPr lang="tr-TR" dirty="0"/>
              <a:t>I</a:t>
            </a:r>
            <a:r>
              <a:rPr lang="en-US" dirty="0"/>
              <a:t>n a residual network, we make a change in this path. We take the activations a</a:t>
            </a:r>
            <a:r>
              <a:rPr lang="en-US" baseline="30000" dirty="0"/>
              <a:t>[l]</a:t>
            </a:r>
            <a:r>
              <a:rPr lang="en-US" dirty="0"/>
              <a:t> and pass them directly to the second layer:</a:t>
            </a:r>
            <a:endParaRPr lang="tr-TR" dirty="0"/>
          </a:p>
          <a:p>
            <a:endParaRPr lang="tr-TR" dirty="0"/>
          </a:p>
          <a:p>
            <a:endParaRPr lang="tr-TR" dirty="0"/>
          </a:p>
          <a:p>
            <a:endParaRPr lang="tr-TR" dirty="0"/>
          </a:p>
          <a:p>
            <a:endParaRPr lang="tr-TR" dirty="0"/>
          </a:p>
          <a:p>
            <a:r>
              <a:rPr lang="en-US" dirty="0"/>
              <a:t>So, the activations a</a:t>
            </a:r>
            <a:r>
              <a:rPr lang="en-US" baseline="30000" dirty="0"/>
              <a:t>[l+2]</a:t>
            </a:r>
            <a:r>
              <a:rPr lang="en-US" dirty="0"/>
              <a:t> will be:</a:t>
            </a:r>
            <a:endParaRPr lang="tr-TR" dirty="0"/>
          </a:p>
          <a:p>
            <a:endParaRPr lang="tr-TR" dirty="0"/>
          </a:p>
          <a:p>
            <a:pPr marL="0" indent="0" algn="ctr">
              <a:buNone/>
            </a:pPr>
            <a:r>
              <a:rPr lang="tr-TR" b="1" dirty="0">
                <a:solidFill>
                  <a:srgbClr val="FF0000"/>
                </a:solidFill>
              </a:rPr>
              <a:t>a</a:t>
            </a:r>
            <a:r>
              <a:rPr lang="tr-TR" b="1" baseline="30000" dirty="0">
                <a:solidFill>
                  <a:srgbClr val="FF0000"/>
                </a:solidFill>
              </a:rPr>
              <a:t>[l+2]</a:t>
            </a:r>
            <a:r>
              <a:rPr lang="tr-TR" b="1" dirty="0">
                <a:solidFill>
                  <a:srgbClr val="FF0000"/>
                </a:solidFill>
              </a:rPr>
              <a:t> = g(z</a:t>
            </a:r>
            <a:r>
              <a:rPr lang="tr-TR" b="1" baseline="30000" dirty="0">
                <a:solidFill>
                  <a:srgbClr val="FF0000"/>
                </a:solidFill>
              </a:rPr>
              <a:t>[l+2]</a:t>
            </a:r>
            <a:r>
              <a:rPr lang="tr-TR" b="1" dirty="0">
                <a:solidFill>
                  <a:srgbClr val="FF0000"/>
                </a:solidFill>
              </a:rPr>
              <a:t> + a</a:t>
            </a:r>
            <a:r>
              <a:rPr lang="tr-TR" b="1" baseline="30000" dirty="0">
                <a:solidFill>
                  <a:srgbClr val="FF0000"/>
                </a:solidFill>
              </a:rPr>
              <a:t>[l]</a:t>
            </a:r>
            <a:r>
              <a:rPr lang="tr-TR" b="1" dirty="0">
                <a:solidFill>
                  <a:srgbClr val="FF0000"/>
                </a:solidFill>
              </a:rPr>
              <a:t>)</a:t>
            </a:r>
            <a:endParaRPr lang="en-US" b="1" dirty="0">
              <a:solidFill>
                <a:srgbClr val="FF0000"/>
              </a:solidFill>
            </a:endParaRPr>
          </a:p>
        </p:txBody>
      </p:sp>
      <p:pic>
        <p:nvPicPr>
          <p:cNvPr id="4" name="Picture 3"/>
          <p:cNvPicPr>
            <a:picLocks noChangeAspect="1"/>
          </p:cNvPicPr>
          <p:nvPr/>
        </p:nvPicPr>
        <p:blipFill>
          <a:blip r:embed="rId2"/>
          <a:stretch>
            <a:fillRect/>
          </a:stretch>
        </p:blipFill>
        <p:spPr>
          <a:xfrm>
            <a:off x="2473037" y="1413164"/>
            <a:ext cx="8603670" cy="872836"/>
          </a:xfrm>
          <a:prstGeom prst="rect">
            <a:avLst/>
          </a:prstGeom>
        </p:spPr>
      </p:pic>
      <p:pic>
        <p:nvPicPr>
          <p:cNvPr id="5" name="Picture 4"/>
          <p:cNvPicPr>
            <a:picLocks noChangeAspect="1"/>
          </p:cNvPicPr>
          <p:nvPr/>
        </p:nvPicPr>
        <p:blipFill>
          <a:blip r:embed="rId3"/>
          <a:stretch>
            <a:fillRect/>
          </a:stretch>
        </p:blipFill>
        <p:spPr>
          <a:xfrm>
            <a:off x="2453987" y="3482453"/>
            <a:ext cx="8622720" cy="939978"/>
          </a:xfrm>
          <a:prstGeom prst="rect">
            <a:avLst/>
          </a:prstGeom>
        </p:spPr>
      </p:pic>
      <p:sp>
        <p:nvSpPr>
          <p:cNvPr id="6" name="Date Placeholder 5"/>
          <p:cNvSpPr>
            <a:spLocks noGrp="1"/>
          </p:cNvSpPr>
          <p:nvPr>
            <p:ph type="dt" sz="half" idx="10"/>
          </p:nvPr>
        </p:nvSpPr>
        <p:spPr/>
        <p:txBody>
          <a:bodyPr/>
          <a:lstStyle/>
          <a:p>
            <a:fld id="{668908AC-F584-4FAF-85FD-EE322CDCE0C8}" type="datetime1">
              <a:rPr lang="tr-TR" smtClean="0"/>
              <a:t>16.05.2025</a:t>
            </a:fld>
            <a:endParaRPr lang="tr-TR"/>
          </a:p>
        </p:txBody>
      </p:sp>
      <p:sp>
        <p:nvSpPr>
          <p:cNvPr id="7" name="Slide Number Placeholder 6"/>
          <p:cNvSpPr>
            <a:spLocks noGrp="1"/>
          </p:cNvSpPr>
          <p:nvPr>
            <p:ph type="sldNum" sz="quarter" idx="12"/>
          </p:nvPr>
        </p:nvSpPr>
        <p:spPr/>
        <p:txBody>
          <a:bodyPr/>
          <a:lstStyle/>
          <a:p>
            <a:fld id="{4C61373B-6CD7-433C-9DE2-D4B638969085}" type="slidenum">
              <a:rPr lang="tr-TR" smtClean="0"/>
              <a:t>57</a:t>
            </a:fld>
            <a:endParaRPr lang="tr-TR"/>
          </a:p>
        </p:txBody>
      </p:sp>
    </p:spTree>
    <p:extLst>
      <p:ext uri="{BB962C8B-B14F-4D97-AF65-F5344CB8AC3E}">
        <p14:creationId xmlns:p14="http://schemas.microsoft.com/office/powerpoint/2010/main" val="30244499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609599"/>
            <a:ext cx="8915400" cy="5971309"/>
          </a:xfrm>
        </p:spPr>
        <p:txBody>
          <a:bodyPr/>
          <a:lstStyle/>
          <a:p>
            <a:r>
              <a:rPr lang="en-US" dirty="0"/>
              <a:t>The residual network can be shown as:</a:t>
            </a:r>
            <a:endParaRPr lang="tr-TR" dirty="0"/>
          </a:p>
          <a:p>
            <a:endParaRPr lang="tr-TR" dirty="0"/>
          </a:p>
          <a:p>
            <a:endParaRPr lang="tr-TR" dirty="0"/>
          </a:p>
          <a:p>
            <a:endParaRPr lang="tr-TR" dirty="0"/>
          </a:p>
          <a:p>
            <a:endParaRPr lang="tr-TR" dirty="0"/>
          </a:p>
          <a:p>
            <a:endParaRPr lang="tr-TR" dirty="0"/>
          </a:p>
          <a:p>
            <a:pPr marL="0" indent="0">
              <a:buNone/>
            </a:pPr>
            <a:r>
              <a:rPr lang="en-US" b="1" dirty="0"/>
              <a:t>The benefit of training a residual network is that even if we train deeper networks, the training error does not increase.</a:t>
            </a:r>
            <a:r>
              <a:rPr lang="en-US" dirty="0"/>
              <a:t> Whereas in case of a plain network, the training error first decreases as we train a deeper network and then starts to rapidly increase:</a:t>
            </a:r>
          </a:p>
        </p:txBody>
      </p:sp>
      <p:pic>
        <p:nvPicPr>
          <p:cNvPr id="4" name="Picture 3"/>
          <p:cNvPicPr>
            <a:picLocks noChangeAspect="1"/>
          </p:cNvPicPr>
          <p:nvPr/>
        </p:nvPicPr>
        <p:blipFill>
          <a:blip r:embed="rId2"/>
          <a:stretch>
            <a:fillRect/>
          </a:stretch>
        </p:blipFill>
        <p:spPr>
          <a:xfrm>
            <a:off x="2589212" y="1168112"/>
            <a:ext cx="8020050" cy="1390650"/>
          </a:xfrm>
          <a:prstGeom prst="rect">
            <a:avLst/>
          </a:prstGeom>
        </p:spPr>
      </p:pic>
      <p:pic>
        <p:nvPicPr>
          <p:cNvPr id="5" name="Picture 4"/>
          <p:cNvPicPr>
            <a:picLocks noChangeAspect="1"/>
          </p:cNvPicPr>
          <p:nvPr/>
        </p:nvPicPr>
        <p:blipFill>
          <a:blip r:embed="rId3"/>
          <a:stretch>
            <a:fillRect/>
          </a:stretch>
        </p:blipFill>
        <p:spPr>
          <a:xfrm>
            <a:off x="4232274" y="4270663"/>
            <a:ext cx="4733925" cy="2057400"/>
          </a:xfrm>
          <a:prstGeom prst="rect">
            <a:avLst/>
          </a:prstGeom>
        </p:spPr>
      </p:pic>
      <p:sp>
        <p:nvSpPr>
          <p:cNvPr id="6" name="Date Placeholder 5"/>
          <p:cNvSpPr>
            <a:spLocks noGrp="1"/>
          </p:cNvSpPr>
          <p:nvPr>
            <p:ph type="dt" sz="half" idx="10"/>
          </p:nvPr>
        </p:nvSpPr>
        <p:spPr/>
        <p:txBody>
          <a:bodyPr/>
          <a:lstStyle/>
          <a:p>
            <a:fld id="{CC381E24-3CEF-409E-8DC6-8CF6EBADB684}" type="datetime1">
              <a:rPr lang="tr-TR" smtClean="0"/>
              <a:t>16.05.2025</a:t>
            </a:fld>
            <a:endParaRPr lang="tr-TR"/>
          </a:p>
        </p:txBody>
      </p:sp>
      <p:sp>
        <p:nvSpPr>
          <p:cNvPr id="7" name="Slide Number Placeholder 6"/>
          <p:cNvSpPr>
            <a:spLocks noGrp="1"/>
          </p:cNvSpPr>
          <p:nvPr>
            <p:ph type="sldNum" sz="quarter" idx="12"/>
          </p:nvPr>
        </p:nvSpPr>
        <p:spPr/>
        <p:txBody>
          <a:bodyPr/>
          <a:lstStyle/>
          <a:p>
            <a:fld id="{4C61373B-6CD7-433C-9DE2-D4B638969085}" type="slidenum">
              <a:rPr lang="tr-TR" smtClean="0"/>
              <a:t>58</a:t>
            </a:fld>
            <a:endParaRPr lang="tr-TR"/>
          </a:p>
        </p:txBody>
      </p:sp>
    </p:spTree>
    <p:extLst>
      <p:ext uri="{BB962C8B-B14F-4D97-AF65-F5344CB8AC3E}">
        <p14:creationId xmlns:p14="http://schemas.microsoft.com/office/powerpoint/2010/main" val="16482051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b="1" dirty="0"/>
              <a:t>Why ResNets Work?</a:t>
            </a:r>
            <a:br>
              <a:rPr lang="tr-TR" b="1" dirty="0"/>
            </a:br>
            <a:endParaRPr lang="en-US" dirty="0"/>
          </a:p>
        </p:txBody>
      </p:sp>
      <p:sp>
        <p:nvSpPr>
          <p:cNvPr id="3" name="Content Placeholder 2"/>
          <p:cNvSpPr>
            <a:spLocks noGrp="1"/>
          </p:cNvSpPr>
          <p:nvPr>
            <p:ph idx="1"/>
          </p:nvPr>
        </p:nvSpPr>
        <p:spPr/>
        <p:txBody>
          <a:bodyPr/>
          <a:lstStyle/>
          <a:p>
            <a:r>
              <a:rPr lang="en-US" dirty="0"/>
              <a:t>In order to make a good model, we first have to make sure that it’s performance on the training data is good. </a:t>
            </a:r>
            <a:endParaRPr lang="tr-TR" dirty="0"/>
          </a:p>
          <a:p>
            <a:r>
              <a:rPr lang="en-US" dirty="0"/>
              <a:t>That’s the first test and there really is no point in moving forward if our model fails here. </a:t>
            </a:r>
            <a:endParaRPr lang="tr-TR" dirty="0"/>
          </a:p>
          <a:p>
            <a:r>
              <a:rPr lang="en-US" dirty="0"/>
              <a:t>We have seen earlier that training deeper networks using a plain network increases the training error after a point of time. </a:t>
            </a:r>
            <a:endParaRPr lang="tr-TR" dirty="0"/>
          </a:p>
          <a:p>
            <a:r>
              <a:rPr lang="en-US" dirty="0"/>
              <a:t>But while training a residual network, this isn’t the case. </a:t>
            </a:r>
            <a:endParaRPr lang="tr-TR" dirty="0"/>
          </a:p>
          <a:p>
            <a:r>
              <a:rPr lang="en-US" dirty="0"/>
              <a:t>Even when we build a deeper residual network, the training error generally does not increase.</a:t>
            </a:r>
          </a:p>
        </p:txBody>
      </p:sp>
      <p:sp>
        <p:nvSpPr>
          <p:cNvPr id="4" name="Date Placeholder 3"/>
          <p:cNvSpPr>
            <a:spLocks noGrp="1"/>
          </p:cNvSpPr>
          <p:nvPr>
            <p:ph type="dt" sz="half" idx="10"/>
          </p:nvPr>
        </p:nvSpPr>
        <p:spPr/>
        <p:txBody>
          <a:bodyPr/>
          <a:lstStyle/>
          <a:p>
            <a:fld id="{037980FF-9C8D-4C39-BDC2-6454951EDFDB}"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59</a:t>
            </a:fld>
            <a:endParaRPr lang="tr-TR"/>
          </a:p>
        </p:txBody>
      </p:sp>
    </p:spTree>
    <p:extLst>
      <p:ext uri="{BB962C8B-B14F-4D97-AF65-F5344CB8AC3E}">
        <p14:creationId xmlns:p14="http://schemas.microsoft.com/office/powerpoint/2010/main" val="7634490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484909"/>
            <a:ext cx="8915400" cy="5902036"/>
          </a:xfrm>
        </p:spPr>
        <p:txBody>
          <a:bodyPr/>
          <a:lstStyle/>
          <a:p>
            <a:r>
              <a:rPr lang="en-US" dirty="0"/>
              <a:t>The equation to calculate activation using a residual block is given by:</a:t>
            </a:r>
            <a:endParaRPr lang="tr-TR" dirty="0"/>
          </a:p>
          <a:p>
            <a:r>
              <a:rPr lang="en-US" dirty="0"/>
              <a:t>a</a:t>
            </a:r>
            <a:r>
              <a:rPr lang="en-US" baseline="30000" dirty="0"/>
              <a:t>[l+2]</a:t>
            </a:r>
            <a:r>
              <a:rPr lang="en-US" dirty="0"/>
              <a:t> = g(z</a:t>
            </a:r>
            <a:r>
              <a:rPr lang="en-US" baseline="30000" dirty="0"/>
              <a:t>[l+2]</a:t>
            </a:r>
            <a:r>
              <a:rPr lang="en-US" dirty="0"/>
              <a:t> + a</a:t>
            </a:r>
            <a:r>
              <a:rPr lang="en-US" baseline="30000" dirty="0"/>
              <a:t>[l]</a:t>
            </a:r>
            <a:r>
              <a:rPr lang="en-US" dirty="0"/>
              <a:t>)</a:t>
            </a:r>
            <a:br>
              <a:rPr lang="en-US" dirty="0"/>
            </a:br>
            <a:r>
              <a:rPr lang="en-US" dirty="0"/>
              <a:t>a</a:t>
            </a:r>
            <a:r>
              <a:rPr lang="en-US" baseline="30000" dirty="0"/>
              <a:t>[l+2]</a:t>
            </a:r>
            <a:r>
              <a:rPr lang="en-US" dirty="0"/>
              <a:t> = g(w</a:t>
            </a:r>
            <a:r>
              <a:rPr lang="en-US" baseline="30000" dirty="0"/>
              <a:t>[l+2]</a:t>
            </a:r>
            <a:r>
              <a:rPr lang="en-US" dirty="0"/>
              <a:t> * a</a:t>
            </a:r>
            <a:r>
              <a:rPr lang="en-US" baseline="30000" dirty="0"/>
              <a:t>[l+1]</a:t>
            </a:r>
            <a:r>
              <a:rPr lang="en-US" dirty="0"/>
              <a:t> + b</a:t>
            </a:r>
            <a:r>
              <a:rPr lang="en-US" baseline="30000" dirty="0"/>
              <a:t>[l+2]</a:t>
            </a:r>
            <a:r>
              <a:rPr lang="en-US" dirty="0"/>
              <a:t> + a</a:t>
            </a:r>
            <a:r>
              <a:rPr lang="en-US" baseline="30000" dirty="0"/>
              <a:t>[l]</a:t>
            </a:r>
            <a:r>
              <a:rPr lang="en-US" dirty="0"/>
              <a:t>)</a:t>
            </a:r>
          </a:p>
          <a:p>
            <a:r>
              <a:rPr lang="en-US" dirty="0"/>
              <a:t>Now, say w</a:t>
            </a:r>
            <a:r>
              <a:rPr lang="en-US" baseline="30000" dirty="0"/>
              <a:t>[l+2]</a:t>
            </a:r>
            <a:r>
              <a:rPr lang="en-US" dirty="0"/>
              <a:t> = 0 and the  bias b</a:t>
            </a:r>
            <a:r>
              <a:rPr lang="en-US" baseline="30000" dirty="0"/>
              <a:t>[l+2]</a:t>
            </a:r>
            <a:r>
              <a:rPr lang="en-US" dirty="0"/>
              <a:t> is also 0, then:</a:t>
            </a:r>
          </a:p>
          <a:p>
            <a:r>
              <a:rPr lang="en-US" dirty="0"/>
              <a:t>a</a:t>
            </a:r>
            <a:r>
              <a:rPr lang="en-US" baseline="30000" dirty="0"/>
              <a:t>[l+2]</a:t>
            </a:r>
            <a:r>
              <a:rPr lang="en-US" dirty="0"/>
              <a:t> = g(a</a:t>
            </a:r>
            <a:r>
              <a:rPr lang="en-US" baseline="30000" dirty="0"/>
              <a:t>[l]</a:t>
            </a:r>
            <a:r>
              <a:rPr lang="en-US" dirty="0"/>
              <a:t>)</a:t>
            </a:r>
          </a:p>
          <a:p>
            <a:r>
              <a:rPr lang="en-US" dirty="0"/>
              <a:t>It is fairly easy to calculate a</a:t>
            </a:r>
            <a:r>
              <a:rPr lang="en-US" baseline="30000" dirty="0"/>
              <a:t>[l+2]</a:t>
            </a:r>
            <a:r>
              <a:rPr lang="en-US" dirty="0"/>
              <a:t> knowing just the value of a</a:t>
            </a:r>
            <a:r>
              <a:rPr lang="en-US" baseline="30000" dirty="0"/>
              <a:t>[l]</a:t>
            </a:r>
            <a:r>
              <a:rPr lang="en-US" dirty="0"/>
              <a:t>. As per the </a:t>
            </a:r>
            <a:r>
              <a:rPr lang="en-US" u="sng" dirty="0">
                <a:hlinkClick r:id="rId2"/>
              </a:rPr>
              <a:t>research paper</a:t>
            </a:r>
            <a:r>
              <a:rPr lang="en-US" dirty="0"/>
              <a:t>, </a:t>
            </a:r>
            <a:r>
              <a:rPr lang="en-US" dirty="0" err="1"/>
              <a:t>ResNet</a:t>
            </a:r>
            <a:r>
              <a:rPr lang="en-US" dirty="0"/>
              <a:t> is given by:</a:t>
            </a:r>
          </a:p>
        </p:txBody>
      </p:sp>
      <p:pic>
        <p:nvPicPr>
          <p:cNvPr id="4" name="Picture 3"/>
          <p:cNvPicPr>
            <a:picLocks noChangeAspect="1"/>
          </p:cNvPicPr>
          <p:nvPr/>
        </p:nvPicPr>
        <p:blipFill>
          <a:blip r:embed="rId3"/>
          <a:stretch>
            <a:fillRect/>
          </a:stretch>
        </p:blipFill>
        <p:spPr>
          <a:xfrm>
            <a:off x="1524000" y="3337381"/>
            <a:ext cx="10224656" cy="2923838"/>
          </a:xfrm>
          <a:prstGeom prst="rect">
            <a:avLst/>
          </a:prstGeom>
        </p:spPr>
      </p:pic>
      <p:sp>
        <p:nvSpPr>
          <p:cNvPr id="5" name="Date Placeholder 4"/>
          <p:cNvSpPr>
            <a:spLocks noGrp="1"/>
          </p:cNvSpPr>
          <p:nvPr>
            <p:ph type="dt" sz="half" idx="10"/>
          </p:nvPr>
        </p:nvSpPr>
        <p:spPr/>
        <p:txBody>
          <a:bodyPr/>
          <a:lstStyle/>
          <a:p>
            <a:fld id="{D5653CC8-0729-4292-8BC9-98A27B3E692C}" type="datetime1">
              <a:rPr lang="tr-TR" smtClean="0"/>
              <a:t>16.05.2025</a:t>
            </a:fld>
            <a:endParaRPr lang="tr-TR"/>
          </a:p>
        </p:txBody>
      </p:sp>
      <p:sp>
        <p:nvSpPr>
          <p:cNvPr id="6" name="Slide Number Placeholder 5"/>
          <p:cNvSpPr>
            <a:spLocks noGrp="1"/>
          </p:cNvSpPr>
          <p:nvPr>
            <p:ph type="sldNum" sz="quarter" idx="12"/>
          </p:nvPr>
        </p:nvSpPr>
        <p:spPr/>
        <p:txBody>
          <a:bodyPr/>
          <a:lstStyle/>
          <a:p>
            <a:fld id="{4C61373B-6CD7-433C-9DE2-D4B638969085}" type="slidenum">
              <a:rPr lang="tr-TR" smtClean="0"/>
              <a:t>60</a:t>
            </a:fld>
            <a:endParaRPr lang="tr-TR"/>
          </a:p>
        </p:txBody>
      </p:sp>
    </p:spTree>
    <p:extLst>
      <p:ext uri="{BB962C8B-B14F-4D97-AF65-F5344CB8AC3E}">
        <p14:creationId xmlns:p14="http://schemas.microsoft.com/office/powerpoint/2010/main" val="21608222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Networks in Networks and 1×1 Convolutions</a:t>
            </a:r>
            <a:br>
              <a:rPr lang="en-US" b="1" dirty="0"/>
            </a:br>
            <a:endParaRPr lang="en-US" dirty="0"/>
          </a:p>
        </p:txBody>
      </p:sp>
      <p:sp>
        <p:nvSpPr>
          <p:cNvPr id="3" name="Content Placeholder 2"/>
          <p:cNvSpPr>
            <a:spLocks noGrp="1"/>
          </p:cNvSpPr>
          <p:nvPr>
            <p:ph idx="1"/>
          </p:nvPr>
        </p:nvSpPr>
        <p:spPr>
          <a:xfrm>
            <a:off x="2589212" y="1427017"/>
            <a:ext cx="8915400" cy="5056909"/>
          </a:xfrm>
        </p:spPr>
        <p:txBody>
          <a:bodyPr>
            <a:normAutofit lnSpcReduction="10000"/>
          </a:bodyPr>
          <a:lstStyle/>
          <a:p>
            <a:r>
              <a:rPr lang="en-US" dirty="0"/>
              <a:t>Let’s see how a 1 X 1 convolution can be helpful. Suppose we have a 28 X 28 X 192 input and we apply a 1 X 1 convolution using 32 filters. So, the output will be 28 X 28 X 32:</a:t>
            </a:r>
            <a:endParaRPr lang="tr-TR" dirty="0"/>
          </a:p>
          <a:p>
            <a:endParaRPr lang="tr-TR" dirty="0"/>
          </a:p>
          <a:p>
            <a:endParaRPr lang="tr-TR" dirty="0"/>
          </a:p>
          <a:p>
            <a:endParaRPr lang="tr-TR" dirty="0"/>
          </a:p>
          <a:p>
            <a:endParaRPr lang="tr-TR" dirty="0"/>
          </a:p>
          <a:p>
            <a:endParaRPr lang="tr-TR" dirty="0"/>
          </a:p>
          <a:p>
            <a:endParaRPr lang="tr-TR" dirty="0"/>
          </a:p>
          <a:p>
            <a:r>
              <a:rPr lang="en-US" dirty="0"/>
              <a:t>The basic idea of using 1 X 1 convolution is to reduce the number of channels from the image. A couple of points to keep in mind:</a:t>
            </a:r>
          </a:p>
          <a:p>
            <a:r>
              <a:rPr lang="en-US" dirty="0"/>
              <a:t>We generally use a pooling layer to shrink the height and width of the image</a:t>
            </a:r>
          </a:p>
          <a:p>
            <a:r>
              <a:rPr lang="en-US" dirty="0"/>
              <a:t>To reduce the number of channels from an image, we convolve it using a 1 X 1 filter (hence reducing the computation cost as well)</a:t>
            </a:r>
          </a:p>
          <a:p>
            <a:endParaRPr lang="en-US" dirty="0"/>
          </a:p>
        </p:txBody>
      </p:sp>
      <p:pic>
        <p:nvPicPr>
          <p:cNvPr id="4" name="Picture 3"/>
          <p:cNvPicPr>
            <a:picLocks noChangeAspect="1"/>
          </p:cNvPicPr>
          <p:nvPr/>
        </p:nvPicPr>
        <p:blipFill>
          <a:blip r:embed="rId2"/>
          <a:stretch>
            <a:fillRect/>
          </a:stretch>
        </p:blipFill>
        <p:spPr>
          <a:xfrm>
            <a:off x="3767570" y="2348778"/>
            <a:ext cx="4933950" cy="2105025"/>
          </a:xfrm>
          <a:prstGeom prst="rect">
            <a:avLst/>
          </a:prstGeom>
        </p:spPr>
      </p:pic>
      <p:sp>
        <p:nvSpPr>
          <p:cNvPr id="5" name="Date Placeholder 4"/>
          <p:cNvSpPr>
            <a:spLocks noGrp="1"/>
          </p:cNvSpPr>
          <p:nvPr>
            <p:ph type="dt" sz="half" idx="10"/>
          </p:nvPr>
        </p:nvSpPr>
        <p:spPr/>
        <p:txBody>
          <a:bodyPr/>
          <a:lstStyle/>
          <a:p>
            <a:fld id="{9AB6D35B-83B9-49BB-BEA5-B87C28D48F01}" type="datetime1">
              <a:rPr lang="tr-TR" smtClean="0"/>
              <a:t>16.05.2025</a:t>
            </a:fld>
            <a:endParaRPr lang="tr-TR"/>
          </a:p>
        </p:txBody>
      </p:sp>
      <p:sp>
        <p:nvSpPr>
          <p:cNvPr id="6" name="Slide Number Placeholder 5"/>
          <p:cNvSpPr>
            <a:spLocks noGrp="1"/>
          </p:cNvSpPr>
          <p:nvPr>
            <p:ph type="sldNum" sz="quarter" idx="12"/>
          </p:nvPr>
        </p:nvSpPr>
        <p:spPr/>
        <p:txBody>
          <a:bodyPr/>
          <a:lstStyle/>
          <a:p>
            <a:fld id="{4C61373B-6CD7-433C-9DE2-D4B638969085}" type="slidenum">
              <a:rPr lang="tr-TR" smtClean="0"/>
              <a:t>61</a:t>
            </a:fld>
            <a:endParaRPr lang="tr-TR"/>
          </a:p>
        </p:txBody>
      </p:sp>
    </p:spTree>
    <p:extLst>
      <p:ext uri="{BB962C8B-B14F-4D97-AF65-F5344CB8AC3E}">
        <p14:creationId xmlns:p14="http://schemas.microsoft.com/office/powerpoint/2010/main" val="41496266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802908"/>
          </a:xfrm>
        </p:spPr>
        <p:txBody>
          <a:bodyPr>
            <a:normAutofit fontScale="90000"/>
          </a:bodyPr>
          <a:lstStyle/>
          <a:p>
            <a:r>
              <a:rPr lang="en-US" b="1" dirty="0"/>
              <a:t>The Motivation Behind Inception Networks</a:t>
            </a:r>
            <a:br>
              <a:rPr lang="en-US" b="1" dirty="0"/>
            </a:br>
            <a:endParaRPr lang="en-US" dirty="0"/>
          </a:p>
        </p:txBody>
      </p:sp>
      <p:sp>
        <p:nvSpPr>
          <p:cNvPr id="3" name="Content Placeholder 2"/>
          <p:cNvSpPr>
            <a:spLocks noGrp="1"/>
          </p:cNvSpPr>
          <p:nvPr>
            <p:ph idx="1"/>
          </p:nvPr>
        </p:nvSpPr>
        <p:spPr>
          <a:xfrm>
            <a:off x="2589212" y="1302327"/>
            <a:ext cx="8915400" cy="5278582"/>
          </a:xfrm>
        </p:spPr>
        <p:txBody>
          <a:bodyPr/>
          <a:lstStyle/>
          <a:p>
            <a:r>
              <a:rPr lang="en-US" dirty="0"/>
              <a:t>While designing a convolutional neural network, we have to decide the filter size. Should it be a 1 X 1 filter, or a 3 X 3 filter, or a 5 X 5? Inception does all of that for us! Let’s see how it works.</a:t>
            </a:r>
          </a:p>
          <a:p>
            <a:r>
              <a:rPr lang="en-US" dirty="0"/>
              <a:t>Suppose we have a 28 X 28 X 192 input volume. Instead of choosing what filter size to use, or whether to use convolution layer or pooling layer, inception uses all of them and stacks all the outputs:</a:t>
            </a:r>
          </a:p>
          <a:p>
            <a:endParaRPr lang="en-US" dirty="0"/>
          </a:p>
        </p:txBody>
      </p:sp>
      <p:pic>
        <p:nvPicPr>
          <p:cNvPr id="4" name="Picture 3"/>
          <p:cNvPicPr>
            <a:picLocks noChangeAspect="1"/>
          </p:cNvPicPr>
          <p:nvPr/>
        </p:nvPicPr>
        <p:blipFill>
          <a:blip r:embed="rId2"/>
          <a:stretch>
            <a:fillRect/>
          </a:stretch>
        </p:blipFill>
        <p:spPr>
          <a:xfrm>
            <a:off x="4065010" y="3613005"/>
            <a:ext cx="5419725" cy="2181225"/>
          </a:xfrm>
          <a:prstGeom prst="rect">
            <a:avLst/>
          </a:prstGeom>
        </p:spPr>
      </p:pic>
      <p:sp>
        <p:nvSpPr>
          <p:cNvPr id="5" name="Date Placeholder 4"/>
          <p:cNvSpPr>
            <a:spLocks noGrp="1"/>
          </p:cNvSpPr>
          <p:nvPr>
            <p:ph type="dt" sz="half" idx="10"/>
          </p:nvPr>
        </p:nvSpPr>
        <p:spPr/>
        <p:txBody>
          <a:bodyPr/>
          <a:lstStyle/>
          <a:p>
            <a:fld id="{9A01D231-79C8-4A32-88AD-79BB52417C98}" type="datetime1">
              <a:rPr lang="tr-TR" smtClean="0"/>
              <a:t>16.05.2025</a:t>
            </a:fld>
            <a:endParaRPr lang="tr-TR"/>
          </a:p>
        </p:txBody>
      </p:sp>
      <p:sp>
        <p:nvSpPr>
          <p:cNvPr id="6" name="Slide Number Placeholder 5"/>
          <p:cNvSpPr>
            <a:spLocks noGrp="1"/>
          </p:cNvSpPr>
          <p:nvPr>
            <p:ph type="sldNum" sz="quarter" idx="12"/>
          </p:nvPr>
        </p:nvSpPr>
        <p:spPr/>
        <p:txBody>
          <a:bodyPr/>
          <a:lstStyle/>
          <a:p>
            <a:fld id="{4C61373B-6CD7-433C-9DE2-D4B638969085}" type="slidenum">
              <a:rPr lang="tr-TR" smtClean="0"/>
              <a:t>62</a:t>
            </a:fld>
            <a:endParaRPr lang="tr-TR"/>
          </a:p>
        </p:txBody>
      </p:sp>
    </p:spTree>
    <p:extLst>
      <p:ext uri="{BB962C8B-B14F-4D97-AF65-F5344CB8AC3E}">
        <p14:creationId xmlns:p14="http://schemas.microsoft.com/office/powerpoint/2010/main" val="17909354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775855"/>
            <a:ext cx="8915400" cy="5805054"/>
          </a:xfrm>
        </p:spPr>
        <p:txBody>
          <a:bodyPr/>
          <a:lstStyle/>
          <a:p>
            <a:r>
              <a:rPr lang="en-US" dirty="0"/>
              <a:t>A good question to ask here – why are we using all these filters instead of using just a single filter size, say 5 X 5? Let’s look at how many computations would arise if we would have used only a 5 X 5 filter on our input:</a:t>
            </a:r>
            <a:endParaRPr lang="tr-TR" dirty="0"/>
          </a:p>
          <a:p>
            <a:endParaRPr lang="tr-TR" dirty="0"/>
          </a:p>
          <a:p>
            <a:endParaRPr lang="tr-TR" dirty="0"/>
          </a:p>
          <a:p>
            <a:endParaRPr lang="tr-TR" dirty="0"/>
          </a:p>
          <a:p>
            <a:endParaRPr lang="tr-TR" dirty="0"/>
          </a:p>
          <a:p>
            <a:endParaRPr lang="tr-TR" dirty="0"/>
          </a:p>
          <a:p>
            <a:endParaRPr lang="tr-TR" dirty="0"/>
          </a:p>
          <a:p>
            <a:endParaRPr lang="tr-TR" dirty="0"/>
          </a:p>
          <a:p>
            <a:endParaRPr lang="tr-TR" dirty="0"/>
          </a:p>
          <a:p>
            <a:r>
              <a:rPr lang="en-US" dirty="0"/>
              <a:t>Number of multiplies = 28 * 28 * 32 * 5 * 5 * 192 = 120 million! Can you imagine how expensive performing all of these will be?</a:t>
            </a:r>
          </a:p>
        </p:txBody>
      </p:sp>
      <p:pic>
        <p:nvPicPr>
          <p:cNvPr id="4" name="Picture 3"/>
          <p:cNvPicPr>
            <a:picLocks noChangeAspect="1"/>
          </p:cNvPicPr>
          <p:nvPr/>
        </p:nvPicPr>
        <p:blipFill>
          <a:blip r:embed="rId2"/>
          <a:stretch>
            <a:fillRect/>
          </a:stretch>
        </p:blipFill>
        <p:spPr>
          <a:xfrm>
            <a:off x="4062412" y="1862571"/>
            <a:ext cx="5286375" cy="2495550"/>
          </a:xfrm>
          <a:prstGeom prst="rect">
            <a:avLst/>
          </a:prstGeom>
        </p:spPr>
      </p:pic>
      <p:sp>
        <p:nvSpPr>
          <p:cNvPr id="5" name="Date Placeholder 4"/>
          <p:cNvSpPr>
            <a:spLocks noGrp="1"/>
          </p:cNvSpPr>
          <p:nvPr>
            <p:ph type="dt" sz="half" idx="10"/>
          </p:nvPr>
        </p:nvSpPr>
        <p:spPr/>
        <p:txBody>
          <a:bodyPr/>
          <a:lstStyle/>
          <a:p>
            <a:fld id="{A2796532-81D5-4647-9A27-7A1B62DAF44F}" type="datetime1">
              <a:rPr lang="tr-TR" smtClean="0"/>
              <a:t>16.05.2025</a:t>
            </a:fld>
            <a:endParaRPr lang="tr-TR"/>
          </a:p>
        </p:txBody>
      </p:sp>
      <p:sp>
        <p:nvSpPr>
          <p:cNvPr id="6" name="Slide Number Placeholder 5"/>
          <p:cNvSpPr>
            <a:spLocks noGrp="1"/>
          </p:cNvSpPr>
          <p:nvPr>
            <p:ph type="sldNum" sz="quarter" idx="12"/>
          </p:nvPr>
        </p:nvSpPr>
        <p:spPr/>
        <p:txBody>
          <a:bodyPr/>
          <a:lstStyle/>
          <a:p>
            <a:fld id="{4C61373B-6CD7-433C-9DE2-D4B638969085}" type="slidenum">
              <a:rPr lang="tr-TR" smtClean="0"/>
              <a:t>63</a:t>
            </a:fld>
            <a:endParaRPr lang="tr-TR"/>
          </a:p>
        </p:txBody>
      </p:sp>
    </p:spTree>
    <p:extLst>
      <p:ext uri="{BB962C8B-B14F-4D97-AF65-F5344CB8AC3E}">
        <p14:creationId xmlns:p14="http://schemas.microsoft.com/office/powerpoint/2010/main" val="3438401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831273"/>
            <a:ext cx="8915400" cy="5680363"/>
          </a:xfrm>
        </p:spPr>
        <p:txBody>
          <a:bodyPr/>
          <a:lstStyle/>
          <a:p>
            <a:r>
              <a:rPr lang="en-US" dirty="0"/>
              <a:t>Now, let’s look at the computations a 1 X 1 convolution and then a 5 X 5 convolution will give us:</a:t>
            </a:r>
            <a:r>
              <a:rPr lang="tr-TR" dirty="0"/>
              <a:t>	 </a:t>
            </a:r>
          </a:p>
          <a:p>
            <a:endParaRPr lang="tr-TR" dirty="0"/>
          </a:p>
          <a:p>
            <a:endParaRPr lang="tr-TR" dirty="0"/>
          </a:p>
          <a:p>
            <a:endParaRPr lang="tr-TR" dirty="0"/>
          </a:p>
          <a:p>
            <a:endParaRPr lang="tr-TR" dirty="0"/>
          </a:p>
          <a:p>
            <a:endParaRPr lang="tr-TR" dirty="0"/>
          </a:p>
          <a:p>
            <a:endParaRPr lang="tr-TR" dirty="0"/>
          </a:p>
          <a:p>
            <a:endParaRPr lang="tr-TR" dirty="0"/>
          </a:p>
          <a:p>
            <a:r>
              <a:rPr lang="en-US" dirty="0"/>
              <a:t>Number of multiplies for first convolution = 28 * 28 * 16 * 1 * 1 * 192 = 2.4 million</a:t>
            </a:r>
            <a:br>
              <a:rPr lang="en-US" dirty="0"/>
            </a:br>
            <a:r>
              <a:rPr lang="en-US" dirty="0"/>
              <a:t>Number of multiplies for second convolution = 28 * 28 * 32 * 5 * 5 * 16 = 10 million</a:t>
            </a:r>
            <a:br>
              <a:rPr lang="en-US" dirty="0"/>
            </a:br>
            <a:r>
              <a:rPr lang="en-US" dirty="0"/>
              <a:t>Total number of multiplies = 12.4 million</a:t>
            </a:r>
          </a:p>
          <a:p>
            <a:r>
              <a:rPr lang="en-US" dirty="0"/>
              <a:t>A significant reduction. This is the key idea behind inception.</a:t>
            </a:r>
          </a:p>
          <a:p>
            <a:pPr marL="0" indent="0">
              <a:buNone/>
            </a:pPr>
            <a:endParaRPr lang="en-US" dirty="0"/>
          </a:p>
        </p:txBody>
      </p:sp>
      <p:pic>
        <p:nvPicPr>
          <p:cNvPr id="4" name="Picture 3"/>
          <p:cNvPicPr>
            <a:picLocks noChangeAspect="1"/>
          </p:cNvPicPr>
          <p:nvPr/>
        </p:nvPicPr>
        <p:blipFill>
          <a:blip r:embed="rId2"/>
          <a:stretch>
            <a:fillRect/>
          </a:stretch>
        </p:blipFill>
        <p:spPr>
          <a:xfrm>
            <a:off x="3135963" y="1537855"/>
            <a:ext cx="7821898" cy="2424546"/>
          </a:xfrm>
          <a:prstGeom prst="rect">
            <a:avLst/>
          </a:prstGeom>
        </p:spPr>
      </p:pic>
      <p:sp>
        <p:nvSpPr>
          <p:cNvPr id="5" name="Date Placeholder 4"/>
          <p:cNvSpPr>
            <a:spLocks noGrp="1"/>
          </p:cNvSpPr>
          <p:nvPr>
            <p:ph type="dt" sz="half" idx="10"/>
          </p:nvPr>
        </p:nvSpPr>
        <p:spPr/>
        <p:txBody>
          <a:bodyPr/>
          <a:lstStyle/>
          <a:p>
            <a:fld id="{63031D2D-D7D2-44D5-A556-568DF699D73D}" type="datetime1">
              <a:rPr lang="tr-TR" smtClean="0"/>
              <a:t>16.05.2025</a:t>
            </a:fld>
            <a:endParaRPr lang="tr-TR"/>
          </a:p>
        </p:txBody>
      </p:sp>
      <p:sp>
        <p:nvSpPr>
          <p:cNvPr id="6" name="Slide Number Placeholder 5"/>
          <p:cNvSpPr>
            <a:spLocks noGrp="1"/>
          </p:cNvSpPr>
          <p:nvPr>
            <p:ph type="sldNum" sz="quarter" idx="12"/>
          </p:nvPr>
        </p:nvSpPr>
        <p:spPr/>
        <p:txBody>
          <a:bodyPr/>
          <a:lstStyle/>
          <a:p>
            <a:fld id="{4C61373B-6CD7-433C-9DE2-D4B638969085}" type="slidenum">
              <a:rPr lang="tr-TR" smtClean="0"/>
              <a:t>64</a:t>
            </a:fld>
            <a:endParaRPr lang="tr-TR"/>
          </a:p>
        </p:txBody>
      </p:sp>
    </p:spTree>
    <p:extLst>
      <p:ext uri="{BB962C8B-B14F-4D97-AF65-F5344CB8AC3E}">
        <p14:creationId xmlns:p14="http://schemas.microsoft.com/office/powerpoint/2010/main" val="33134752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05926"/>
          </a:xfrm>
        </p:spPr>
        <p:txBody>
          <a:bodyPr>
            <a:normAutofit fontScale="90000"/>
          </a:bodyPr>
          <a:lstStyle/>
          <a:p>
            <a:r>
              <a:rPr lang="tr-TR" b="1" dirty="0"/>
              <a:t>Inception Networks</a:t>
            </a:r>
            <a:br>
              <a:rPr lang="tr-TR" b="1" dirty="0"/>
            </a:br>
            <a:endParaRPr lang="en-US" dirty="0"/>
          </a:p>
        </p:txBody>
      </p:sp>
      <p:sp>
        <p:nvSpPr>
          <p:cNvPr id="3" name="Content Placeholder 2"/>
          <p:cNvSpPr>
            <a:spLocks noGrp="1"/>
          </p:cNvSpPr>
          <p:nvPr>
            <p:ph idx="1"/>
          </p:nvPr>
        </p:nvSpPr>
        <p:spPr>
          <a:xfrm>
            <a:off x="2589212" y="1191491"/>
            <a:ext cx="8915400" cy="5500254"/>
          </a:xfrm>
        </p:spPr>
        <p:txBody>
          <a:bodyPr/>
          <a:lstStyle/>
          <a:p>
            <a:r>
              <a:rPr lang="en-US" dirty="0"/>
              <a:t>We stack all the outputs together. Also, we apply a 1 X 1 convolution before applying 3 X 3 and 5 X 5 convolutions in order to reduce the computations. An inception model is the combination of these inception blocks repeated at different locations, some fully connected layer at the end, and a </a:t>
            </a:r>
            <a:r>
              <a:rPr lang="en-US" dirty="0" err="1"/>
              <a:t>softmax</a:t>
            </a:r>
            <a:r>
              <a:rPr lang="en-US" dirty="0"/>
              <a:t> classifier to output the classes.</a:t>
            </a:r>
          </a:p>
          <a:p>
            <a:endParaRPr lang="en-US" dirty="0"/>
          </a:p>
        </p:txBody>
      </p:sp>
      <p:pic>
        <p:nvPicPr>
          <p:cNvPr id="4" name="Picture 3"/>
          <p:cNvPicPr>
            <a:picLocks noChangeAspect="1"/>
          </p:cNvPicPr>
          <p:nvPr/>
        </p:nvPicPr>
        <p:blipFill>
          <a:blip r:embed="rId2"/>
          <a:stretch>
            <a:fillRect/>
          </a:stretch>
        </p:blipFill>
        <p:spPr>
          <a:xfrm>
            <a:off x="3936999" y="2755323"/>
            <a:ext cx="6219825" cy="3562350"/>
          </a:xfrm>
          <a:prstGeom prst="rect">
            <a:avLst/>
          </a:prstGeom>
        </p:spPr>
      </p:pic>
      <p:sp>
        <p:nvSpPr>
          <p:cNvPr id="5" name="Date Placeholder 4"/>
          <p:cNvSpPr>
            <a:spLocks noGrp="1"/>
          </p:cNvSpPr>
          <p:nvPr>
            <p:ph type="dt" sz="half" idx="10"/>
          </p:nvPr>
        </p:nvSpPr>
        <p:spPr/>
        <p:txBody>
          <a:bodyPr/>
          <a:lstStyle/>
          <a:p>
            <a:fld id="{110F4663-62E3-48C4-9B38-595AC88B116F}" type="datetime1">
              <a:rPr lang="tr-TR" smtClean="0"/>
              <a:t>16.05.2025</a:t>
            </a:fld>
            <a:endParaRPr lang="tr-TR"/>
          </a:p>
        </p:txBody>
      </p:sp>
      <p:sp>
        <p:nvSpPr>
          <p:cNvPr id="6" name="Slide Number Placeholder 5"/>
          <p:cNvSpPr>
            <a:spLocks noGrp="1"/>
          </p:cNvSpPr>
          <p:nvPr>
            <p:ph type="sldNum" sz="quarter" idx="12"/>
          </p:nvPr>
        </p:nvSpPr>
        <p:spPr/>
        <p:txBody>
          <a:bodyPr/>
          <a:lstStyle/>
          <a:p>
            <a:fld id="{4C61373B-6CD7-433C-9DE2-D4B638969085}" type="slidenum">
              <a:rPr lang="tr-TR" smtClean="0"/>
              <a:t>65</a:t>
            </a:fld>
            <a:endParaRPr lang="tr-TR"/>
          </a:p>
        </p:txBody>
      </p:sp>
    </p:spTree>
    <p:extLst>
      <p:ext uri="{BB962C8B-B14F-4D97-AF65-F5344CB8AC3E}">
        <p14:creationId xmlns:p14="http://schemas.microsoft.com/office/powerpoint/2010/main" val="23030935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b="1" dirty="0"/>
              <a:t>Transfer Learning</a:t>
            </a:r>
            <a:r>
              <a:rPr lang="tr-TR" dirty="0"/>
              <a:t>: </a:t>
            </a:r>
            <a:endParaRPr lang="en-US" dirty="0"/>
          </a:p>
        </p:txBody>
      </p:sp>
      <p:sp>
        <p:nvSpPr>
          <p:cNvPr id="3" name="Content Placeholder 2"/>
          <p:cNvSpPr>
            <a:spLocks noGrp="1"/>
          </p:cNvSpPr>
          <p:nvPr>
            <p:ph idx="1"/>
          </p:nvPr>
        </p:nvSpPr>
        <p:spPr/>
        <p:txBody>
          <a:bodyPr/>
          <a:lstStyle/>
          <a:p>
            <a:r>
              <a:rPr lang="en-US" dirty="0"/>
              <a:t>We can take a </a:t>
            </a:r>
            <a:r>
              <a:rPr lang="en-US" dirty="0" err="1"/>
              <a:t>pretrained</a:t>
            </a:r>
            <a:r>
              <a:rPr lang="en-US" dirty="0"/>
              <a:t> network and transfer that to a new task which we are working on. </a:t>
            </a:r>
            <a:endParaRPr lang="tr-TR" dirty="0"/>
          </a:p>
          <a:p>
            <a:r>
              <a:rPr lang="en-US" dirty="0"/>
              <a:t>In transfer learning, we take the complete network, remove a few layers from it, and add custom layers on top of the remaining layers to train our model. </a:t>
            </a:r>
            <a:endParaRPr lang="tr-TR" dirty="0"/>
          </a:p>
          <a:p>
            <a:r>
              <a:rPr lang="en-US" dirty="0"/>
              <a:t>In </a:t>
            </a:r>
            <a:r>
              <a:rPr lang="en-US" dirty="0" err="1"/>
              <a:t>essense</a:t>
            </a:r>
            <a:r>
              <a:rPr lang="en-US" dirty="0"/>
              <a:t>, we are extracting features from a </a:t>
            </a:r>
            <a:r>
              <a:rPr lang="en-US" dirty="0" err="1"/>
              <a:t>pretrained</a:t>
            </a:r>
            <a:r>
              <a:rPr lang="en-US" dirty="0"/>
              <a:t> model and using those to classify and train our model</a:t>
            </a:r>
          </a:p>
        </p:txBody>
      </p:sp>
      <p:sp>
        <p:nvSpPr>
          <p:cNvPr id="4" name="Date Placeholder 3"/>
          <p:cNvSpPr>
            <a:spLocks noGrp="1"/>
          </p:cNvSpPr>
          <p:nvPr>
            <p:ph type="dt" sz="half" idx="10"/>
          </p:nvPr>
        </p:nvSpPr>
        <p:spPr/>
        <p:txBody>
          <a:bodyPr/>
          <a:lstStyle/>
          <a:p>
            <a:fld id="{6F7F9BAA-272A-4D69-B991-F04DF9C9F873}"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66</a:t>
            </a:fld>
            <a:endParaRPr lang="tr-TR"/>
          </a:p>
        </p:txBody>
      </p:sp>
    </p:spTree>
    <p:extLst>
      <p:ext uri="{BB962C8B-B14F-4D97-AF65-F5344CB8AC3E}">
        <p14:creationId xmlns:p14="http://schemas.microsoft.com/office/powerpoint/2010/main" val="453632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927599"/>
          </a:xfrm>
        </p:spPr>
        <p:txBody>
          <a:bodyPr/>
          <a:lstStyle/>
          <a:p>
            <a:r>
              <a:rPr lang="tr-TR" b="1" dirty="0"/>
              <a:t>Data Augmentation</a:t>
            </a:r>
            <a:r>
              <a:rPr lang="tr-TR" dirty="0"/>
              <a:t>: </a:t>
            </a:r>
            <a:endParaRPr lang="en-US" dirty="0"/>
          </a:p>
        </p:txBody>
      </p:sp>
      <p:sp>
        <p:nvSpPr>
          <p:cNvPr id="3" name="Content Placeholder 2"/>
          <p:cNvSpPr>
            <a:spLocks noGrp="1"/>
          </p:cNvSpPr>
          <p:nvPr>
            <p:ph idx="1"/>
          </p:nvPr>
        </p:nvSpPr>
        <p:spPr>
          <a:xfrm>
            <a:off x="2589212" y="1551709"/>
            <a:ext cx="8915400" cy="4641273"/>
          </a:xfrm>
        </p:spPr>
        <p:txBody>
          <a:bodyPr>
            <a:normAutofit/>
          </a:bodyPr>
          <a:lstStyle/>
          <a:p>
            <a:r>
              <a:rPr lang="en-US" dirty="0"/>
              <a:t>Deep learning models perform well when we have a large amount of data. There are quite a few domains where getting enough data is a problem. </a:t>
            </a:r>
            <a:endParaRPr lang="tr-TR" dirty="0"/>
          </a:p>
          <a:p>
            <a:r>
              <a:rPr lang="en-US" dirty="0"/>
              <a:t>In such cases, we use data augmentation to generate training data from the available data. </a:t>
            </a:r>
            <a:endParaRPr lang="tr-TR" dirty="0"/>
          </a:p>
          <a:p>
            <a:r>
              <a:rPr lang="en-US" dirty="0"/>
              <a:t>Some of the common augmentation methods are:</a:t>
            </a:r>
            <a:r>
              <a:rPr lang="tr-TR" dirty="0"/>
              <a:t> </a:t>
            </a:r>
          </a:p>
          <a:p>
            <a:r>
              <a:rPr lang="en-US" dirty="0">
                <a:solidFill>
                  <a:srgbClr val="FF0000"/>
                </a:solidFill>
              </a:rPr>
              <a:t>Mirroring:</a:t>
            </a:r>
            <a:r>
              <a:rPr lang="en-US" dirty="0"/>
              <a:t> Here we take the mirror image. The class of the image will not </a:t>
            </a:r>
            <a:r>
              <a:rPr lang="tr-TR" dirty="0"/>
              <a:t>   				</a:t>
            </a:r>
            <a:r>
              <a:rPr lang="en-US" dirty="0"/>
              <a:t>change in this case</a:t>
            </a:r>
          </a:p>
          <a:p>
            <a:r>
              <a:rPr lang="en-US" dirty="0">
                <a:solidFill>
                  <a:srgbClr val="FF0000"/>
                </a:solidFill>
              </a:rPr>
              <a:t>Random Cropping</a:t>
            </a:r>
          </a:p>
          <a:p>
            <a:r>
              <a:rPr lang="en-US" dirty="0">
                <a:solidFill>
                  <a:srgbClr val="FF0000"/>
                </a:solidFill>
              </a:rPr>
              <a:t>Rotating</a:t>
            </a:r>
          </a:p>
          <a:p>
            <a:r>
              <a:rPr lang="en-US" dirty="0">
                <a:solidFill>
                  <a:srgbClr val="FF0000"/>
                </a:solidFill>
              </a:rPr>
              <a:t>Shearing</a:t>
            </a:r>
          </a:p>
          <a:p>
            <a:r>
              <a:rPr lang="en-US" dirty="0">
                <a:solidFill>
                  <a:srgbClr val="FF0000"/>
                </a:solidFill>
              </a:rPr>
              <a:t>Color Shifting: </a:t>
            </a:r>
            <a:r>
              <a:rPr lang="en-US" dirty="0"/>
              <a:t>We change the RGB scale of the image randomly.</a:t>
            </a:r>
          </a:p>
          <a:p>
            <a:endParaRPr lang="en-US" dirty="0"/>
          </a:p>
        </p:txBody>
      </p:sp>
      <p:sp>
        <p:nvSpPr>
          <p:cNvPr id="4" name="Date Placeholder 3"/>
          <p:cNvSpPr>
            <a:spLocks noGrp="1"/>
          </p:cNvSpPr>
          <p:nvPr>
            <p:ph type="dt" sz="half" idx="10"/>
          </p:nvPr>
        </p:nvSpPr>
        <p:spPr/>
        <p:txBody>
          <a:bodyPr/>
          <a:lstStyle/>
          <a:p>
            <a:fld id="{26DDA879-EA74-464B-B38D-E54163908517}"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67</a:t>
            </a:fld>
            <a:endParaRPr lang="tr-TR"/>
          </a:p>
        </p:txBody>
      </p:sp>
    </p:spTree>
    <p:extLst>
      <p:ext uri="{BB962C8B-B14F-4D97-AF65-F5344CB8AC3E}">
        <p14:creationId xmlns:p14="http://schemas.microsoft.com/office/powerpoint/2010/main" val="35114612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tr-TR" b="1" dirty="0"/>
              <a:t>T</a:t>
            </a:r>
            <a:r>
              <a:rPr lang="en-US" b="1" dirty="0"/>
              <a:t>he Mathematics Behind Convolutional Neural Networks (CNNs)</a:t>
            </a:r>
            <a:br>
              <a:rPr lang="en-US" b="1" dirty="0"/>
            </a:br>
            <a:endParaRPr lang="en-US" dirty="0"/>
          </a:p>
        </p:txBody>
      </p:sp>
      <p:sp>
        <p:nvSpPr>
          <p:cNvPr id="3" name="Content Placeholder 2"/>
          <p:cNvSpPr>
            <a:spLocks noGrp="1"/>
          </p:cNvSpPr>
          <p:nvPr>
            <p:ph idx="1"/>
          </p:nvPr>
        </p:nvSpPr>
        <p:spPr>
          <a:xfrm>
            <a:off x="2589212" y="2133600"/>
            <a:ext cx="8915400" cy="2909455"/>
          </a:xfrm>
        </p:spPr>
        <p:txBody>
          <a:bodyPr>
            <a:normAutofit/>
          </a:bodyPr>
          <a:lstStyle/>
          <a:p>
            <a:r>
              <a:rPr lang="en-US" sz="2400" dirty="0"/>
              <a:t>Convolutional neural networks (CNNs) are all the rage in the deep learning and computer vision community</a:t>
            </a:r>
          </a:p>
          <a:p>
            <a:r>
              <a:rPr lang="en-US" sz="2400" dirty="0"/>
              <a:t>How does this CNN architecture work? </a:t>
            </a:r>
            <a:endParaRPr lang="tr-TR" sz="2400" dirty="0"/>
          </a:p>
          <a:p>
            <a:r>
              <a:rPr lang="en-US" sz="2400" dirty="0"/>
              <a:t>We’ll explore the math behind the building blocks of a convolutional neural netwo</a:t>
            </a:r>
            <a:r>
              <a:rPr lang="en-US" dirty="0"/>
              <a:t>rk</a:t>
            </a:r>
          </a:p>
          <a:p>
            <a:pPr marL="0" indent="0">
              <a:buNone/>
            </a:pPr>
            <a:endParaRPr lang="en-US" dirty="0"/>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68</a:t>
            </a:fld>
            <a:endParaRPr lang="tr-TR"/>
          </a:p>
        </p:txBody>
      </p:sp>
    </p:spTree>
    <p:extLst>
      <p:ext uri="{BB962C8B-B14F-4D97-AF65-F5344CB8AC3E}">
        <p14:creationId xmlns:p14="http://schemas.microsoft.com/office/powerpoint/2010/main" val="538414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b="1" dirty="0"/>
              <a:t>Introduction to Neural Networks</a:t>
            </a:r>
            <a:br>
              <a:rPr lang="tr-TR" b="1" dirty="0"/>
            </a:br>
            <a:endParaRPr lang="en-US" dirty="0"/>
          </a:p>
        </p:txBody>
      </p:sp>
      <p:sp>
        <p:nvSpPr>
          <p:cNvPr id="3" name="Content Placeholder 2"/>
          <p:cNvSpPr>
            <a:spLocks noGrp="1"/>
          </p:cNvSpPr>
          <p:nvPr>
            <p:ph idx="1"/>
          </p:nvPr>
        </p:nvSpPr>
        <p:spPr>
          <a:xfrm>
            <a:off x="2589212" y="1676399"/>
            <a:ext cx="8915400" cy="4454037"/>
          </a:xfrm>
        </p:spPr>
        <p:txBody>
          <a:bodyPr>
            <a:normAutofit/>
          </a:bodyPr>
          <a:lstStyle/>
          <a:p>
            <a:r>
              <a:rPr lang="en-US" dirty="0"/>
              <a:t>Neural Networks are at the core of all </a:t>
            </a:r>
            <a:r>
              <a:rPr lang="en-US" u="sng" dirty="0">
                <a:hlinkClick r:id="rId2"/>
              </a:rPr>
              <a:t>deep learning algorithms</a:t>
            </a:r>
            <a:r>
              <a:rPr lang="en-US" dirty="0"/>
              <a:t>. </a:t>
            </a:r>
            <a:endParaRPr lang="tr-TR" dirty="0"/>
          </a:p>
          <a:p>
            <a:r>
              <a:rPr lang="en-US" dirty="0"/>
              <a:t>But before you deep dive into these algorithms, it’s important to have a good understanding of the concept of </a:t>
            </a:r>
            <a:r>
              <a:rPr lang="en-US" u="sng" dirty="0">
                <a:hlinkClick r:id="rId3"/>
              </a:rPr>
              <a:t>neural networks</a:t>
            </a:r>
            <a:r>
              <a:rPr lang="en-US" dirty="0"/>
              <a:t>.</a:t>
            </a:r>
          </a:p>
          <a:p>
            <a:r>
              <a:rPr lang="en-US" dirty="0"/>
              <a:t>These neural networks try to mimic the human brain and its learning process. </a:t>
            </a:r>
            <a:endParaRPr lang="tr-TR" dirty="0"/>
          </a:p>
          <a:p>
            <a:r>
              <a:rPr lang="en-US" dirty="0"/>
              <a:t>Like a brain takes the input, processes it and generates some output, so does the neural network.</a:t>
            </a:r>
          </a:p>
          <a:p>
            <a:r>
              <a:rPr lang="en-US" dirty="0"/>
              <a:t>These three actions – </a:t>
            </a:r>
            <a:r>
              <a:rPr lang="en-US" b="1" dirty="0"/>
              <a:t>receiving input, processing information, generating output</a:t>
            </a:r>
            <a:r>
              <a:rPr lang="en-US" dirty="0"/>
              <a:t> – are represented in the form of layers in a neural network – input, hidden and output. </a:t>
            </a:r>
            <a:endParaRPr lang="tr-TR" dirty="0"/>
          </a:p>
          <a:p>
            <a:r>
              <a:rPr lang="en-US" dirty="0"/>
              <a:t>These individual units in the layers are called </a:t>
            </a:r>
            <a:r>
              <a:rPr lang="en-US" u="sng" dirty="0">
                <a:solidFill>
                  <a:srgbClr val="FF0000"/>
                </a:solidFill>
              </a:rPr>
              <a:t>neurons.</a:t>
            </a:r>
            <a:r>
              <a:rPr lang="en-US" dirty="0">
                <a:solidFill>
                  <a:srgbClr val="FF0000"/>
                </a:solidFill>
              </a:rPr>
              <a:t> </a:t>
            </a:r>
            <a:r>
              <a:rPr lang="en-US" dirty="0"/>
              <a:t>The complete training process of a neural network involves two steps.</a:t>
            </a:r>
          </a:p>
          <a:p>
            <a:endParaRPr lang="en-US" dirty="0"/>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69</a:t>
            </a:fld>
            <a:endParaRPr lang="tr-TR"/>
          </a:p>
        </p:txBody>
      </p:sp>
    </p:spTree>
    <p:extLst>
      <p:ext uri="{BB962C8B-B14F-4D97-AF65-F5344CB8AC3E}">
        <p14:creationId xmlns:p14="http://schemas.microsoft.com/office/powerpoint/2010/main" val="38227899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a:pPr>
            <a:r>
              <a:rPr lang="tr-TR" b="1" dirty="0"/>
              <a:t>Forward Propagation</a:t>
            </a:r>
            <a:br>
              <a:rPr lang="tr-TR" b="1" dirty="0"/>
            </a:br>
            <a:endParaRPr lang="en-US" dirty="0"/>
          </a:p>
        </p:txBody>
      </p:sp>
      <p:sp>
        <p:nvSpPr>
          <p:cNvPr id="3" name="Content Placeholder 2"/>
          <p:cNvSpPr>
            <a:spLocks noGrp="1"/>
          </p:cNvSpPr>
          <p:nvPr>
            <p:ph idx="1"/>
          </p:nvPr>
        </p:nvSpPr>
        <p:spPr/>
        <p:txBody>
          <a:bodyPr/>
          <a:lstStyle/>
          <a:p>
            <a:r>
              <a:rPr lang="en-US" dirty="0"/>
              <a:t>Images are fed into the input layer in the form of numbers. </a:t>
            </a:r>
            <a:endParaRPr lang="tr-TR" dirty="0"/>
          </a:p>
          <a:p>
            <a:r>
              <a:rPr lang="en-US" dirty="0"/>
              <a:t>These numerical values denote the intensity of pixels in the image. </a:t>
            </a:r>
            <a:endParaRPr lang="tr-TR" dirty="0"/>
          </a:p>
          <a:p>
            <a:r>
              <a:rPr lang="en-US" dirty="0"/>
              <a:t>The neurons in the hidden layers apply a few mathematical operations on these values (which we will discuss later).</a:t>
            </a:r>
          </a:p>
          <a:p>
            <a:r>
              <a:rPr lang="en-US" dirty="0"/>
              <a:t>In order to perform these mathematical operations, there are certain parameter values that are randomly initialized. </a:t>
            </a:r>
            <a:endParaRPr lang="tr-TR" dirty="0"/>
          </a:p>
          <a:p>
            <a:r>
              <a:rPr lang="en-US" dirty="0"/>
              <a:t>Post these mathematical operations at the hidden layer, the result is sent to the output layer which generates the final prediction.</a:t>
            </a:r>
          </a:p>
          <a:p>
            <a:endParaRPr lang="en-US" dirty="0"/>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70</a:t>
            </a:fld>
            <a:endParaRPr lang="tr-TR"/>
          </a:p>
        </p:txBody>
      </p:sp>
    </p:spTree>
    <p:extLst>
      <p:ext uri="{BB962C8B-B14F-4D97-AF65-F5344CB8AC3E}">
        <p14:creationId xmlns:p14="http://schemas.microsoft.com/office/powerpoint/2010/main" val="15322135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startAt="2"/>
            </a:pPr>
            <a:r>
              <a:rPr lang="tr-TR" b="1" dirty="0"/>
              <a:t>Backward Propagation</a:t>
            </a:r>
            <a:br>
              <a:rPr lang="tr-TR" b="1" dirty="0"/>
            </a:br>
            <a:endParaRPr lang="en-US" dirty="0"/>
          </a:p>
        </p:txBody>
      </p:sp>
      <p:sp>
        <p:nvSpPr>
          <p:cNvPr id="3" name="Content Placeholder 2"/>
          <p:cNvSpPr>
            <a:spLocks noGrp="1"/>
          </p:cNvSpPr>
          <p:nvPr>
            <p:ph idx="1"/>
          </p:nvPr>
        </p:nvSpPr>
        <p:spPr/>
        <p:txBody>
          <a:bodyPr/>
          <a:lstStyle/>
          <a:p>
            <a:r>
              <a:rPr lang="en-US" dirty="0"/>
              <a:t>Once the output is generated, the next step is to compare the output with the actual value. </a:t>
            </a:r>
            <a:endParaRPr lang="tr-TR" dirty="0"/>
          </a:p>
          <a:p>
            <a:r>
              <a:rPr lang="en-US" dirty="0"/>
              <a:t>Based on the final output, and how close or far this is from the actual value (error), the values of the parameters are updated. </a:t>
            </a:r>
            <a:endParaRPr lang="tr-TR" dirty="0"/>
          </a:p>
          <a:p>
            <a:r>
              <a:rPr lang="en-US" dirty="0"/>
              <a:t>The forward propagation process is repeated using the updated parameter values and new outputs are generated.</a:t>
            </a:r>
          </a:p>
          <a:p>
            <a:r>
              <a:rPr lang="en-US" dirty="0"/>
              <a:t>This is the base of any neural network algorithm. In this article, we will look at the forward and backward propagation steps for a convolutional neural network!</a:t>
            </a:r>
          </a:p>
          <a:p>
            <a:endParaRPr lang="en-US" dirty="0"/>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71</a:t>
            </a:fld>
            <a:endParaRPr lang="tr-TR"/>
          </a:p>
        </p:txBody>
      </p:sp>
    </p:spTree>
    <p:extLst>
      <p:ext uri="{BB962C8B-B14F-4D97-AF65-F5344CB8AC3E}">
        <p14:creationId xmlns:p14="http://schemas.microsoft.com/office/powerpoint/2010/main" val="396056039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010726"/>
          </a:xfrm>
        </p:spPr>
        <p:txBody>
          <a:bodyPr>
            <a:normAutofit fontScale="90000"/>
          </a:bodyPr>
          <a:lstStyle/>
          <a:p>
            <a:r>
              <a:rPr lang="tr-TR" b="1" dirty="0"/>
              <a:t>Convolutional Neural Network (CNN) Architecture</a:t>
            </a:r>
            <a:br>
              <a:rPr lang="tr-TR" b="1" dirty="0"/>
            </a:br>
            <a:endParaRPr lang="en-US" dirty="0"/>
          </a:p>
        </p:txBody>
      </p:sp>
      <p:sp>
        <p:nvSpPr>
          <p:cNvPr id="3" name="Content Placeholder 2"/>
          <p:cNvSpPr>
            <a:spLocks noGrp="1"/>
          </p:cNvSpPr>
          <p:nvPr>
            <p:ph idx="1"/>
          </p:nvPr>
        </p:nvSpPr>
        <p:spPr>
          <a:xfrm>
            <a:off x="2589212" y="1842654"/>
            <a:ext cx="8915400" cy="4488873"/>
          </a:xfrm>
        </p:spPr>
        <p:txBody>
          <a:bodyPr/>
          <a:lstStyle/>
          <a:p>
            <a:r>
              <a:rPr lang="en-US" dirty="0"/>
              <a:t>Consider this – you are asked to identify objects in two given images. </a:t>
            </a:r>
            <a:endParaRPr lang="tr-TR" dirty="0"/>
          </a:p>
          <a:p>
            <a:r>
              <a:rPr lang="en-US" dirty="0"/>
              <a:t>How would you go about doing that? </a:t>
            </a:r>
            <a:endParaRPr lang="tr-TR" dirty="0"/>
          </a:p>
          <a:p>
            <a:r>
              <a:rPr lang="en-US" dirty="0"/>
              <a:t>Typically, you would observe the image, try to identify different features, shapes and edges from the image. </a:t>
            </a:r>
            <a:endParaRPr lang="tr-TR" dirty="0"/>
          </a:p>
          <a:p>
            <a:r>
              <a:rPr lang="en-US" dirty="0"/>
              <a:t>Based on the information you gather, you would say that the object is a dog or a car and so on.</a:t>
            </a:r>
          </a:p>
          <a:p>
            <a:r>
              <a:rPr lang="en-US" dirty="0"/>
              <a:t>This is precisely what the hidden layers in a </a:t>
            </a:r>
            <a:r>
              <a:rPr lang="en-US" b="1" u="sng" dirty="0">
                <a:hlinkClick r:id="rId2"/>
              </a:rPr>
              <a:t>CNN</a:t>
            </a:r>
            <a:r>
              <a:rPr lang="en-US" dirty="0"/>
              <a:t> do – find features in the image. </a:t>
            </a:r>
            <a:endParaRPr lang="tr-TR" dirty="0"/>
          </a:p>
          <a:p>
            <a:r>
              <a:rPr lang="en-US" dirty="0"/>
              <a:t>The convolutional neural network can be broken down into two parts:</a:t>
            </a:r>
          </a:p>
          <a:p>
            <a:r>
              <a:rPr lang="en-US" b="1" u="sng" dirty="0">
                <a:solidFill>
                  <a:srgbClr val="FF0000"/>
                </a:solidFill>
              </a:rPr>
              <a:t>The convolution layers</a:t>
            </a:r>
            <a:r>
              <a:rPr lang="en-US" dirty="0"/>
              <a:t>: Extracts features from the input</a:t>
            </a:r>
          </a:p>
          <a:p>
            <a:r>
              <a:rPr lang="en-US" b="1" u="sng" dirty="0">
                <a:solidFill>
                  <a:srgbClr val="FF0000"/>
                </a:solidFill>
              </a:rPr>
              <a:t>The fully connected (dense) layers</a:t>
            </a:r>
            <a:r>
              <a:rPr lang="en-US" dirty="0"/>
              <a:t>: Uses data from convolution layer to generate output</a:t>
            </a:r>
          </a:p>
          <a:p>
            <a:endParaRPr lang="en-US" dirty="0"/>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72</a:t>
            </a:fld>
            <a:endParaRPr lang="tr-TR"/>
          </a:p>
        </p:txBody>
      </p:sp>
    </p:spTree>
    <p:extLst>
      <p:ext uri="{BB962C8B-B14F-4D97-AF65-F5344CB8AC3E}">
        <p14:creationId xmlns:p14="http://schemas.microsoft.com/office/powerpoint/2010/main" val="378087749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787781"/>
            <a:ext cx="8915400" cy="5342655"/>
          </a:xfrm>
        </p:spPr>
        <p:txBody>
          <a:bodyPr/>
          <a:lstStyle/>
          <a:p>
            <a:r>
              <a:rPr lang="en-US" dirty="0"/>
              <a:t>As we discussed in the previous section, there are two important processes involved in the training of any neural network:</a:t>
            </a:r>
          </a:p>
          <a:p>
            <a:r>
              <a:rPr lang="en-US" b="1" dirty="0"/>
              <a:t>Forward Propagation:</a:t>
            </a:r>
            <a:r>
              <a:rPr lang="en-US" dirty="0"/>
              <a:t> Receive input data, process the information, and generate output</a:t>
            </a:r>
          </a:p>
          <a:p>
            <a:r>
              <a:rPr lang="en-US" b="1" dirty="0"/>
              <a:t>Backward Propagation:</a:t>
            </a:r>
            <a:r>
              <a:rPr lang="en-US" dirty="0"/>
              <a:t> Calculate error and update the parameters of the network</a:t>
            </a:r>
            <a:endParaRPr lang="tr-TR" dirty="0"/>
          </a:p>
          <a:p>
            <a:endParaRPr lang="tr-TR" dirty="0"/>
          </a:p>
          <a:p>
            <a:endParaRPr lang="tr-TR" dirty="0"/>
          </a:p>
          <a:p>
            <a:endParaRPr lang="tr-TR" dirty="0"/>
          </a:p>
          <a:p>
            <a:endParaRPr lang="tr-TR" dirty="0"/>
          </a:p>
          <a:p>
            <a:endParaRPr lang="tr-TR" dirty="0"/>
          </a:p>
          <a:p>
            <a:endParaRPr lang="tr-TR" dirty="0"/>
          </a:p>
          <a:p>
            <a:r>
              <a:rPr lang="en-US" dirty="0"/>
              <a:t>We will cover both of these one by one. Let us start with the </a:t>
            </a:r>
            <a:r>
              <a:rPr lang="en-US" b="1" u="sng" dirty="0">
                <a:solidFill>
                  <a:srgbClr val="FF0000"/>
                </a:solidFill>
              </a:rPr>
              <a:t>forward propagation</a:t>
            </a:r>
            <a:r>
              <a:rPr lang="en-US" dirty="0"/>
              <a:t> process.</a:t>
            </a:r>
          </a:p>
          <a:p>
            <a:endParaRPr lang="en-US" dirty="0"/>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73</a:t>
            </a:fld>
            <a:endParaRPr lang="tr-TR"/>
          </a:p>
        </p:txBody>
      </p:sp>
      <p:pic>
        <p:nvPicPr>
          <p:cNvPr id="6" name="Picture 5"/>
          <p:cNvPicPr>
            <a:picLocks noChangeAspect="1"/>
          </p:cNvPicPr>
          <p:nvPr/>
        </p:nvPicPr>
        <p:blipFill>
          <a:blip r:embed="rId2"/>
          <a:stretch>
            <a:fillRect/>
          </a:stretch>
        </p:blipFill>
        <p:spPr>
          <a:xfrm>
            <a:off x="3183379" y="2909454"/>
            <a:ext cx="7727066" cy="1898074"/>
          </a:xfrm>
          <a:prstGeom prst="rect">
            <a:avLst/>
          </a:prstGeom>
        </p:spPr>
      </p:pic>
    </p:spTree>
    <p:extLst>
      <p:ext uri="{BB962C8B-B14F-4D97-AF65-F5344CB8AC3E}">
        <p14:creationId xmlns:p14="http://schemas.microsoft.com/office/powerpoint/2010/main" val="223820346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163126"/>
          </a:xfrm>
        </p:spPr>
        <p:txBody>
          <a:bodyPr>
            <a:normAutofit fontScale="90000"/>
          </a:bodyPr>
          <a:lstStyle/>
          <a:p>
            <a:r>
              <a:rPr lang="tr-TR" b="1" dirty="0"/>
              <a:t>Convolutional Neural Network (CNN): Forward Propagation</a:t>
            </a:r>
            <a:br>
              <a:rPr lang="tr-TR" b="1" dirty="0"/>
            </a:br>
            <a:br>
              <a:rPr lang="tr-TR" b="1" dirty="0"/>
            </a:br>
            <a:br>
              <a:rPr lang="tr-TR" b="1" dirty="0"/>
            </a:br>
            <a:endParaRPr lang="en-US" dirty="0"/>
          </a:p>
        </p:txBody>
      </p:sp>
      <p:sp>
        <p:nvSpPr>
          <p:cNvPr id="3" name="Content Placeholder 2"/>
          <p:cNvSpPr>
            <a:spLocks noGrp="1"/>
          </p:cNvSpPr>
          <p:nvPr>
            <p:ph idx="1"/>
          </p:nvPr>
        </p:nvSpPr>
        <p:spPr>
          <a:xfrm>
            <a:off x="2589212" y="2133599"/>
            <a:ext cx="8915400" cy="4367233"/>
          </a:xfrm>
        </p:spPr>
        <p:txBody>
          <a:bodyPr/>
          <a:lstStyle/>
          <a:p>
            <a:r>
              <a:rPr lang="tr-TR" sz="2800" b="1" dirty="0"/>
              <a:t>Convolution Layer</a:t>
            </a:r>
            <a:endParaRPr lang="tr-TR" sz="2800" dirty="0"/>
          </a:p>
          <a:p>
            <a:r>
              <a:rPr lang="en-US" dirty="0"/>
              <a:t>You know how we look at images and identify the object’s shape and edges? </a:t>
            </a:r>
            <a:endParaRPr lang="tr-TR" dirty="0"/>
          </a:p>
          <a:p>
            <a:r>
              <a:rPr lang="en-US" dirty="0"/>
              <a:t>A convolutional neural network does this by comparing the pixel values.</a:t>
            </a:r>
          </a:p>
          <a:p>
            <a:r>
              <a:rPr lang="en-US" dirty="0"/>
              <a:t>Below is an image of the number 8 and the pixel values for this image. </a:t>
            </a:r>
            <a:endParaRPr lang="tr-TR" dirty="0"/>
          </a:p>
          <a:p>
            <a:r>
              <a:rPr lang="en-US" dirty="0"/>
              <a:t>Take a look at the image closely. </a:t>
            </a:r>
            <a:endParaRPr lang="tr-TR" dirty="0"/>
          </a:p>
          <a:p>
            <a:r>
              <a:rPr lang="en-US" dirty="0"/>
              <a:t>You would notice that there is a significant difference between the pixel values around the edges of the number. </a:t>
            </a:r>
            <a:endParaRPr lang="tr-TR" dirty="0"/>
          </a:p>
          <a:p>
            <a:r>
              <a:rPr lang="en-US" dirty="0"/>
              <a:t>Hence, a simple way to identify the edges is to compare the neighboring pixel value.</a:t>
            </a:r>
          </a:p>
          <a:p>
            <a:endParaRPr lang="en-US" dirty="0"/>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74</a:t>
            </a:fld>
            <a:endParaRPr lang="tr-TR"/>
          </a:p>
        </p:txBody>
      </p:sp>
    </p:spTree>
    <p:extLst>
      <p:ext uri="{BB962C8B-B14F-4D97-AF65-F5344CB8AC3E}">
        <p14:creationId xmlns:p14="http://schemas.microsoft.com/office/powerpoint/2010/main" val="169459392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787781"/>
            <a:ext cx="8915400" cy="5713051"/>
          </a:xfrm>
        </p:spPr>
        <p:txBody>
          <a:bodyPr/>
          <a:lstStyle/>
          <a:p>
            <a:r>
              <a:rPr lang="en-US" i="1" dirty="0"/>
              <a:t>Do we need to traverse pixel by pixel and compare these values? No! To capture this information, the image is convolved with a filter (also known as a ‘kernel’).</a:t>
            </a:r>
            <a:endParaRPr lang="tr-TR" i="1" dirty="0"/>
          </a:p>
          <a:p>
            <a:endParaRPr lang="tr-TR" i="1" dirty="0"/>
          </a:p>
          <a:p>
            <a:endParaRPr lang="tr-TR" i="1" dirty="0"/>
          </a:p>
          <a:p>
            <a:endParaRPr lang="tr-TR" i="1" dirty="0"/>
          </a:p>
          <a:p>
            <a:endParaRPr lang="tr-TR" i="1" dirty="0"/>
          </a:p>
          <a:p>
            <a:endParaRPr lang="tr-TR" i="1" dirty="0"/>
          </a:p>
          <a:p>
            <a:endParaRPr lang="tr-TR" i="1" dirty="0"/>
          </a:p>
          <a:p>
            <a:endParaRPr lang="tr-TR" i="1" dirty="0"/>
          </a:p>
          <a:p>
            <a:r>
              <a:rPr lang="en-US" dirty="0"/>
              <a:t>Convolution is often represented mathematically with an asterisk * sign. If we have an input image represented as X and a filter represented with </a:t>
            </a:r>
            <a:r>
              <a:rPr lang="en-US" i="1" dirty="0"/>
              <a:t>f</a:t>
            </a:r>
            <a:r>
              <a:rPr lang="en-US" dirty="0"/>
              <a:t>, then the expression would be:</a:t>
            </a:r>
            <a:endParaRPr lang="tr-TR" dirty="0"/>
          </a:p>
          <a:p>
            <a:pPr marL="0" indent="0" algn="ctr">
              <a:buNone/>
            </a:pPr>
            <a:r>
              <a:rPr lang="en-US" b="1" dirty="0">
                <a:solidFill>
                  <a:srgbClr val="FF0000"/>
                </a:solidFill>
                <a:effectLst>
                  <a:outerShdw blurRad="38100" dist="38100" dir="2700000" algn="tl">
                    <a:srgbClr val="000000">
                      <a:alpha val="43137"/>
                    </a:srgbClr>
                  </a:outerShdw>
                </a:effectLst>
              </a:rPr>
              <a:t>Z = X * f</a:t>
            </a: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75</a:t>
            </a:fld>
            <a:endParaRPr lang="tr-TR"/>
          </a:p>
        </p:txBody>
      </p:sp>
      <p:pic>
        <p:nvPicPr>
          <p:cNvPr id="6" name="Picture 5"/>
          <p:cNvPicPr>
            <a:picLocks noChangeAspect="1"/>
          </p:cNvPicPr>
          <p:nvPr/>
        </p:nvPicPr>
        <p:blipFill>
          <a:blip r:embed="rId2"/>
          <a:stretch>
            <a:fillRect/>
          </a:stretch>
        </p:blipFill>
        <p:spPr>
          <a:xfrm>
            <a:off x="4049279" y="1805872"/>
            <a:ext cx="5995266" cy="2752292"/>
          </a:xfrm>
          <a:prstGeom prst="rect">
            <a:avLst/>
          </a:prstGeom>
        </p:spPr>
      </p:pic>
    </p:spTree>
    <p:extLst>
      <p:ext uri="{BB962C8B-B14F-4D97-AF65-F5344CB8AC3E}">
        <p14:creationId xmlns:p14="http://schemas.microsoft.com/office/powerpoint/2010/main" val="63930221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787781"/>
            <a:ext cx="8915400" cy="5713051"/>
          </a:xfrm>
        </p:spPr>
        <p:txBody>
          <a:bodyPr/>
          <a:lstStyle/>
          <a:p>
            <a:r>
              <a:rPr lang="en-US" dirty="0"/>
              <a:t>Let us understand the process of convolution using a simple example. Consider that we have an image of size 3 x 3 and a filter of size 2 x 2:</a:t>
            </a:r>
          </a:p>
          <a:p>
            <a:endParaRPr lang="tr-TR" u="sng" dirty="0">
              <a:hlinkClick r:id="rId2"/>
            </a:endParaRPr>
          </a:p>
          <a:p>
            <a:endParaRPr lang="tr-TR" u="sng" dirty="0">
              <a:hlinkClick r:id="rId2"/>
            </a:endParaRPr>
          </a:p>
          <a:p>
            <a:endParaRPr lang="tr-TR" u="sng" dirty="0">
              <a:hlinkClick r:id="rId2"/>
            </a:endParaRPr>
          </a:p>
          <a:p>
            <a:endParaRPr lang="tr-TR" dirty="0"/>
          </a:p>
          <a:p>
            <a:endParaRPr lang="tr-TR" dirty="0"/>
          </a:p>
          <a:p>
            <a:r>
              <a:rPr lang="en-US" dirty="0"/>
              <a:t>The filter goes through the patches of images, performs an element-wise multiplication, and the values are summed up:</a:t>
            </a:r>
            <a:endParaRPr lang="tr-TR" u="sng" dirty="0">
              <a:hlinkClick r:id="rId2"/>
            </a:endParaRPr>
          </a:p>
          <a:p>
            <a:endParaRPr lang="tr-TR" u="sng" dirty="0">
              <a:hlinkClick r:id="rId2"/>
            </a:endParaRPr>
          </a:p>
          <a:p>
            <a:pPr marL="0" indent="0" algn="ctr">
              <a:buNone/>
            </a:pPr>
            <a:r>
              <a:rPr lang="en-US" u="sng" dirty="0">
                <a:solidFill>
                  <a:schemeClr val="tx1"/>
                </a:solidFill>
                <a:hlinkClick r:id="rId2"/>
              </a:rPr>
              <a:t>(1x1 + 7x1 + 11x0 + 1x1) = 9</a:t>
            </a:r>
          </a:p>
          <a:p>
            <a:pPr marL="0" indent="0" algn="ctr">
              <a:buNone/>
            </a:pPr>
            <a:r>
              <a:rPr lang="en-US" u="sng" dirty="0">
                <a:solidFill>
                  <a:schemeClr val="tx1"/>
                </a:solidFill>
                <a:hlinkClick r:id="rId2"/>
              </a:rPr>
              <a:t>(7x1 + 2x1 + 1x0 + 23x1) = 32</a:t>
            </a:r>
          </a:p>
          <a:p>
            <a:pPr marL="0" indent="0" algn="ctr">
              <a:buNone/>
            </a:pPr>
            <a:r>
              <a:rPr lang="en-US" u="sng" dirty="0">
                <a:solidFill>
                  <a:schemeClr val="tx1"/>
                </a:solidFill>
                <a:hlinkClick r:id="rId2"/>
              </a:rPr>
              <a:t>(11x1 + 1x1 + 2x0 + 2x1) = 14</a:t>
            </a:r>
          </a:p>
          <a:p>
            <a:pPr marL="0" indent="0" algn="ctr">
              <a:buNone/>
            </a:pPr>
            <a:r>
              <a:rPr lang="en-US" u="sng" dirty="0">
                <a:solidFill>
                  <a:schemeClr val="tx1"/>
                </a:solidFill>
                <a:hlinkClick r:id="rId2"/>
              </a:rPr>
              <a:t>(1x1 + 23x1 + 2x0 + 2x1) = 26</a:t>
            </a:r>
            <a:br>
              <a:rPr lang="en-US" u="sng" dirty="0">
                <a:solidFill>
                  <a:schemeClr val="tx1"/>
                </a:solidFill>
                <a:hlinkClick r:id="rId2"/>
              </a:rPr>
            </a:br>
            <a:endParaRPr lang="en-US" dirty="0">
              <a:solidFill>
                <a:schemeClr val="tx1"/>
              </a:solidFill>
            </a:endParaRP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76</a:t>
            </a:fld>
            <a:endParaRPr lang="tr-TR"/>
          </a:p>
        </p:txBody>
      </p:sp>
      <p:pic>
        <p:nvPicPr>
          <p:cNvPr id="6" name="Picture 5"/>
          <p:cNvPicPr>
            <a:picLocks noChangeAspect="1"/>
          </p:cNvPicPr>
          <p:nvPr/>
        </p:nvPicPr>
        <p:blipFill>
          <a:blip r:embed="rId3"/>
          <a:stretch>
            <a:fillRect/>
          </a:stretch>
        </p:blipFill>
        <p:spPr>
          <a:xfrm>
            <a:off x="5803899" y="1546946"/>
            <a:ext cx="2486025" cy="1685925"/>
          </a:xfrm>
          <a:prstGeom prst="rect">
            <a:avLst/>
          </a:prstGeom>
        </p:spPr>
      </p:pic>
    </p:spTree>
    <p:extLst>
      <p:ext uri="{BB962C8B-B14F-4D97-AF65-F5344CB8AC3E}">
        <p14:creationId xmlns:p14="http://schemas.microsoft.com/office/powerpoint/2010/main" val="18248785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787782"/>
            <a:ext cx="8915400" cy="5123440"/>
          </a:xfrm>
        </p:spPr>
        <p:txBody>
          <a:bodyPr/>
          <a:lstStyle/>
          <a:p>
            <a:r>
              <a:rPr lang="en-US" dirty="0"/>
              <a:t>Look at that closely – you’ll notice that the filter is considering a small portion of the image at a time. </a:t>
            </a:r>
            <a:endParaRPr lang="tr-TR" dirty="0"/>
          </a:p>
          <a:p>
            <a:r>
              <a:rPr lang="en-US" dirty="0"/>
              <a:t>We can also imagine this as a single image broken down into smaller patches, each of which is convolved with the filter.</a:t>
            </a:r>
            <a:endParaRPr lang="tr-TR" dirty="0"/>
          </a:p>
          <a:p>
            <a:endParaRPr lang="tr-TR" dirty="0"/>
          </a:p>
          <a:p>
            <a:pPr marL="0" indent="0" algn="ctr">
              <a:buNone/>
            </a:pPr>
            <a:r>
              <a:rPr lang="en-US" u="sng" dirty="0">
                <a:solidFill>
                  <a:srgbClr val="FF0000"/>
                </a:solidFill>
                <a:effectLst>
                  <a:outerShdw blurRad="38100" dist="38100" dir="2700000" algn="tl">
                    <a:srgbClr val="000000">
                      <a:alpha val="43137"/>
                    </a:srgbClr>
                  </a:outerShdw>
                </a:effectLst>
              </a:rPr>
              <a:t>Z = X * f</a:t>
            </a: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77</a:t>
            </a:fld>
            <a:endParaRPr lang="tr-T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3927" y="3349502"/>
            <a:ext cx="4105970" cy="2012042"/>
          </a:xfrm>
          <a:prstGeom prst="rect">
            <a:avLst/>
          </a:prstGeom>
        </p:spPr>
      </p:pic>
    </p:spTree>
    <p:extLst>
      <p:ext uri="{BB962C8B-B14F-4D97-AF65-F5344CB8AC3E}">
        <p14:creationId xmlns:p14="http://schemas.microsoft.com/office/powerpoint/2010/main" val="312785914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787781"/>
            <a:ext cx="8915400" cy="5342655"/>
          </a:xfrm>
        </p:spPr>
        <p:txBody>
          <a:bodyPr/>
          <a:lstStyle/>
          <a:p>
            <a:r>
              <a:rPr lang="en-US" dirty="0"/>
              <a:t>Look at that closely – you’ll notice that the filter is considering a small portion of the image at a time. </a:t>
            </a:r>
            <a:endParaRPr lang="tr-TR" dirty="0"/>
          </a:p>
          <a:p>
            <a:r>
              <a:rPr lang="en-US" dirty="0"/>
              <a:t>We can also imagine this as a single image broken down into smaller patches, each of which is convolved with the filter.</a:t>
            </a: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78</a:t>
            </a:fld>
            <a:endParaRPr lang="tr-T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4099" y="2144154"/>
            <a:ext cx="6905625" cy="3876675"/>
          </a:xfrm>
          <a:prstGeom prst="rect">
            <a:avLst/>
          </a:prstGeom>
        </p:spPr>
      </p:pic>
    </p:spTree>
    <p:extLst>
      <p:ext uri="{BB962C8B-B14F-4D97-AF65-F5344CB8AC3E}">
        <p14:creationId xmlns:p14="http://schemas.microsoft.com/office/powerpoint/2010/main" val="6642766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802908"/>
          </a:xfrm>
        </p:spPr>
        <p:txBody>
          <a:bodyPr>
            <a:normAutofit fontScale="90000"/>
          </a:bodyPr>
          <a:lstStyle/>
          <a:p>
            <a:r>
              <a:rPr lang="tr-TR" b="1" dirty="0"/>
              <a:t>Fully Connected Layer</a:t>
            </a:r>
            <a:br>
              <a:rPr lang="tr-TR" b="1" dirty="0"/>
            </a:br>
            <a:endParaRPr lang="en-US" dirty="0"/>
          </a:p>
        </p:txBody>
      </p:sp>
      <p:sp>
        <p:nvSpPr>
          <p:cNvPr id="3" name="Content Placeholder 2"/>
          <p:cNvSpPr>
            <a:spLocks noGrp="1"/>
          </p:cNvSpPr>
          <p:nvPr>
            <p:ph idx="1"/>
          </p:nvPr>
        </p:nvSpPr>
        <p:spPr>
          <a:xfrm>
            <a:off x="2589212" y="1523999"/>
            <a:ext cx="8915400" cy="4606437"/>
          </a:xfrm>
        </p:spPr>
        <p:txBody>
          <a:bodyPr/>
          <a:lstStyle/>
          <a:p>
            <a:r>
              <a:rPr lang="en-US" dirty="0"/>
              <a:t>So far, the convolution layer has extracted some valuable features from the data. </a:t>
            </a:r>
            <a:endParaRPr lang="tr-TR" dirty="0"/>
          </a:p>
          <a:p>
            <a:r>
              <a:rPr lang="en-US" dirty="0"/>
              <a:t>These features are sent to the fully connected layer that generates the final results. </a:t>
            </a:r>
            <a:endParaRPr lang="tr-TR" dirty="0"/>
          </a:p>
          <a:p>
            <a:r>
              <a:rPr lang="en-US" dirty="0"/>
              <a:t>The fully connected layer in a CNN is nothing but the traditional neural network!</a:t>
            </a:r>
          </a:p>
          <a:p>
            <a:r>
              <a:rPr lang="en-US" dirty="0"/>
              <a:t>The output from the convolution layer was a 2D matrix. </a:t>
            </a:r>
            <a:endParaRPr lang="tr-TR" dirty="0"/>
          </a:p>
          <a:p>
            <a:r>
              <a:rPr lang="en-US" dirty="0"/>
              <a:t>Ideally, we would want each row to represent a single input image. </a:t>
            </a:r>
            <a:endParaRPr lang="tr-TR" dirty="0"/>
          </a:p>
          <a:p>
            <a:r>
              <a:rPr lang="en-US" dirty="0"/>
              <a:t>In fact, the fully connected layer can only work with 1D data. </a:t>
            </a:r>
            <a:endParaRPr lang="tr-TR" dirty="0"/>
          </a:p>
          <a:p>
            <a:r>
              <a:rPr lang="en-US" dirty="0"/>
              <a:t>Hence, the values generated from the previous operation are first converted into a 1D format.</a:t>
            </a:r>
          </a:p>
          <a:p>
            <a:endParaRPr lang="en-US" dirty="0"/>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79</a:t>
            </a:fld>
            <a:endParaRPr lang="tr-TR"/>
          </a:p>
        </p:txBody>
      </p:sp>
    </p:spTree>
    <p:extLst>
      <p:ext uri="{BB962C8B-B14F-4D97-AF65-F5344CB8AC3E}">
        <p14:creationId xmlns:p14="http://schemas.microsoft.com/office/powerpoint/2010/main" val="14534302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787782"/>
            <a:ext cx="8915400" cy="5123440"/>
          </a:xfrm>
        </p:spPr>
        <p:txBody>
          <a:bodyPr/>
          <a:lstStyle/>
          <a:p>
            <a:r>
              <a:rPr lang="en-US" dirty="0"/>
              <a:t>Once the data is converted into a 1D array, it is sent to the fully connected layer. </a:t>
            </a:r>
            <a:endParaRPr lang="tr-TR" dirty="0"/>
          </a:p>
          <a:p>
            <a:r>
              <a:rPr lang="en-US" dirty="0"/>
              <a:t>All of these individual values are treated as separate features that represent the image. </a:t>
            </a:r>
            <a:endParaRPr lang="tr-TR" dirty="0"/>
          </a:p>
          <a:p>
            <a:r>
              <a:rPr lang="en-US" dirty="0"/>
              <a:t>The fully connected layer performs two operations on the incoming data – </a:t>
            </a:r>
            <a:r>
              <a:rPr lang="en-US" b="1" dirty="0"/>
              <a:t>a linear transformation and a non-linear transformation.</a:t>
            </a:r>
            <a:endParaRPr lang="en-US" dirty="0"/>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80</a:t>
            </a:fld>
            <a:endParaRPr lang="tr-TR"/>
          </a:p>
        </p:txBody>
      </p:sp>
      <p:pic>
        <p:nvPicPr>
          <p:cNvPr id="6" name="Picture 5"/>
          <p:cNvPicPr>
            <a:picLocks noChangeAspect="1"/>
          </p:cNvPicPr>
          <p:nvPr/>
        </p:nvPicPr>
        <p:blipFill>
          <a:blip r:embed="rId2"/>
          <a:stretch>
            <a:fillRect/>
          </a:stretch>
        </p:blipFill>
        <p:spPr>
          <a:xfrm>
            <a:off x="5065711" y="3113280"/>
            <a:ext cx="3962402" cy="2797942"/>
          </a:xfrm>
          <a:prstGeom prst="rect">
            <a:avLst/>
          </a:prstGeom>
        </p:spPr>
      </p:pic>
    </p:spTree>
    <p:extLst>
      <p:ext uri="{BB962C8B-B14F-4D97-AF65-F5344CB8AC3E}">
        <p14:creationId xmlns:p14="http://schemas.microsoft.com/office/powerpoint/2010/main" val="203919748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92495" y="1397382"/>
            <a:ext cx="8915400" cy="4019746"/>
          </a:xfrm>
        </p:spPr>
        <p:txBody>
          <a:bodyPr/>
          <a:lstStyle/>
          <a:p>
            <a:r>
              <a:rPr lang="en-US" dirty="0"/>
              <a:t>Once the data is converted into a 1D array, it is sent to the fully connected layer. </a:t>
            </a:r>
            <a:endParaRPr lang="tr-TR" dirty="0"/>
          </a:p>
          <a:p>
            <a:r>
              <a:rPr lang="en-US" dirty="0"/>
              <a:t>All of these individual values are treated as separate features that represent the image. </a:t>
            </a:r>
            <a:endParaRPr lang="tr-TR" dirty="0"/>
          </a:p>
          <a:p>
            <a:r>
              <a:rPr lang="en-US" dirty="0"/>
              <a:t>The fully connected layer performs two operations on the incoming data – </a:t>
            </a:r>
            <a:r>
              <a:rPr lang="en-US" u="sng" dirty="0">
                <a:solidFill>
                  <a:srgbClr val="FF0000"/>
                </a:solidFill>
              </a:rPr>
              <a:t>a linear transformation and a non-linear transformation</a:t>
            </a:r>
            <a:r>
              <a:rPr lang="en-US" dirty="0"/>
              <a:t>.</a:t>
            </a:r>
          </a:p>
          <a:p>
            <a:r>
              <a:rPr lang="en-US" dirty="0"/>
              <a:t>We first perform a linear transformation on this data. The equation for linear transformation is:</a:t>
            </a:r>
          </a:p>
          <a:p>
            <a:pPr marL="0" indent="0" algn="ctr">
              <a:buNone/>
            </a:pPr>
            <a:r>
              <a:rPr lang="en-US" b="1" u="sng" dirty="0">
                <a:solidFill>
                  <a:srgbClr val="FF0000"/>
                </a:solidFill>
                <a:effectLst>
                  <a:outerShdw blurRad="38100" dist="38100" dir="2700000" algn="tl">
                    <a:srgbClr val="000000">
                      <a:alpha val="43137"/>
                    </a:srgbClr>
                  </a:outerShdw>
                </a:effectLst>
              </a:rPr>
              <a:t>Z = W</a:t>
            </a:r>
            <a:r>
              <a:rPr lang="en-US" b="1" u="sng" baseline="30000" dirty="0">
                <a:solidFill>
                  <a:srgbClr val="FF0000"/>
                </a:solidFill>
                <a:effectLst>
                  <a:outerShdw blurRad="38100" dist="38100" dir="2700000" algn="tl">
                    <a:srgbClr val="000000">
                      <a:alpha val="43137"/>
                    </a:srgbClr>
                  </a:outerShdw>
                </a:effectLst>
              </a:rPr>
              <a:t>T</a:t>
            </a:r>
            <a:r>
              <a:rPr lang="en-US" b="1" u="sng" dirty="0">
                <a:solidFill>
                  <a:srgbClr val="FF0000"/>
                </a:solidFill>
                <a:effectLst>
                  <a:outerShdw blurRad="38100" dist="38100" dir="2700000" algn="tl">
                    <a:srgbClr val="000000">
                      <a:alpha val="43137"/>
                    </a:srgbClr>
                  </a:outerShdw>
                </a:effectLst>
              </a:rPr>
              <a:t>.X + b</a:t>
            </a: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81</a:t>
            </a:fld>
            <a:endParaRPr lang="tr-TR"/>
          </a:p>
        </p:txBody>
      </p:sp>
    </p:spTree>
    <p:extLst>
      <p:ext uri="{BB962C8B-B14F-4D97-AF65-F5344CB8AC3E}">
        <p14:creationId xmlns:p14="http://schemas.microsoft.com/office/powerpoint/2010/main" val="193525409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787782"/>
            <a:ext cx="8915400" cy="5123440"/>
          </a:xfrm>
        </p:spPr>
        <p:txBody>
          <a:bodyPr/>
          <a:lstStyle/>
          <a:p>
            <a:r>
              <a:rPr lang="en-US" dirty="0"/>
              <a:t>Here, X is the input, W is weight, and b (called bias) is a constant. </a:t>
            </a:r>
            <a:endParaRPr lang="tr-TR" dirty="0"/>
          </a:p>
          <a:p>
            <a:r>
              <a:rPr lang="en-US" dirty="0"/>
              <a:t>Note that the W in this case will be a matrix of (randomly initialized) numbers. </a:t>
            </a:r>
            <a:endParaRPr lang="tr-TR" dirty="0"/>
          </a:p>
          <a:p>
            <a:r>
              <a:rPr lang="en-US" dirty="0"/>
              <a:t>Can you guess what would be the size of this matrix?</a:t>
            </a: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82</a:t>
            </a:fld>
            <a:endParaRPr lang="tr-TR"/>
          </a:p>
        </p:txBody>
      </p:sp>
      <p:pic>
        <p:nvPicPr>
          <p:cNvPr id="6" name="Picture 5"/>
          <p:cNvPicPr>
            <a:picLocks noChangeAspect="1"/>
          </p:cNvPicPr>
          <p:nvPr/>
        </p:nvPicPr>
        <p:blipFill>
          <a:blip r:embed="rId2"/>
          <a:stretch>
            <a:fillRect/>
          </a:stretch>
        </p:blipFill>
        <p:spPr>
          <a:xfrm>
            <a:off x="4165599" y="2705099"/>
            <a:ext cx="5762625" cy="2667000"/>
          </a:xfrm>
          <a:prstGeom prst="rect">
            <a:avLst/>
          </a:prstGeom>
        </p:spPr>
      </p:pic>
    </p:spTree>
    <p:extLst>
      <p:ext uri="{BB962C8B-B14F-4D97-AF65-F5344CB8AC3E}">
        <p14:creationId xmlns:p14="http://schemas.microsoft.com/office/powerpoint/2010/main" val="414266424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787781"/>
            <a:ext cx="8915400" cy="5474473"/>
          </a:xfrm>
        </p:spPr>
        <p:txBody>
          <a:bodyPr/>
          <a:lstStyle/>
          <a:p>
            <a:r>
              <a:rPr lang="en-US" dirty="0"/>
              <a:t>Considering the size of the matrix is (m, n) – m will be equal to the number of features or inputs for this layer. </a:t>
            </a:r>
            <a:endParaRPr lang="tr-TR" dirty="0"/>
          </a:p>
          <a:p>
            <a:r>
              <a:rPr lang="en-US" dirty="0"/>
              <a:t>Since we have 4 features from the convolution layer, m here would be 4. </a:t>
            </a:r>
            <a:endParaRPr lang="tr-TR" dirty="0"/>
          </a:p>
          <a:p>
            <a:r>
              <a:rPr lang="en-US" dirty="0"/>
              <a:t>The value of n will depend on the number of neurons in the layer. </a:t>
            </a:r>
            <a:endParaRPr lang="tr-TR" dirty="0"/>
          </a:p>
          <a:p>
            <a:r>
              <a:rPr lang="en-US" dirty="0"/>
              <a:t>For instance, if we have two neurons, then the shape of weight matrix will be (4, 2):</a:t>
            </a: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83</a:t>
            </a:fld>
            <a:endParaRPr lang="tr-TR"/>
          </a:p>
        </p:txBody>
      </p:sp>
      <p:pic>
        <p:nvPicPr>
          <p:cNvPr id="6" name="Picture 5"/>
          <p:cNvPicPr>
            <a:picLocks noChangeAspect="1"/>
          </p:cNvPicPr>
          <p:nvPr/>
        </p:nvPicPr>
        <p:blipFill>
          <a:blip r:embed="rId2"/>
          <a:stretch>
            <a:fillRect/>
          </a:stretch>
        </p:blipFill>
        <p:spPr>
          <a:xfrm>
            <a:off x="4192876" y="3117182"/>
            <a:ext cx="5708072" cy="2701820"/>
          </a:xfrm>
          <a:prstGeom prst="rect">
            <a:avLst/>
          </a:prstGeom>
        </p:spPr>
      </p:pic>
    </p:spTree>
    <p:extLst>
      <p:ext uri="{BB962C8B-B14F-4D97-AF65-F5344CB8AC3E}">
        <p14:creationId xmlns:p14="http://schemas.microsoft.com/office/powerpoint/2010/main" val="346641817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787782"/>
            <a:ext cx="8915400" cy="5342655"/>
          </a:xfrm>
        </p:spPr>
        <p:txBody>
          <a:bodyPr/>
          <a:lstStyle/>
          <a:p>
            <a:r>
              <a:rPr lang="en-US" dirty="0"/>
              <a:t>Having defined the weight and bias matrix, let us put these in the equation for linear transformation:</a:t>
            </a:r>
            <a:endParaRPr lang="tr-TR" dirty="0"/>
          </a:p>
          <a:p>
            <a:endParaRPr lang="tr-TR" dirty="0"/>
          </a:p>
          <a:p>
            <a:endParaRPr lang="tr-TR" dirty="0"/>
          </a:p>
          <a:p>
            <a:endParaRPr lang="tr-TR" dirty="0"/>
          </a:p>
          <a:p>
            <a:endParaRPr lang="tr-TR" dirty="0"/>
          </a:p>
          <a:p>
            <a:endParaRPr lang="tr-TR" dirty="0"/>
          </a:p>
          <a:p>
            <a:endParaRPr lang="tr-TR" dirty="0"/>
          </a:p>
          <a:p>
            <a:endParaRPr lang="tr-TR" dirty="0"/>
          </a:p>
          <a:p>
            <a:endParaRPr lang="tr-TR" dirty="0"/>
          </a:p>
          <a:p>
            <a:endParaRPr lang="tr-TR" dirty="0"/>
          </a:p>
          <a:p>
            <a:r>
              <a:rPr lang="en-US" dirty="0"/>
              <a:t>Now, there is one final step in the forward propagation process – the non-linear transformations. Let us understand the concept of non-linear transformation and it’s role in the forward propagation process.</a:t>
            </a: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84</a:t>
            </a:fld>
            <a:endParaRPr lang="tr-TR"/>
          </a:p>
        </p:txBody>
      </p:sp>
      <p:pic>
        <p:nvPicPr>
          <p:cNvPr id="6" name="Picture 5"/>
          <p:cNvPicPr>
            <a:picLocks noChangeAspect="1"/>
          </p:cNvPicPr>
          <p:nvPr/>
        </p:nvPicPr>
        <p:blipFill>
          <a:blip r:embed="rId2"/>
          <a:stretch>
            <a:fillRect/>
          </a:stretch>
        </p:blipFill>
        <p:spPr>
          <a:xfrm>
            <a:off x="4658879" y="1502705"/>
            <a:ext cx="4776066" cy="3104444"/>
          </a:xfrm>
          <a:prstGeom prst="rect">
            <a:avLst/>
          </a:prstGeom>
        </p:spPr>
      </p:pic>
    </p:spTree>
    <p:extLst>
      <p:ext uri="{BB962C8B-B14F-4D97-AF65-F5344CB8AC3E}">
        <p14:creationId xmlns:p14="http://schemas.microsoft.com/office/powerpoint/2010/main" val="324469612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802908"/>
          </a:xfrm>
        </p:spPr>
        <p:txBody>
          <a:bodyPr>
            <a:normAutofit fontScale="90000"/>
          </a:bodyPr>
          <a:lstStyle/>
          <a:p>
            <a:r>
              <a:rPr lang="tr-TR" b="1" dirty="0"/>
              <a:t>Non-Linear transformation</a:t>
            </a:r>
            <a:br>
              <a:rPr lang="tr-TR" b="1" dirty="0"/>
            </a:br>
            <a:endParaRPr lang="en-US" dirty="0"/>
          </a:p>
        </p:txBody>
      </p:sp>
      <p:sp>
        <p:nvSpPr>
          <p:cNvPr id="3" name="Content Placeholder 2"/>
          <p:cNvSpPr>
            <a:spLocks noGrp="1"/>
          </p:cNvSpPr>
          <p:nvPr>
            <p:ph idx="1"/>
          </p:nvPr>
        </p:nvSpPr>
        <p:spPr>
          <a:xfrm>
            <a:off x="2589212" y="1427018"/>
            <a:ext cx="8915400" cy="4484204"/>
          </a:xfrm>
        </p:spPr>
        <p:txBody>
          <a:bodyPr/>
          <a:lstStyle/>
          <a:p>
            <a:r>
              <a:rPr lang="en-US" dirty="0"/>
              <a:t>The linear transformation alone cannot capture complex relationships. </a:t>
            </a:r>
            <a:endParaRPr lang="tr-TR" dirty="0"/>
          </a:p>
          <a:p>
            <a:r>
              <a:rPr lang="en-US" dirty="0"/>
              <a:t>Thus, we introduce an additional component in the network which adds non-linearity to the data. </a:t>
            </a:r>
            <a:endParaRPr lang="tr-TR" dirty="0"/>
          </a:p>
          <a:p>
            <a:r>
              <a:rPr lang="en-US" dirty="0"/>
              <a:t>This new component in the architecture is called the activation function.</a:t>
            </a:r>
            <a:r>
              <a:rPr lang="tr-TR" dirty="0"/>
              <a:t> </a:t>
            </a:r>
          </a:p>
          <a:p>
            <a:r>
              <a:rPr lang="en-US" dirty="0"/>
              <a:t>There are a number of activation functions that you can use – here is the complete list:</a:t>
            </a:r>
            <a:endParaRPr lang="tr-TR" dirty="0"/>
          </a:p>
          <a:p>
            <a:r>
              <a:rPr lang="tr-TR" dirty="0">
                <a:hlinkClick r:id="rId2"/>
              </a:rPr>
              <a:t>https://www.analyticsvidhya.com/blog/2020/01/fundamentals-deep-learning-activation-functions-when-to-use-them/?utm_source=blog&amp;utm_medium=mathematics-convolutional-neural-network</a:t>
            </a:r>
            <a:endParaRPr lang="en-US" dirty="0"/>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dirty="0"/>
          </a:p>
        </p:txBody>
      </p:sp>
      <p:sp>
        <p:nvSpPr>
          <p:cNvPr id="5" name="Slide Number Placeholder 4"/>
          <p:cNvSpPr>
            <a:spLocks noGrp="1"/>
          </p:cNvSpPr>
          <p:nvPr>
            <p:ph type="sldNum" sz="quarter" idx="12"/>
          </p:nvPr>
        </p:nvSpPr>
        <p:spPr/>
        <p:txBody>
          <a:bodyPr/>
          <a:lstStyle/>
          <a:p>
            <a:fld id="{4C61373B-6CD7-433C-9DE2-D4B638969085}" type="slidenum">
              <a:rPr lang="tr-TR" smtClean="0"/>
              <a:t>85</a:t>
            </a:fld>
            <a:endParaRPr lang="tr-TR"/>
          </a:p>
        </p:txBody>
      </p:sp>
    </p:spTree>
    <p:extLst>
      <p:ext uri="{BB962C8B-B14F-4D97-AF65-F5344CB8AC3E}">
        <p14:creationId xmlns:p14="http://schemas.microsoft.com/office/powerpoint/2010/main" val="374927110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787782"/>
            <a:ext cx="8915400" cy="5123440"/>
          </a:xfrm>
        </p:spPr>
        <p:txBody>
          <a:bodyPr/>
          <a:lstStyle/>
          <a:p>
            <a:r>
              <a:rPr lang="en-US" dirty="0"/>
              <a:t>These activation functions are added at each layer in the neural network. </a:t>
            </a:r>
            <a:endParaRPr lang="tr-TR" dirty="0"/>
          </a:p>
          <a:p>
            <a:r>
              <a:rPr lang="en-US" dirty="0"/>
              <a:t>The activation function to be used will depend on the type of problem you are solving.</a:t>
            </a:r>
          </a:p>
          <a:p>
            <a:r>
              <a:rPr lang="en-US" dirty="0"/>
              <a:t>We will be working on a binary classification problem and will use the </a:t>
            </a:r>
            <a:r>
              <a:rPr lang="en-US" u="sng" dirty="0">
                <a:solidFill>
                  <a:srgbClr val="FF0000"/>
                </a:solidFill>
              </a:rPr>
              <a:t>Sigmoid</a:t>
            </a:r>
            <a:r>
              <a:rPr lang="en-US" dirty="0"/>
              <a:t> activation function. </a:t>
            </a:r>
            <a:endParaRPr lang="tr-TR" dirty="0"/>
          </a:p>
          <a:p>
            <a:r>
              <a:rPr lang="en-US" dirty="0"/>
              <a:t>Let’s quickly look at the mathematical expression for this:</a:t>
            </a:r>
            <a:endParaRPr lang="tr-TR" dirty="0"/>
          </a:p>
          <a:p>
            <a:endParaRPr lang="tr-TR" dirty="0"/>
          </a:p>
          <a:p>
            <a:pPr marL="0" indent="0" algn="ctr">
              <a:buNone/>
            </a:pPr>
            <a:r>
              <a:rPr lang="en-US" u="sng" dirty="0">
                <a:solidFill>
                  <a:srgbClr val="FF0000"/>
                </a:solidFill>
                <a:effectLst>
                  <a:outerShdw blurRad="38100" dist="38100" dir="2700000" algn="tl">
                    <a:srgbClr val="000000">
                      <a:alpha val="43137"/>
                    </a:srgbClr>
                  </a:outerShdw>
                </a:effectLst>
              </a:rPr>
              <a:t>f(x) = 1/(1+e</a:t>
            </a:r>
            <a:r>
              <a:rPr lang="en-US" u="sng" baseline="30000" dirty="0">
                <a:solidFill>
                  <a:srgbClr val="FF0000"/>
                </a:solidFill>
                <a:effectLst>
                  <a:outerShdw blurRad="38100" dist="38100" dir="2700000" algn="tl">
                    <a:srgbClr val="000000">
                      <a:alpha val="43137"/>
                    </a:srgbClr>
                  </a:outerShdw>
                </a:effectLst>
              </a:rPr>
              <a:t>-x</a:t>
            </a:r>
            <a:r>
              <a:rPr lang="en-US" u="sng" dirty="0">
                <a:solidFill>
                  <a:srgbClr val="FF0000"/>
                </a:solidFill>
                <a:effectLst>
                  <a:outerShdw blurRad="38100" dist="38100" dir="2700000" algn="tl">
                    <a:srgbClr val="000000">
                      <a:alpha val="43137"/>
                    </a:srgbClr>
                  </a:outerShdw>
                </a:effectLst>
              </a:rPr>
              <a:t>)</a:t>
            </a:r>
            <a:endParaRPr lang="tr-TR" u="sng" dirty="0">
              <a:solidFill>
                <a:srgbClr val="FF0000"/>
              </a:solidFill>
              <a:effectLst>
                <a:outerShdw blurRad="38100" dist="38100" dir="2700000" algn="tl">
                  <a:srgbClr val="000000">
                    <a:alpha val="43137"/>
                  </a:srgbClr>
                </a:outerShdw>
              </a:effectLst>
            </a:endParaRPr>
          </a:p>
          <a:p>
            <a:pPr marL="0" indent="0" algn="ctr">
              <a:buNone/>
            </a:pPr>
            <a:endParaRPr lang="tr-TR" dirty="0"/>
          </a:p>
          <a:p>
            <a:r>
              <a:rPr lang="tr-TR" dirty="0"/>
              <a:t>T</a:t>
            </a:r>
            <a:r>
              <a:rPr lang="en-US" dirty="0"/>
              <a:t>he range of a Sigmoid function is between 0 and 1. </a:t>
            </a:r>
            <a:endParaRPr lang="tr-TR" dirty="0"/>
          </a:p>
          <a:p>
            <a:r>
              <a:rPr lang="en-US" dirty="0"/>
              <a:t>This means that for any input value, the result would always be in the range (0, 1). </a:t>
            </a:r>
            <a:endParaRPr lang="tr-TR" dirty="0"/>
          </a:p>
          <a:p>
            <a:r>
              <a:rPr lang="en-US" dirty="0"/>
              <a:t>A Sigmoid function is majorly used for binary classification problems and we will use this for both convolution and fully-connected layers.</a:t>
            </a:r>
          </a:p>
          <a:p>
            <a:pPr marL="0" indent="0" algn="ctr">
              <a:buNone/>
            </a:pPr>
            <a:endParaRPr lang="en-US" dirty="0"/>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86</a:t>
            </a:fld>
            <a:endParaRPr lang="tr-TR"/>
          </a:p>
        </p:txBody>
      </p:sp>
    </p:spTree>
    <p:extLst>
      <p:ext uri="{BB962C8B-B14F-4D97-AF65-F5344CB8AC3E}">
        <p14:creationId xmlns:p14="http://schemas.microsoft.com/office/powerpoint/2010/main" val="149973180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89054"/>
          </a:xfrm>
        </p:spPr>
        <p:txBody>
          <a:bodyPr>
            <a:normAutofit fontScale="90000"/>
          </a:bodyPr>
          <a:lstStyle/>
          <a:p>
            <a:r>
              <a:rPr lang="tr-TR" b="1" dirty="0"/>
              <a:t>Forward Propagation Summary</a:t>
            </a:r>
            <a:br>
              <a:rPr lang="tr-TR" b="1" dirty="0"/>
            </a:br>
            <a:endParaRPr lang="en-US" dirty="0"/>
          </a:p>
        </p:txBody>
      </p:sp>
      <p:sp>
        <p:nvSpPr>
          <p:cNvPr id="3" name="Content Placeholder 2"/>
          <p:cNvSpPr>
            <a:spLocks noGrp="1"/>
          </p:cNvSpPr>
          <p:nvPr>
            <p:ph idx="1"/>
          </p:nvPr>
        </p:nvSpPr>
        <p:spPr>
          <a:xfrm>
            <a:off x="2589212" y="1413163"/>
            <a:ext cx="8915400" cy="4717273"/>
          </a:xfrm>
        </p:spPr>
        <p:txBody>
          <a:bodyPr/>
          <a:lstStyle/>
          <a:p>
            <a:r>
              <a:rPr lang="en-US" b="1" dirty="0">
                <a:effectLst>
                  <a:outerShdw blurRad="38100" dist="38100" dir="2700000" algn="tl">
                    <a:srgbClr val="000000">
                      <a:alpha val="43137"/>
                    </a:srgbClr>
                  </a:outerShdw>
                </a:effectLst>
              </a:rPr>
              <a:t>Step 1</a:t>
            </a:r>
            <a:r>
              <a:rPr lang="en-US" b="1" dirty="0"/>
              <a:t>:</a:t>
            </a:r>
            <a:r>
              <a:rPr lang="en-US" dirty="0"/>
              <a:t> Load the input images in a variable (say X)</a:t>
            </a:r>
            <a:endParaRPr lang="tr-TR" dirty="0"/>
          </a:p>
          <a:p>
            <a:r>
              <a:rPr lang="en-US" b="1" dirty="0">
                <a:effectLst>
                  <a:outerShdw blurRad="38100" dist="38100" dir="2700000" algn="tl">
                    <a:srgbClr val="000000">
                      <a:alpha val="43137"/>
                    </a:srgbClr>
                  </a:outerShdw>
                </a:effectLst>
              </a:rPr>
              <a:t>Step 2</a:t>
            </a:r>
            <a:r>
              <a:rPr lang="en-US" b="1" dirty="0"/>
              <a:t>:</a:t>
            </a:r>
            <a:r>
              <a:rPr lang="en-US" dirty="0"/>
              <a:t> Define (randomly initialize) a filter matrix. Images are convolved with the filter</a:t>
            </a:r>
            <a:endParaRPr lang="tr-TR" dirty="0"/>
          </a:p>
          <a:p>
            <a:r>
              <a:rPr lang="en-US" u="sng" dirty="0">
                <a:solidFill>
                  <a:srgbClr val="FF0000"/>
                </a:solidFill>
                <a:effectLst>
                  <a:outerShdw blurRad="38100" dist="38100" dir="2700000" algn="tl">
                    <a:srgbClr val="000000">
                      <a:alpha val="43137"/>
                    </a:srgbClr>
                  </a:outerShdw>
                </a:effectLst>
              </a:rPr>
              <a:t>Z</a:t>
            </a:r>
            <a:r>
              <a:rPr lang="en-US" u="sng" baseline="-25000" dirty="0">
                <a:solidFill>
                  <a:srgbClr val="FF0000"/>
                </a:solidFill>
                <a:effectLst>
                  <a:outerShdw blurRad="38100" dist="38100" dir="2700000" algn="tl">
                    <a:srgbClr val="000000">
                      <a:alpha val="43137"/>
                    </a:srgbClr>
                  </a:outerShdw>
                </a:effectLst>
              </a:rPr>
              <a:t>1</a:t>
            </a:r>
            <a:r>
              <a:rPr lang="en-US" u="sng" dirty="0">
                <a:solidFill>
                  <a:srgbClr val="FF0000"/>
                </a:solidFill>
                <a:effectLst>
                  <a:outerShdw blurRad="38100" dist="38100" dir="2700000" algn="tl">
                    <a:srgbClr val="000000">
                      <a:alpha val="43137"/>
                    </a:srgbClr>
                  </a:outerShdw>
                </a:effectLst>
              </a:rPr>
              <a:t> = X * f</a:t>
            </a:r>
            <a:endParaRPr lang="tr-TR" u="sng" dirty="0">
              <a:solidFill>
                <a:srgbClr val="FF0000"/>
              </a:solidFill>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Step 3</a:t>
            </a:r>
            <a:r>
              <a:rPr lang="en-US" b="1" dirty="0"/>
              <a:t>:</a:t>
            </a:r>
            <a:r>
              <a:rPr lang="en-US" dirty="0"/>
              <a:t> Apply the Sigmoid activation function on the result</a:t>
            </a:r>
            <a:endParaRPr lang="tr-TR" dirty="0"/>
          </a:p>
          <a:p>
            <a:r>
              <a:rPr lang="en-US" u="sng" dirty="0">
                <a:solidFill>
                  <a:srgbClr val="FF0000"/>
                </a:solidFill>
                <a:effectLst>
                  <a:outerShdw blurRad="38100" dist="38100" dir="2700000" algn="tl">
                    <a:srgbClr val="000000">
                      <a:alpha val="43137"/>
                    </a:srgbClr>
                  </a:outerShdw>
                </a:effectLst>
              </a:rPr>
              <a:t>A = sigmoid(Z</a:t>
            </a:r>
            <a:r>
              <a:rPr lang="en-US" u="sng" baseline="-25000" dirty="0">
                <a:solidFill>
                  <a:srgbClr val="FF0000"/>
                </a:solidFill>
                <a:effectLst>
                  <a:outerShdw blurRad="38100" dist="38100" dir="2700000" algn="tl">
                    <a:srgbClr val="000000">
                      <a:alpha val="43137"/>
                    </a:srgbClr>
                  </a:outerShdw>
                </a:effectLst>
              </a:rPr>
              <a:t>1</a:t>
            </a:r>
            <a:r>
              <a:rPr lang="en-US" u="sng" dirty="0">
                <a:solidFill>
                  <a:srgbClr val="FF0000"/>
                </a:solidFill>
                <a:effectLst>
                  <a:outerShdw blurRad="38100" dist="38100" dir="2700000" algn="tl">
                    <a:srgbClr val="000000">
                      <a:alpha val="43137"/>
                    </a:srgbClr>
                  </a:outerShdw>
                </a:effectLst>
              </a:rPr>
              <a:t>)</a:t>
            </a:r>
            <a:endParaRPr lang="tr-TR" u="sng" dirty="0">
              <a:solidFill>
                <a:srgbClr val="FF0000"/>
              </a:solidFill>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Step 4</a:t>
            </a:r>
            <a:r>
              <a:rPr lang="en-US" b="1" dirty="0"/>
              <a:t>:</a:t>
            </a:r>
            <a:r>
              <a:rPr lang="en-US" dirty="0"/>
              <a:t> Define (randomly initialize) weight and bias matrix. Apply linear transformation on the values</a:t>
            </a:r>
            <a:endParaRPr lang="tr-TR" dirty="0"/>
          </a:p>
          <a:p>
            <a:r>
              <a:rPr lang="en-US" u="sng" dirty="0">
                <a:solidFill>
                  <a:srgbClr val="FF0000"/>
                </a:solidFill>
                <a:effectLst>
                  <a:outerShdw blurRad="38100" dist="38100" dir="2700000" algn="tl">
                    <a:srgbClr val="000000">
                      <a:alpha val="43137"/>
                    </a:srgbClr>
                  </a:outerShdw>
                </a:effectLst>
              </a:rPr>
              <a:t>Z</a:t>
            </a:r>
            <a:r>
              <a:rPr lang="en-US" u="sng" baseline="-25000" dirty="0">
                <a:solidFill>
                  <a:srgbClr val="FF0000"/>
                </a:solidFill>
                <a:effectLst>
                  <a:outerShdw blurRad="38100" dist="38100" dir="2700000" algn="tl">
                    <a:srgbClr val="000000">
                      <a:alpha val="43137"/>
                    </a:srgbClr>
                  </a:outerShdw>
                </a:effectLst>
              </a:rPr>
              <a:t>2</a:t>
            </a:r>
            <a:r>
              <a:rPr lang="en-US" u="sng" dirty="0">
                <a:solidFill>
                  <a:srgbClr val="FF0000"/>
                </a:solidFill>
                <a:effectLst>
                  <a:outerShdw blurRad="38100" dist="38100" dir="2700000" algn="tl">
                    <a:srgbClr val="000000">
                      <a:alpha val="43137"/>
                    </a:srgbClr>
                  </a:outerShdw>
                </a:effectLst>
              </a:rPr>
              <a:t> = W</a:t>
            </a:r>
            <a:r>
              <a:rPr lang="en-US" u="sng" baseline="30000" dirty="0">
                <a:solidFill>
                  <a:srgbClr val="FF0000"/>
                </a:solidFill>
                <a:effectLst>
                  <a:outerShdw blurRad="38100" dist="38100" dir="2700000" algn="tl">
                    <a:srgbClr val="000000">
                      <a:alpha val="43137"/>
                    </a:srgbClr>
                  </a:outerShdw>
                </a:effectLst>
              </a:rPr>
              <a:t>T</a:t>
            </a:r>
            <a:r>
              <a:rPr lang="en-US" u="sng" dirty="0">
                <a:solidFill>
                  <a:srgbClr val="FF0000"/>
                </a:solidFill>
                <a:effectLst>
                  <a:outerShdw blurRad="38100" dist="38100" dir="2700000" algn="tl">
                    <a:srgbClr val="000000">
                      <a:alpha val="43137"/>
                    </a:srgbClr>
                  </a:outerShdw>
                </a:effectLst>
              </a:rPr>
              <a:t>.A + b</a:t>
            </a:r>
            <a:endParaRPr lang="tr-TR" u="sng" dirty="0">
              <a:solidFill>
                <a:srgbClr val="FF0000"/>
              </a:solidFill>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Step 5</a:t>
            </a:r>
            <a:r>
              <a:rPr lang="en-US" b="1" dirty="0"/>
              <a:t>:</a:t>
            </a:r>
            <a:r>
              <a:rPr lang="en-US" dirty="0"/>
              <a:t> Apply the Sigmoid function on the data. This will be the final output</a:t>
            </a:r>
            <a:endParaRPr lang="tr-TR" dirty="0"/>
          </a:p>
          <a:p>
            <a:r>
              <a:rPr lang="en-US" u="sng" dirty="0">
                <a:solidFill>
                  <a:srgbClr val="FF0000"/>
                </a:solidFill>
                <a:effectLst>
                  <a:outerShdw blurRad="38100" dist="38100" dir="2700000" algn="tl">
                    <a:srgbClr val="000000">
                      <a:alpha val="43137"/>
                    </a:srgbClr>
                  </a:outerShdw>
                </a:effectLst>
              </a:rPr>
              <a:t>O = sigmoid(Z</a:t>
            </a:r>
            <a:r>
              <a:rPr lang="en-US" u="sng" baseline="-25000" dirty="0">
                <a:solidFill>
                  <a:srgbClr val="FF0000"/>
                </a:solidFill>
                <a:effectLst>
                  <a:outerShdw blurRad="38100" dist="38100" dir="2700000" algn="tl">
                    <a:srgbClr val="000000">
                      <a:alpha val="43137"/>
                    </a:srgbClr>
                  </a:outerShdw>
                </a:effectLst>
              </a:rPr>
              <a:t>2</a:t>
            </a:r>
            <a:r>
              <a:rPr lang="en-US" u="sng" dirty="0">
                <a:solidFill>
                  <a:srgbClr val="FF0000"/>
                </a:solidFill>
                <a:effectLst>
                  <a:outerShdw blurRad="38100" dist="38100" dir="2700000" algn="tl">
                    <a:srgbClr val="000000">
                      <a:alpha val="43137"/>
                    </a:srgbClr>
                  </a:outerShdw>
                </a:effectLst>
              </a:rPr>
              <a:t>)</a:t>
            </a: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dirty="0"/>
          </a:p>
        </p:txBody>
      </p:sp>
      <p:sp>
        <p:nvSpPr>
          <p:cNvPr id="5" name="Slide Number Placeholder 4"/>
          <p:cNvSpPr>
            <a:spLocks noGrp="1"/>
          </p:cNvSpPr>
          <p:nvPr>
            <p:ph type="sldNum" sz="quarter" idx="12"/>
          </p:nvPr>
        </p:nvSpPr>
        <p:spPr/>
        <p:txBody>
          <a:bodyPr/>
          <a:lstStyle/>
          <a:p>
            <a:fld id="{4C61373B-6CD7-433C-9DE2-D4B638969085}" type="slidenum">
              <a:rPr lang="tr-TR" smtClean="0"/>
              <a:t>87</a:t>
            </a:fld>
            <a:endParaRPr lang="tr-TR"/>
          </a:p>
        </p:txBody>
      </p:sp>
    </p:spTree>
    <p:extLst>
      <p:ext uri="{BB962C8B-B14F-4D97-AF65-F5344CB8AC3E}">
        <p14:creationId xmlns:p14="http://schemas.microsoft.com/office/powerpoint/2010/main" val="88203307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1152907"/>
            <a:ext cx="8915400" cy="4758315"/>
          </a:xfrm>
        </p:spPr>
        <p:txBody>
          <a:bodyPr/>
          <a:lstStyle/>
          <a:p>
            <a:r>
              <a:rPr lang="en-US" dirty="0"/>
              <a:t>Now the question is – how are the values in the filter decided? </a:t>
            </a:r>
            <a:endParaRPr lang="tr-TR" dirty="0"/>
          </a:p>
          <a:p>
            <a:r>
              <a:rPr lang="en-US" dirty="0"/>
              <a:t>The CNN model treats these values as parameters, which are randomly initialized and learned during the training process. </a:t>
            </a:r>
            <a:endParaRPr lang="tr-TR" dirty="0"/>
          </a:p>
          <a:p>
            <a:r>
              <a:rPr lang="en-US" dirty="0"/>
              <a:t>We will answer this in the next section.</a:t>
            </a:r>
            <a:endParaRPr lang="tr-TR" dirty="0"/>
          </a:p>
          <a:p>
            <a:endParaRPr lang="en-US" dirty="0"/>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88</a:t>
            </a:fld>
            <a:endParaRPr lang="tr-TR"/>
          </a:p>
        </p:txBody>
      </p:sp>
      <p:pic>
        <p:nvPicPr>
          <p:cNvPr id="6" name="Picture 5"/>
          <p:cNvPicPr>
            <a:picLocks noChangeAspect="1"/>
          </p:cNvPicPr>
          <p:nvPr/>
        </p:nvPicPr>
        <p:blipFill>
          <a:blip r:embed="rId2"/>
          <a:stretch>
            <a:fillRect/>
          </a:stretch>
        </p:blipFill>
        <p:spPr>
          <a:xfrm>
            <a:off x="2885509" y="3144984"/>
            <a:ext cx="8322806" cy="1565562"/>
          </a:xfrm>
          <a:prstGeom prst="rect">
            <a:avLst/>
          </a:prstGeom>
        </p:spPr>
      </p:pic>
    </p:spTree>
    <p:extLst>
      <p:ext uri="{BB962C8B-B14F-4D97-AF65-F5344CB8AC3E}">
        <p14:creationId xmlns:p14="http://schemas.microsoft.com/office/powerpoint/2010/main" val="328280072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tr-TR" b="1" dirty="0"/>
              <a:t>Convolutional Neural Network (CNN): Backward Propagation</a:t>
            </a:r>
            <a:br>
              <a:rPr lang="tr-TR" b="1" dirty="0"/>
            </a:br>
            <a:endParaRPr lang="en-US" dirty="0"/>
          </a:p>
        </p:txBody>
      </p:sp>
      <p:sp>
        <p:nvSpPr>
          <p:cNvPr id="3" name="Content Placeholder 2"/>
          <p:cNvSpPr>
            <a:spLocks noGrp="1"/>
          </p:cNvSpPr>
          <p:nvPr>
            <p:ph idx="1"/>
          </p:nvPr>
        </p:nvSpPr>
        <p:spPr/>
        <p:txBody>
          <a:bodyPr/>
          <a:lstStyle/>
          <a:p>
            <a:r>
              <a:rPr lang="en-US" dirty="0"/>
              <a:t>During the forward propagation process, we randomly initialized the weights, biases and filters. </a:t>
            </a:r>
            <a:endParaRPr lang="tr-TR" dirty="0"/>
          </a:p>
          <a:p>
            <a:r>
              <a:rPr lang="en-US" dirty="0"/>
              <a:t>These values are treated as parameters from the convolutional neural network algorithm. </a:t>
            </a:r>
            <a:endParaRPr lang="tr-TR" dirty="0"/>
          </a:p>
          <a:p>
            <a:r>
              <a:rPr lang="en-US" b="1" dirty="0"/>
              <a:t>In the backward propagation process, the model tries to update the parameters such that the overall predictions are more accurate.</a:t>
            </a:r>
            <a:endParaRPr lang="tr-TR" b="1" dirty="0"/>
          </a:p>
          <a:p>
            <a:r>
              <a:rPr lang="en-US" dirty="0"/>
              <a:t>For updating these parameters, we use the </a:t>
            </a:r>
            <a:r>
              <a:rPr lang="en-US" u="sng" dirty="0">
                <a:hlinkClick r:id="rId2"/>
              </a:rPr>
              <a:t>gradient descent technique</a:t>
            </a:r>
            <a:r>
              <a:rPr lang="en-US" dirty="0"/>
              <a:t>.  </a:t>
            </a:r>
            <a:endParaRPr lang="tr-TR" dirty="0"/>
          </a:p>
          <a:p>
            <a:r>
              <a:rPr lang="en-US" dirty="0"/>
              <a:t>Let us understand the concept of gradient descent with a simple example.</a:t>
            </a: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89</a:t>
            </a:fld>
            <a:endParaRPr lang="tr-TR"/>
          </a:p>
        </p:txBody>
      </p:sp>
    </p:spTree>
    <p:extLst>
      <p:ext uri="{BB962C8B-B14F-4D97-AF65-F5344CB8AC3E}">
        <p14:creationId xmlns:p14="http://schemas.microsoft.com/office/powerpoint/2010/main" val="310653963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787782"/>
            <a:ext cx="8915400" cy="5460618"/>
          </a:xfrm>
        </p:spPr>
        <p:txBody>
          <a:bodyPr>
            <a:normAutofit/>
          </a:bodyPr>
          <a:lstStyle/>
          <a:p>
            <a:r>
              <a:rPr lang="en-US" dirty="0"/>
              <a:t>Consider that following in the curve for our loss function where we have a parameter a:</a:t>
            </a:r>
            <a:endParaRPr lang="tr-TR" dirty="0"/>
          </a:p>
          <a:p>
            <a:endParaRPr lang="tr-TR" dirty="0"/>
          </a:p>
          <a:p>
            <a:endParaRPr lang="tr-TR" dirty="0"/>
          </a:p>
          <a:p>
            <a:endParaRPr lang="tr-TR" dirty="0"/>
          </a:p>
          <a:p>
            <a:endParaRPr lang="tr-TR" dirty="0"/>
          </a:p>
          <a:p>
            <a:endParaRPr lang="tr-TR" dirty="0"/>
          </a:p>
          <a:p>
            <a:endParaRPr lang="tr-TR" dirty="0"/>
          </a:p>
          <a:p>
            <a:endParaRPr lang="tr-TR" dirty="0"/>
          </a:p>
          <a:p>
            <a:r>
              <a:rPr lang="en-US" dirty="0"/>
              <a:t>During the random initialization of the parameter, we get the value of a as a</a:t>
            </a:r>
            <a:r>
              <a:rPr lang="en-US" baseline="-25000" dirty="0"/>
              <a:t>2</a:t>
            </a:r>
            <a:r>
              <a:rPr lang="en-US" dirty="0"/>
              <a:t>. </a:t>
            </a:r>
            <a:endParaRPr lang="tr-TR" dirty="0"/>
          </a:p>
          <a:p>
            <a:r>
              <a:rPr lang="en-US" dirty="0"/>
              <a:t>It is clear from the picture that the minimum value of loss is at a</a:t>
            </a:r>
            <a:r>
              <a:rPr lang="en-US" baseline="-25000" dirty="0"/>
              <a:t>1</a:t>
            </a:r>
            <a:r>
              <a:rPr lang="en-US" dirty="0"/>
              <a:t> and not a</a:t>
            </a:r>
            <a:r>
              <a:rPr lang="en-US" baseline="-25000" dirty="0"/>
              <a:t>2</a:t>
            </a:r>
            <a:r>
              <a:rPr lang="en-US" dirty="0"/>
              <a:t>. </a:t>
            </a:r>
            <a:endParaRPr lang="tr-TR" dirty="0"/>
          </a:p>
          <a:p>
            <a:r>
              <a:rPr lang="en-US" dirty="0"/>
              <a:t>The gradient descent technique tries to find this value of parameter (a) at which the loss is minimum.</a:t>
            </a: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90</a:t>
            </a:fld>
            <a:endParaRPr lang="tr-TR"/>
          </a:p>
        </p:txBody>
      </p:sp>
      <p:pic>
        <p:nvPicPr>
          <p:cNvPr id="6" name="Picture 5"/>
          <p:cNvPicPr>
            <a:picLocks noChangeAspect="1"/>
          </p:cNvPicPr>
          <p:nvPr/>
        </p:nvPicPr>
        <p:blipFill>
          <a:blip r:embed="rId2"/>
          <a:stretch>
            <a:fillRect/>
          </a:stretch>
        </p:blipFill>
        <p:spPr>
          <a:xfrm>
            <a:off x="5282333" y="1595950"/>
            <a:ext cx="3529158" cy="2615076"/>
          </a:xfrm>
          <a:prstGeom prst="rect">
            <a:avLst/>
          </a:prstGeom>
        </p:spPr>
      </p:pic>
    </p:spTree>
    <p:extLst>
      <p:ext uri="{BB962C8B-B14F-4D97-AF65-F5344CB8AC3E}">
        <p14:creationId xmlns:p14="http://schemas.microsoft.com/office/powerpoint/2010/main" val="292641534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787782"/>
            <a:ext cx="8915400" cy="5123440"/>
          </a:xfrm>
        </p:spPr>
        <p:txBody>
          <a:bodyPr/>
          <a:lstStyle/>
          <a:p>
            <a:r>
              <a:rPr lang="en-US" dirty="0"/>
              <a:t>We understand that we need to update the value a</a:t>
            </a:r>
            <a:r>
              <a:rPr lang="en-US" baseline="-25000" dirty="0"/>
              <a:t>2</a:t>
            </a:r>
            <a:r>
              <a:rPr lang="en-US" dirty="0"/>
              <a:t> and bring it closer to a</a:t>
            </a:r>
            <a:r>
              <a:rPr lang="en-US" baseline="-25000" dirty="0"/>
              <a:t>1. </a:t>
            </a:r>
            <a:endParaRPr lang="tr-TR" baseline="-25000" dirty="0"/>
          </a:p>
          <a:p>
            <a:r>
              <a:rPr lang="en-US" dirty="0"/>
              <a:t>To decide the direction of movement, i.e. whether to increase or decrease the value of the parameter, we calculate the gradient or slope at the current point.</a:t>
            </a: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91</a:t>
            </a:fld>
            <a:endParaRPr lang="tr-TR"/>
          </a:p>
        </p:txBody>
      </p:sp>
      <p:grpSp>
        <p:nvGrpSpPr>
          <p:cNvPr id="8" name="Grup 7">
            <a:extLst>
              <a:ext uri="{FF2B5EF4-FFF2-40B4-BE49-F238E27FC236}">
                <a16:creationId xmlns:a16="http://schemas.microsoft.com/office/drawing/2014/main" id="{F1E1F608-C202-4EC6-B6BB-2C3DF7BCA4C0}"/>
              </a:ext>
            </a:extLst>
          </p:cNvPr>
          <p:cNvGrpSpPr/>
          <p:nvPr/>
        </p:nvGrpSpPr>
        <p:grpSpPr>
          <a:xfrm>
            <a:off x="5194299" y="2441864"/>
            <a:ext cx="3705225" cy="3276600"/>
            <a:chOff x="5194299" y="2441864"/>
            <a:chExt cx="3705225" cy="3276600"/>
          </a:xfrm>
        </p:grpSpPr>
        <p:pic>
          <p:nvPicPr>
            <p:cNvPr id="6" name="Picture 5"/>
            <p:cNvPicPr>
              <a:picLocks noChangeAspect="1"/>
            </p:cNvPicPr>
            <p:nvPr/>
          </p:nvPicPr>
          <p:blipFill>
            <a:blip r:embed="rId2"/>
            <a:stretch>
              <a:fillRect/>
            </a:stretch>
          </p:blipFill>
          <p:spPr>
            <a:xfrm>
              <a:off x="5194299" y="2441864"/>
              <a:ext cx="3705225" cy="3276600"/>
            </a:xfrm>
            <a:prstGeom prst="rect">
              <a:avLst/>
            </a:prstGeom>
          </p:spPr>
        </p:pic>
        <p:cxnSp>
          <p:nvCxnSpPr>
            <p:cNvPr id="7" name="Düz Ok Bağlayıcısı 6">
              <a:extLst>
                <a:ext uri="{FF2B5EF4-FFF2-40B4-BE49-F238E27FC236}">
                  <a16:creationId xmlns:a16="http://schemas.microsoft.com/office/drawing/2014/main" id="{6AC91597-0DD1-49DB-B6E0-8467BC464703}"/>
                </a:ext>
              </a:extLst>
            </p:cNvPr>
            <p:cNvCxnSpPr/>
            <p:nvPr/>
          </p:nvCxnSpPr>
          <p:spPr>
            <a:xfrm flipH="1">
              <a:off x="7126941" y="4428565"/>
              <a:ext cx="1030941" cy="7709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8766175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787781"/>
            <a:ext cx="8915400" cy="5488327"/>
          </a:xfrm>
        </p:spPr>
        <p:txBody>
          <a:bodyPr>
            <a:normAutofit lnSpcReduction="10000"/>
          </a:bodyPr>
          <a:lstStyle/>
          <a:p>
            <a:r>
              <a:rPr lang="en-US" dirty="0"/>
              <a:t>Based on the value of the gradient, we can determine the updated parameter values. </a:t>
            </a:r>
            <a:endParaRPr lang="tr-TR" dirty="0"/>
          </a:p>
          <a:p>
            <a:r>
              <a:rPr lang="en-US" dirty="0"/>
              <a:t>When the slope is negative, the value of the parameter will be increased, and when the slope is positive, the value of the parameter should be decreased by a small amount.</a:t>
            </a:r>
          </a:p>
          <a:p>
            <a:r>
              <a:rPr lang="en-US" dirty="0"/>
              <a:t>Here is a generic equation for updating the parameter values:</a:t>
            </a:r>
          </a:p>
          <a:p>
            <a:r>
              <a:rPr lang="en-US" u="sng" dirty="0" err="1">
                <a:solidFill>
                  <a:srgbClr val="FF0000"/>
                </a:solidFill>
              </a:rPr>
              <a:t>new_parameter</a:t>
            </a:r>
            <a:r>
              <a:rPr lang="en-US" u="sng" dirty="0">
                <a:solidFill>
                  <a:srgbClr val="FF0000"/>
                </a:solidFill>
              </a:rPr>
              <a:t> = </a:t>
            </a:r>
            <a:r>
              <a:rPr lang="en-US" u="sng" dirty="0" err="1">
                <a:solidFill>
                  <a:srgbClr val="FF0000"/>
                </a:solidFill>
              </a:rPr>
              <a:t>old_parameter</a:t>
            </a:r>
            <a:r>
              <a:rPr lang="en-US" u="sng" dirty="0">
                <a:solidFill>
                  <a:srgbClr val="FF0000"/>
                </a:solidFill>
              </a:rPr>
              <a:t> - (</a:t>
            </a:r>
            <a:r>
              <a:rPr lang="en-US" u="sng" dirty="0" err="1">
                <a:solidFill>
                  <a:srgbClr val="FF0000"/>
                </a:solidFill>
              </a:rPr>
              <a:t>learning_rate</a:t>
            </a:r>
            <a:r>
              <a:rPr lang="en-US" u="sng" dirty="0">
                <a:solidFill>
                  <a:srgbClr val="FF0000"/>
                </a:solidFill>
              </a:rPr>
              <a:t> </a:t>
            </a:r>
            <a:r>
              <a:rPr lang="tr-TR" u="sng">
                <a:solidFill>
                  <a:srgbClr val="FF0000"/>
                </a:solidFill>
              </a:rPr>
              <a:t>x</a:t>
            </a:r>
            <a:r>
              <a:rPr lang="en-US" u="sng">
                <a:solidFill>
                  <a:srgbClr val="FF0000"/>
                </a:solidFill>
              </a:rPr>
              <a:t> </a:t>
            </a:r>
            <a:r>
              <a:rPr lang="en-US" u="sng" dirty="0" err="1">
                <a:solidFill>
                  <a:srgbClr val="FF0000"/>
                </a:solidFill>
              </a:rPr>
              <a:t>gradient_of_parameter</a:t>
            </a:r>
            <a:r>
              <a:rPr lang="en-US" u="sng" dirty="0">
                <a:solidFill>
                  <a:srgbClr val="FF0000"/>
                </a:solidFill>
              </a:rPr>
              <a:t>)</a:t>
            </a:r>
            <a:endParaRPr lang="tr-TR" u="sng" dirty="0">
              <a:solidFill>
                <a:srgbClr val="FF0000"/>
              </a:solidFill>
            </a:endParaRPr>
          </a:p>
          <a:p>
            <a:r>
              <a:rPr lang="en-US" dirty="0"/>
              <a:t>The learning rate is a constant that controls the amount of change being made to the old value. </a:t>
            </a:r>
            <a:endParaRPr lang="tr-TR" dirty="0"/>
          </a:p>
          <a:p>
            <a:r>
              <a:rPr lang="en-US" dirty="0"/>
              <a:t>The slope or the gradient determine the direction of the new values, that is, should the values be increased or decreased. </a:t>
            </a:r>
            <a:endParaRPr lang="tr-TR" dirty="0"/>
          </a:p>
          <a:p>
            <a:r>
              <a:rPr lang="en-US" dirty="0"/>
              <a:t>So, we need to find the gradients, that is, change in error with respect to the parameters in order to update the parameter values.</a:t>
            </a:r>
            <a:endParaRPr lang="tr-TR" dirty="0"/>
          </a:p>
          <a:p>
            <a:r>
              <a:rPr lang="tr-TR" dirty="0">
                <a:hlinkClick r:id="rId2"/>
              </a:rPr>
              <a:t>https://www.analyticsvidhya.com/blog/2017/03/introduction-to-gradient-descent-algorithm-along-its-variants/?utm_source=blog&amp;utm_medium=mathematics-convolutional-neural-network</a:t>
            </a:r>
            <a:endParaRPr lang="en-US" u="sng" dirty="0">
              <a:solidFill>
                <a:srgbClr val="FF0000"/>
              </a:solidFill>
            </a:endParaRP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92</a:t>
            </a:fld>
            <a:endParaRPr lang="tr-TR"/>
          </a:p>
        </p:txBody>
      </p:sp>
    </p:spTree>
    <p:extLst>
      <p:ext uri="{BB962C8B-B14F-4D97-AF65-F5344CB8AC3E}">
        <p14:creationId xmlns:p14="http://schemas.microsoft.com/office/powerpoint/2010/main" val="206315989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Backward Propagation: Fully Connected Layer</a:t>
            </a:r>
            <a:br>
              <a:rPr lang="en-US" b="1" dirty="0"/>
            </a:br>
            <a:endParaRPr lang="en-US" dirty="0"/>
          </a:p>
        </p:txBody>
      </p:sp>
      <p:sp>
        <p:nvSpPr>
          <p:cNvPr id="3" name="Content Placeholder 2"/>
          <p:cNvSpPr>
            <a:spLocks noGrp="1"/>
          </p:cNvSpPr>
          <p:nvPr>
            <p:ph idx="1"/>
          </p:nvPr>
        </p:nvSpPr>
        <p:spPr/>
        <p:txBody>
          <a:bodyPr/>
          <a:lstStyle/>
          <a:p>
            <a:r>
              <a:rPr lang="en-US" dirty="0"/>
              <a:t>As discussed previously, the fully connected layer has two parameters – weight matrix and bias matrix. </a:t>
            </a:r>
            <a:endParaRPr lang="tr-TR" dirty="0"/>
          </a:p>
          <a:p>
            <a:r>
              <a:rPr lang="en-US" dirty="0"/>
              <a:t>Let us start by calculating the change in error with respect to weights – </a:t>
            </a:r>
            <a:r>
              <a:rPr lang="en-US" dirty="0">
                <a:solidFill>
                  <a:srgbClr val="FF0000"/>
                </a:solidFill>
                <a:effectLst>
                  <a:outerShdw blurRad="38100" dist="38100" dir="2700000" algn="tl">
                    <a:srgbClr val="000000">
                      <a:alpha val="43137"/>
                    </a:srgbClr>
                  </a:outerShdw>
                </a:effectLst>
              </a:rPr>
              <a:t>∂E/∂W</a:t>
            </a:r>
            <a:r>
              <a:rPr lang="en-US" dirty="0"/>
              <a:t>.</a:t>
            </a:r>
          </a:p>
          <a:p>
            <a:r>
              <a:rPr lang="en-US" dirty="0"/>
              <a:t>Since the error is not directly dependent on the weight matrix, we will use the concept of chain rule to find this value. </a:t>
            </a:r>
            <a:endParaRPr lang="tr-TR" dirty="0"/>
          </a:p>
          <a:p>
            <a:r>
              <a:rPr lang="en-US" dirty="0"/>
              <a:t>The computation graph shown below will help us define </a:t>
            </a:r>
            <a:r>
              <a:rPr lang="en-US" dirty="0">
                <a:solidFill>
                  <a:srgbClr val="FF0000"/>
                </a:solidFill>
                <a:effectLst>
                  <a:outerShdw blurRad="38100" dist="38100" dir="2700000" algn="tl">
                    <a:srgbClr val="000000">
                      <a:alpha val="43137"/>
                    </a:srgbClr>
                  </a:outerShdw>
                </a:effectLst>
              </a:rPr>
              <a:t>∂E/∂W</a:t>
            </a:r>
            <a:r>
              <a:rPr lang="en-US" dirty="0"/>
              <a:t>:</a:t>
            </a:r>
          </a:p>
          <a:p>
            <a:endParaRPr lang="en-US" dirty="0"/>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93</a:t>
            </a:fld>
            <a:endParaRPr lang="tr-TR"/>
          </a:p>
        </p:txBody>
      </p:sp>
    </p:spTree>
    <p:extLst>
      <p:ext uri="{BB962C8B-B14F-4D97-AF65-F5344CB8AC3E}">
        <p14:creationId xmlns:p14="http://schemas.microsoft.com/office/powerpoint/2010/main" val="415108719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787781"/>
            <a:ext cx="8915400" cy="4989564"/>
          </a:xfrm>
        </p:spPr>
        <p:txBody>
          <a:bodyPr>
            <a:normAutofit/>
          </a:bodyPr>
          <a:lstStyle/>
          <a:p>
            <a:r>
              <a:rPr lang="tr-TR" u="sng" dirty="0">
                <a:solidFill>
                  <a:srgbClr val="FF0000"/>
                </a:solidFill>
                <a:effectLst>
                  <a:outerShdw blurRad="38100" dist="38100" dir="2700000" algn="tl">
                    <a:srgbClr val="000000">
                      <a:alpha val="43137"/>
                    </a:srgbClr>
                  </a:outerShdw>
                </a:effectLst>
              </a:rPr>
              <a:t>∂E/∂W = ∂E/∂O . ∂O/∂Z2. ∂z/∂W</a:t>
            </a:r>
          </a:p>
          <a:p>
            <a:endParaRPr lang="tr-TR" u="sng" dirty="0">
              <a:solidFill>
                <a:srgbClr val="FF0000"/>
              </a:solidFill>
              <a:effectLst>
                <a:outerShdw blurRad="38100" dist="38100" dir="2700000" algn="tl">
                  <a:srgbClr val="000000">
                    <a:alpha val="43137"/>
                  </a:srgbClr>
                </a:outerShdw>
              </a:effectLst>
            </a:endParaRPr>
          </a:p>
          <a:p>
            <a:endParaRPr lang="tr-TR" u="sng" dirty="0">
              <a:solidFill>
                <a:srgbClr val="FF0000"/>
              </a:solidFill>
              <a:effectLst>
                <a:outerShdw blurRad="38100" dist="38100" dir="2700000" algn="tl">
                  <a:srgbClr val="000000">
                    <a:alpha val="43137"/>
                  </a:srgbClr>
                </a:outerShdw>
              </a:effectLst>
            </a:endParaRPr>
          </a:p>
          <a:p>
            <a:endParaRPr lang="tr-TR" u="sng" dirty="0">
              <a:solidFill>
                <a:srgbClr val="FF0000"/>
              </a:solidFill>
              <a:effectLst>
                <a:outerShdw blurRad="38100" dist="38100" dir="2700000" algn="tl">
                  <a:srgbClr val="000000">
                    <a:alpha val="43137"/>
                  </a:srgbClr>
                </a:outerShdw>
              </a:effectLst>
            </a:endParaRPr>
          </a:p>
          <a:p>
            <a:endParaRPr lang="tr-TR" u="sng" dirty="0">
              <a:solidFill>
                <a:srgbClr val="FF0000"/>
              </a:solidFill>
              <a:effectLst>
                <a:outerShdw blurRad="38100" dist="38100" dir="2700000" algn="tl">
                  <a:srgbClr val="000000">
                    <a:alpha val="43137"/>
                  </a:srgbClr>
                </a:outerShdw>
              </a:effectLst>
            </a:endParaRPr>
          </a:p>
          <a:p>
            <a:endParaRPr lang="tr-TR" u="sng" dirty="0">
              <a:solidFill>
                <a:srgbClr val="FF0000"/>
              </a:solidFill>
              <a:effectLst>
                <a:outerShdw blurRad="38100" dist="38100" dir="2700000" algn="tl">
                  <a:srgbClr val="000000">
                    <a:alpha val="43137"/>
                  </a:srgbClr>
                </a:outerShdw>
              </a:effectLst>
            </a:endParaRPr>
          </a:p>
          <a:p>
            <a:endParaRPr lang="tr-TR" u="sng" dirty="0">
              <a:solidFill>
                <a:srgbClr val="FF0000"/>
              </a:solidFill>
              <a:effectLst>
                <a:outerShdw blurRad="38100" dist="38100" dir="2700000" algn="tl">
                  <a:srgbClr val="000000">
                    <a:alpha val="43137"/>
                  </a:srgbClr>
                </a:outerShdw>
              </a:effectLst>
            </a:endParaRPr>
          </a:p>
          <a:p>
            <a:endParaRPr lang="tr-TR" u="sng" dirty="0">
              <a:solidFill>
                <a:srgbClr val="FF0000"/>
              </a:solidFill>
              <a:effectLst>
                <a:outerShdw blurRad="38100" dist="38100" dir="2700000" algn="tl">
                  <a:srgbClr val="000000">
                    <a:alpha val="43137"/>
                  </a:srgbClr>
                </a:outerShdw>
              </a:effectLst>
            </a:endParaRPr>
          </a:p>
          <a:p>
            <a:endParaRPr lang="tr-TR" u="sng" dirty="0">
              <a:solidFill>
                <a:srgbClr val="FF0000"/>
              </a:solidFill>
              <a:effectLst>
                <a:outerShdw blurRad="38100" dist="38100" dir="2700000" algn="tl">
                  <a:srgbClr val="000000">
                    <a:alpha val="43137"/>
                  </a:srgbClr>
                </a:outerShdw>
              </a:effectLst>
            </a:endParaRPr>
          </a:p>
          <a:p>
            <a:endParaRPr lang="tr-TR" u="sng" dirty="0">
              <a:solidFill>
                <a:srgbClr val="FF0000"/>
              </a:solidFill>
              <a:effectLst>
                <a:outerShdw blurRad="38100" dist="38100" dir="2700000" algn="tl">
                  <a:srgbClr val="000000">
                    <a:alpha val="43137"/>
                  </a:srgbClr>
                </a:outerShdw>
              </a:effectLst>
            </a:endParaRPr>
          </a:p>
          <a:p>
            <a:r>
              <a:rPr lang="en-US" dirty="0"/>
              <a:t>We will find the values of these derivatives separately.</a:t>
            </a: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94</a:t>
            </a:fld>
            <a:endParaRPr lang="tr-TR"/>
          </a:p>
        </p:txBody>
      </p:sp>
      <p:pic>
        <p:nvPicPr>
          <p:cNvPr id="6" name="Picture 5"/>
          <p:cNvPicPr>
            <a:picLocks noChangeAspect="1"/>
          </p:cNvPicPr>
          <p:nvPr/>
        </p:nvPicPr>
        <p:blipFill>
          <a:blip r:embed="rId2"/>
          <a:stretch>
            <a:fillRect/>
          </a:stretch>
        </p:blipFill>
        <p:spPr>
          <a:xfrm>
            <a:off x="3589337" y="1383453"/>
            <a:ext cx="6915150" cy="2962275"/>
          </a:xfrm>
          <a:prstGeom prst="rect">
            <a:avLst/>
          </a:prstGeom>
        </p:spPr>
      </p:pic>
    </p:spTree>
    <p:extLst>
      <p:ext uri="{BB962C8B-B14F-4D97-AF65-F5344CB8AC3E}">
        <p14:creationId xmlns:p14="http://schemas.microsoft.com/office/powerpoint/2010/main" val="210941123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 Change in error with respect to output</a:t>
            </a:r>
            <a:br>
              <a:rPr lang="en-US" b="1" dirty="0"/>
            </a:br>
            <a:endParaRPr lang="en-US" dirty="0"/>
          </a:p>
        </p:txBody>
      </p:sp>
      <p:sp>
        <p:nvSpPr>
          <p:cNvPr id="3" name="Content Placeholder 2"/>
          <p:cNvSpPr>
            <a:spLocks noGrp="1"/>
          </p:cNvSpPr>
          <p:nvPr>
            <p:ph idx="1"/>
          </p:nvPr>
        </p:nvSpPr>
        <p:spPr/>
        <p:txBody>
          <a:bodyPr/>
          <a:lstStyle/>
          <a:p>
            <a:r>
              <a:rPr lang="en-US" dirty="0"/>
              <a:t>Suppose the actual values for the data are denoted as y’ and the predicted output is represented as O. </a:t>
            </a:r>
            <a:endParaRPr lang="tr-TR" dirty="0"/>
          </a:p>
          <a:p>
            <a:r>
              <a:rPr lang="en-US" dirty="0"/>
              <a:t>Then the error would be given by this equation:</a:t>
            </a:r>
            <a:endParaRPr lang="tr-TR" dirty="0"/>
          </a:p>
          <a:p>
            <a:r>
              <a:rPr lang="en-US" dirty="0">
                <a:solidFill>
                  <a:srgbClr val="FF0000"/>
                </a:solidFill>
                <a:effectLst>
                  <a:outerShdw blurRad="38100" dist="38100" dir="2700000" algn="tl">
                    <a:srgbClr val="000000">
                      <a:alpha val="43137"/>
                    </a:srgbClr>
                  </a:outerShdw>
                </a:effectLst>
              </a:rPr>
              <a:t>E = (y' - O)</a:t>
            </a:r>
            <a:r>
              <a:rPr lang="en-US" baseline="30000" dirty="0">
                <a:solidFill>
                  <a:srgbClr val="FF0000"/>
                </a:solidFill>
                <a:effectLst>
                  <a:outerShdw blurRad="38100" dist="38100" dir="2700000" algn="tl">
                    <a:srgbClr val="000000">
                      <a:alpha val="43137"/>
                    </a:srgbClr>
                  </a:outerShdw>
                </a:effectLst>
              </a:rPr>
              <a:t>2</a:t>
            </a:r>
            <a:r>
              <a:rPr lang="en-US" dirty="0">
                <a:solidFill>
                  <a:srgbClr val="FF0000"/>
                </a:solidFill>
                <a:effectLst>
                  <a:outerShdw blurRad="38100" dist="38100" dir="2700000" algn="tl">
                    <a:srgbClr val="000000">
                      <a:alpha val="43137"/>
                    </a:srgbClr>
                  </a:outerShdw>
                </a:effectLst>
              </a:rPr>
              <a:t>/2</a:t>
            </a:r>
            <a:endParaRPr lang="tr-TR" dirty="0">
              <a:solidFill>
                <a:srgbClr val="FF0000"/>
              </a:solidFill>
              <a:effectLst>
                <a:outerShdw blurRad="38100" dist="38100" dir="2700000" algn="tl">
                  <a:srgbClr val="000000">
                    <a:alpha val="43137"/>
                  </a:srgbClr>
                </a:outerShdw>
              </a:effectLst>
            </a:endParaRPr>
          </a:p>
          <a:p>
            <a:r>
              <a:rPr lang="en-US" dirty="0"/>
              <a:t>If we differentiate the error with respect to the output, we will get the following equation:</a:t>
            </a:r>
            <a:endParaRPr lang="tr-TR" dirty="0"/>
          </a:p>
          <a:p>
            <a:r>
              <a:rPr lang="en-US" dirty="0">
                <a:solidFill>
                  <a:srgbClr val="FF0000"/>
                </a:solidFill>
                <a:effectLst>
                  <a:outerShdw blurRad="38100" dist="38100" dir="2700000" algn="tl">
                    <a:srgbClr val="000000">
                      <a:alpha val="43137"/>
                    </a:srgbClr>
                  </a:outerShdw>
                </a:effectLst>
              </a:rPr>
              <a:t>∂E/∂O = -(y'-O)</a:t>
            </a: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95</a:t>
            </a:fld>
            <a:endParaRPr lang="tr-TR"/>
          </a:p>
        </p:txBody>
      </p:sp>
    </p:spTree>
    <p:extLst>
      <p:ext uri="{BB962C8B-B14F-4D97-AF65-F5344CB8AC3E}">
        <p14:creationId xmlns:p14="http://schemas.microsoft.com/office/powerpoint/2010/main" val="258869366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024581"/>
          </a:xfrm>
        </p:spPr>
        <p:txBody>
          <a:bodyPr>
            <a:normAutofit fontScale="90000"/>
          </a:bodyPr>
          <a:lstStyle/>
          <a:p>
            <a:r>
              <a:rPr lang="en-US" b="1" dirty="0"/>
              <a:t>2. Change in output with respect to Z</a:t>
            </a:r>
            <a:r>
              <a:rPr lang="en-US" b="1" baseline="-25000" dirty="0"/>
              <a:t>2</a:t>
            </a:r>
            <a:r>
              <a:rPr lang="en-US" b="1" dirty="0"/>
              <a:t> (linear transformation output)</a:t>
            </a:r>
            <a:br>
              <a:rPr lang="en-US" b="1" dirty="0"/>
            </a:br>
            <a:endParaRPr lang="en-US" dirty="0"/>
          </a:p>
        </p:txBody>
      </p:sp>
      <p:sp>
        <p:nvSpPr>
          <p:cNvPr id="3" name="Content Placeholder 2"/>
          <p:cNvSpPr>
            <a:spLocks noGrp="1"/>
          </p:cNvSpPr>
          <p:nvPr>
            <p:ph idx="1"/>
          </p:nvPr>
        </p:nvSpPr>
        <p:spPr>
          <a:xfrm>
            <a:off x="2589212" y="1773382"/>
            <a:ext cx="8915400" cy="4475018"/>
          </a:xfrm>
        </p:spPr>
        <p:txBody>
          <a:bodyPr/>
          <a:lstStyle/>
          <a:p>
            <a:r>
              <a:rPr lang="en-US" dirty="0"/>
              <a:t>To find the derivative of output </a:t>
            </a:r>
            <a:r>
              <a:rPr lang="en-US" dirty="0">
                <a:solidFill>
                  <a:srgbClr val="FF0000"/>
                </a:solidFill>
                <a:effectLst>
                  <a:outerShdw blurRad="38100" dist="38100" dir="2700000" algn="tl">
                    <a:srgbClr val="000000">
                      <a:alpha val="43137"/>
                    </a:srgbClr>
                  </a:outerShdw>
                </a:effectLst>
              </a:rPr>
              <a:t>O</a:t>
            </a:r>
            <a:r>
              <a:rPr lang="en-US" dirty="0"/>
              <a:t> with respect to </a:t>
            </a:r>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2</a:t>
            </a:r>
            <a:r>
              <a:rPr lang="en-US" dirty="0"/>
              <a:t>, we must first define </a:t>
            </a:r>
            <a:r>
              <a:rPr lang="en-US" dirty="0">
                <a:solidFill>
                  <a:srgbClr val="FF0000"/>
                </a:solidFill>
                <a:effectLst>
                  <a:outerShdw blurRad="38100" dist="38100" dir="2700000" algn="tl">
                    <a:srgbClr val="000000">
                      <a:alpha val="43137"/>
                    </a:srgbClr>
                  </a:outerShdw>
                </a:effectLst>
              </a:rPr>
              <a:t>O </a:t>
            </a:r>
            <a:r>
              <a:rPr lang="en-US" dirty="0"/>
              <a:t>in terms of </a:t>
            </a:r>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2</a:t>
            </a:r>
            <a:r>
              <a:rPr lang="en-US" dirty="0"/>
              <a:t>. </a:t>
            </a:r>
            <a:endParaRPr lang="tr-TR" dirty="0"/>
          </a:p>
          <a:p>
            <a:r>
              <a:rPr lang="en-US" dirty="0"/>
              <a:t>If you look at the computation graph from the forward propagation section above, you would see that the output is simply the sigmoid of </a:t>
            </a:r>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2</a:t>
            </a:r>
            <a:r>
              <a:rPr lang="en-US" dirty="0"/>
              <a:t>. </a:t>
            </a:r>
            <a:endParaRPr lang="tr-TR" dirty="0"/>
          </a:p>
          <a:p>
            <a:r>
              <a:rPr lang="en-US" dirty="0"/>
              <a:t>Thus, </a:t>
            </a:r>
            <a:r>
              <a:rPr lang="en-US" dirty="0">
                <a:solidFill>
                  <a:srgbClr val="FF0000"/>
                </a:solidFill>
                <a:effectLst>
                  <a:outerShdw blurRad="38100" dist="38100" dir="2700000" algn="tl">
                    <a:srgbClr val="000000">
                      <a:alpha val="43137"/>
                    </a:srgbClr>
                  </a:outerShdw>
                </a:effectLst>
              </a:rPr>
              <a:t>∂O/∂Z</a:t>
            </a:r>
            <a:r>
              <a:rPr lang="en-US" baseline="-25000" dirty="0">
                <a:solidFill>
                  <a:srgbClr val="FF0000"/>
                </a:solidFill>
                <a:effectLst>
                  <a:outerShdw blurRad="38100" dist="38100" dir="2700000" algn="tl">
                    <a:srgbClr val="000000">
                      <a:alpha val="43137"/>
                    </a:srgbClr>
                  </a:outerShdw>
                </a:effectLst>
              </a:rPr>
              <a:t>2</a:t>
            </a:r>
            <a:r>
              <a:rPr lang="en-US" dirty="0"/>
              <a:t> is effectively the derivative of Sigmoid. </a:t>
            </a:r>
            <a:endParaRPr lang="tr-TR" dirty="0"/>
          </a:p>
          <a:p>
            <a:r>
              <a:rPr lang="en-US" dirty="0"/>
              <a:t>Recall the equation for the Sigmoid function:</a:t>
            </a:r>
            <a:endParaRPr lang="tr-TR" dirty="0"/>
          </a:p>
          <a:p>
            <a:r>
              <a:rPr lang="en-US" dirty="0">
                <a:solidFill>
                  <a:srgbClr val="FF0000"/>
                </a:solidFill>
                <a:effectLst>
                  <a:outerShdw blurRad="38100" dist="38100" dir="2700000" algn="tl">
                    <a:srgbClr val="000000">
                      <a:alpha val="43137"/>
                    </a:srgbClr>
                  </a:outerShdw>
                </a:effectLst>
              </a:rPr>
              <a:t>f(x) = 1/(1+e</a:t>
            </a:r>
            <a:r>
              <a:rPr lang="en-US" baseline="30000" dirty="0">
                <a:solidFill>
                  <a:srgbClr val="FF0000"/>
                </a:solidFill>
                <a:effectLst>
                  <a:outerShdw blurRad="38100" dist="38100" dir="2700000" algn="tl">
                    <a:srgbClr val="000000">
                      <a:alpha val="43137"/>
                    </a:srgbClr>
                  </a:outerShdw>
                </a:effectLst>
              </a:rPr>
              <a:t>-x</a:t>
            </a:r>
            <a:r>
              <a:rPr lang="en-US" dirty="0">
                <a:solidFill>
                  <a:srgbClr val="FF0000"/>
                </a:solidFill>
                <a:effectLst>
                  <a:outerShdw blurRad="38100" dist="38100" dir="2700000" algn="tl">
                    <a:srgbClr val="000000">
                      <a:alpha val="43137"/>
                    </a:srgbClr>
                  </a:outerShdw>
                </a:effectLst>
              </a:rPr>
              <a:t>)</a:t>
            </a:r>
            <a:endParaRPr lang="tr-TR" dirty="0">
              <a:solidFill>
                <a:srgbClr val="FF0000"/>
              </a:solidFill>
              <a:effectLst>
                <a:outerShdw blurRad="38100" dist="38100" dir="2700000" algn="tl">
                  <a:srgbClr val="000000">
                    <a:alpha val="43137"/>
                  </a:srgbClr>
                </a:outerShdw>
              </a:effectLst>
            </a:endParaRPr>
          </a:p>
          <a:p>
            <a:r>
              <a:rPr lang="en-US" dirty="0"/>
              <a:t>The derivative of this function comes out to be:</a:t>
            </a:r>
            <a:endParaRPr lang="tr-TR" dirty="0"/>
          </a:p>
          <a:p>
            <a:r>
              <a:rPr lang="pt-BR" dirty="0">
                <a:solidFill>
                  <a:srgbClr val="FF0000"/>
                </a:solidFill>
                <a:effectLst>
                  <a:outerShdw blurRad="38100" dist="38100" dir="2700000" algn="tl">
                    <a:srgbClr val="000000">
                      <a:alpha val="43137"/>
                    </a:srgbClr>
                  </a:outerShdw>
                </a:effectLst>
              </a:rPr>
              <a:t>f'(x) = (1+e</a:t>
            </a:r>
            <a:r>
              <a:rPr lang="pt-BR" baseline="30000" dirty="0">
                <a:solidFill>
                  <a:srgbClr val="FF0000"/>
                </a:solidFill>
                <a:effectLst>
                  <a:outerShdw blurRad="38100" dist="38100" dir="2700000" algn="tl">
                    <a:srgbClr val="000000">
                      <a:alpha val="43137"/>
                    </a:srgbClr>
                  </a:outerShdw>
                </a:effectLst>
              </a:rPr>
              <a:t>-x</a:t>
            </a:r>
            <a:r>
              <a:rPr lang="pt-BR" dirty="0">
                <a:solidFill>
                  <a:srgbClr val="FF0000"/>
                </a:solidFill>
                <a:effectLst>
                  <a:outerShdw blurRad="38100" dist="38100" dir="2700000" algn="tl">
                    <a:srgbClr val="000000">
                      <a:alpha val="43137"/>
                    </a:srgbClr>
                  </a:outerShdw>
                </a:effectLst>
              </a:rPr>
              <a:t>)</a:t>
            </a:r>
            <a:r>
              <a:rPr lang="pt-BR" baseline="30000" dirty="0">
                <a:solidFill>
                  <a:srgbClr val="FF0000"/>
                </a:solidFill>
                <a:effectLst>
                  <a:outerShdw blurRad="38100" dist="38100" dir="2700000" algn="tl">
                    <a:srgbClr val="000000">
                      <a:alpha val="43137"/>
                    </a:srgbClr>
                  </a:outerShdw>
                </a:effectLst>
              </a:rPr>
              <a:t>-1</a:t>
            </a:r>
            <a:r>
              <a:rPr lang="pt-BR" dirty="0">
                <a:solidFill>
                  <a:srgbClr val="FF0000"/>
                </a:solidFill>
                <a:effectLst>
                  <a:outerShdw blurRad="38100" dist="38100" dir="2700000" algn="tl">
                    <a:srgbClr val="000000">
                      <a:alpha val="43137"/>
                    </a:srgbClr>
                  </a:outerShdw>
                </a:effectLst>
              </a:rPr>
              <a:t>[1-(1+e</a:t>
            </a:r>
            <a:r>
              <a:rPr lang="pt-BR" baseline="30000" dirty="0">
                <a:solidFill>
                  <a:srgbClr val="FF0000"/>
                </a:solidFill>
                <a:effectLst>
                  <a:outerShdw blurRad="38100" dist="38100" dir="2700000" algn="tl">
                    <a:srgbClr val="000000">
                      <a:alpha val="43137"/>
                    </a:srgbClr>
                  </a:outerShdw>
                </a:effectLst>
              </a:rPr>
              <a:t>-x</a:t>
            </a:r>
            <a:r>
              <a:rPr lang="pt-BR" dirty="0">
                <a:solidFill>
                  <a:srgbClr val="FF0000"/>
                </a:solidFill>
                <a:effectLst>
                  <a:outerShdw blurRad="38100" dist="38100" dir="2700000" algn="tl">
                    <a:srgbClr val="000000">
                      <a:alpha val="43137"/>
                    </a:srgbClr>
                  </a:outerShdw>
                </a:effectLst>
              </a:rPr>
              <a:t>)</a:t>
            </a:r>
            <a:r>
              <a:rPr lang="pt-BR" baseline="30000" dirty="0">
                <a:solidFill>
                  <a:srgbClr val="FF0000"/>
                </a:solidFill>
                <a:effectLst>
                  <a:outerShdw blurRad="38100" dist="38100" dir="2700000" algn="tl">
                    <a:srgbClr val="000000">
                      <a:alpha val="43137"/>
                    </a:srgbClr>
                  </a:outerShdw>
                </a:effectLst>
              </a:rPr>
              <a:t>-1</a:t>
            </a:r>
            <a:r>
              <a:rPr lang="pt-BR" dirty="0">
                <a:solidFill>
                  <a:srgbClr val="FF0000"/>
                </a:solidFill>
                <a:effectLst>
                  <a:outerShdw blurRad="38100" dist="38100" dir="2700000" algn="tl">
                    <a:srgbClr val="000000">
                      <a:alpha val="43137"/>
                    </a:srgbClr>
                  </a:outerShdw>
                </a:effectLst>
              </a:rPr>
              <a:t>]</a:t>
            </a:r>
          </a:p>
          <a:p>
            <a:r>
              <a:rPr lang="pt-BR" dirty="0">
                <a:solidFill>
                  <a:srgbClr val="FF0000"/>
                </a:solidFill>
                <a:effectLst>
                  <a:outerShdw blurRad="38100" dist="38100" dir="2700000" algn="tl">
                    <a:srgbClr val="000000">
                      <a:alpha val="43137"/>
                    </a:srgbClr>
                  </a:outerShdw>
                </a:effectLst>
              </a:rPr>
              <a:t>f'(x) = sigmoid(x)(1-sigmoid(x))</a:t>
            </a:r>
          </a:p>
          <a:p>
            <a:r>
              <a:rPr lang="pt-BR" dirty="0">
                <a:solidFill>
                  <a:srgbClr val="FF0000"/>
                </a:solidFill>
                <a:effectLst>
                  <a:outerShdw blurRad="38100" dist="38100" dir="2700000" algn="tl">
                    <a:srgbClr val="000000">
                      <a:alpha val="43137"/>
                    </a:srgbClr>
                  </a:outerShdw>
                </a:effectLst>
              </a:rPr>
              <a:t>∂O/∂Z2 = (O)(1-O)</a:t>
            </a:r>
            <a:endParaRPr lang="en-US" dirty="0">
              <a:solidFill>
                <a:srgbClr val="FF0000"/>
              </a:solidFill>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96</a:t>
            </a:fld>
            <a:endParaRPr lang="tr-TR"/>
          </a:p>
        </p:txBody>
      </p:sp>
    </p:spTree>
    <p:extLst>
      <p:ext uri="{BB962C8B-B14F-4D97-AF65-F5344CB8AC3E}">
        <p14:creationId xmlns:p14="http://schemas.microsoft.com/office/powerpoint/2010/main" val="19824340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78217"/>
          </a:xfrm>
        </p:spPr>
        <p:txBody>
          <a:bodyPr>
            <a:normAutofit fontScale="90000"/>
          </a:bodyPr>
          <a:lstStyle/>
          <a:p>
            <a:r>
              <a:rPr lang="en-US" b="1" dirty="0"/>
              <a:t>3. Change in Z</a:t>
            </a:r>
            <a:r>
              <a:rPr lang="en-US" b="1" baseline="-25000" dirty="0"/>
              <a:t>2</a:t>
            </a:r>
            <a:r>
              <a:rPr lang="en-US" b="1" dirty="0"/>
              <a:t> with respect to W (Weights)</a:t>
            </a:r>
            <a:br>
              <a:rPr lang="en-US" b="1" dirty="0"/>
            </a:br>
            <a:endParaRPr lang="en-US" dirty="0"/>
          </a:p>
        </p:txBody>
      </p:sp>
      <p:sp>
        <p:nvSpPr>
          <p:cNvPr id="3" name="Content Placeholder 2"/>
          <p:cNvSpPr>
            <a:spLocks noGrp="1"/>
          </p:cNvSpPr>
          <p:nvPr>
            <p:ph idx="1"/>
          </p:nvPr>
        </p:nvSpPr>
        <p:spPr>
          <a:xfrm>
            <a:off x="2589212" y="1302327"/>
            <a:ext cx="8915400" cy="5001491"/>
          </a:xfrm>
        </p:spPr>
        <p:txBody>
          <a:bodyPr>
            <a:normAutofit/>
          </a:bodyPr>
          <a:lstStyle/>
          <a:p>
            <a:r>
              <a:rPr lang="en-US" dirty="0"/>
              <a:t>The value Z</a:t>
            </a:r>
            <a:r>
              <a:rPr lang="en-US" baseline="-25000" dirty="0"/>
              <a:t>2</a:t>
            </a:r>
            <a:r>
              <a:rPr lang="en-US" dirty="0"/>
              <a:t> is the result of the linear transformation process. Here is the equation of Z</a:t>
            </a:r>
            <a:r>
              <a:rPr lang="en-US" baseline="-25000" dirty="0"/>
              <a:t>2</a:t>
            </a:r>
            <a:r>
              <a:rPr lang="en-US" dirty="0"/>
              <a:t> in terms of weights:</a:t>
            </a:r>
            <a:endParaRPr lang="tr-TR" dirty="0"/>
          </a:p>
          <a:p>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2</a:t>
            </a:r>
            <a:r>
              <a:rPr lang="en-US" dirty="0">
                <a:solidFill>
                  <a:srgbClr val="FF0000"/>
                </a:solidFill>
                <a:effectLst>
                  <a:outerShdw blurRad="38100" dist="38100" dir="2700000" algn="tl">
                    <a:srgbClr val="000000">
                      <a:alpha val="43137"/>
                    </a:srgbClr>
                  </a:outerShdw>
                </a:effectLst>
              </a:rPr>
              <a:t> = W</a:t>
            </a:r>
            <a:r>
              <a:rPr lang="en-US" baseline="30000" dirty="0">
                <a:solidFill>
                  <a:srgbClr val="FF0000"/>
                </a:solidFill>
                <a:effectLst>
                  <a:outerShdw blurRad="38100" dist="38100" dir="2700000" algn="tl">
                    <a:srgbClr val="000000">
                      <a:alpha val="43137"/>
                    </a:srgbClr>
                  </a:outerShdw>
                </a:effectLst>
              </a:rPr>
              <a:t>T</a:t>
            </a:r>
            <a:r>
              <a:rPr lang="en-US" dirty="0">
                <a:solidFill>
                  <a:srgbClr val="FF0000"/>
                </a:solidFill>
                <a:effectLst>
                  <a:outerShdw blurRad="38100" dist="38100" dir="2700000" algn="tl">
                    <a:srgbClr val="000000">
                      <a:alpha val="43137"/>
                    </a:srgbClr>
                  </a:outerShdw>
                </a:effectLst>
              </a:rPr>
              <a:t>.A</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 + b</a:t>
            </a:r>
            <a:endParaRPr lang="tr-TR" dirty="0">
              <a:solidFill>
                <a:srgbClr val="FF0000"/>
              </a:solidFill>
              <a:effectLst>
                <a:outerShdw blurRad="38100" dist="38100" dir="2700000" algn="tl">
                  <a:srgbClr val="000000">
                    <a:alpha val="43137"/>
                  </a:srgbClr>
                </a:outerShdw>
              </a:effectLst>
            </a:endParaRPr>
          </a:p>
          <a:p>
            <a:r>
              <a:rPr lang="en-US" dirty="0"/>
              <a:t>On differentiating Z</a:t>
            </a:r>
            <a:r>
              <a:rPr lang="en-US" baseline="-25000" dirty="0"/>
              <a:t>2</a:t>
            </a:r>
            <a:r>
              <a:rPr lang="en-US" dirty="0"/>
              <a:t> with respect to W, we will get the value A</a:t>
            </a:r>
            <a:r>
              <a:rPr lang="en-US" baseline="-25000" dirty="0"/>
              <a:t>1</a:t>
            </a:r>
            <a:r>
              <a:rPr lang="en-US" dirty="0"/>
              <a:t> itself:</a:t>
            </a:r>
            <a:endParaRPr lang="tr-TR" dirty="0"/>
          </a:p>
          <a:p>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2</a:t>
            </a:r>
            <a:r>
              <a:rPr lang="en-US" dirty="0">
                <a:solidFill>
                  <a:srgbClr val="FF0000"/>
                </a:solidFill>
                <a:effectLst>
                  <a:outerShdw blurRad="38100" dist="38100" dir="2700000" algn="tl">
                    <a:srgbClr val="000000">
                      <a:alpha val="43137"/>
                    </a:srgbClr>
                  </a:outerShdw>
                </a:effectLst>
              </a:rPr>
              <a:t>/∂W = A</a:t>
            </a:r>
            <a:r>
              <a:rPr lang="en-US" baseline="-25000" dirty="0">
                <a:solidFill>
                  <a:srgbClr val="FF0000"/>
                </a:solidFill>
                <a:effectLst>
                  <a:outerShdw blurRad="38100" dist="38100" dir="2700000" algn="tl">
                    <a:srgbClr val="000000">
                      <a:alpha val="43137"/>
                    </a:srgbClr>
                  </a:outerShdw>
                </a:effectLst>
              </a:rPr>
              <a:t>1</a:t>
            </a:r>
            <a:endParaRPr lang="tr-TR" baseline="-25000" dirty="0">
              <a:solidFill>
                <a:srgbClr val="FF0000"/>
              </a:solidFill>
              <a:effectLst>
                <a:outerShdw blurRad="38100" dist="38100" dir="2700000" algn="tl">
                  <a:srgbClr val="000000">
                    <a:alpha val="43137"/>
                  </a:srgbClr>
                </a:outerShdw>
              </a:effectLst>
            </a:endParaRPr>
          </a:p>
          <a:p>
            <a:r>
              <a:rPr lang="en-US" dirty="0"/>
              <a:t>Now that we have the individual derivations, we can use the chain rule to find the change in error with respect to weights:</a:t>
            </a:r>
            <a:endParaRPr lang="tr-TR" dirty="0"/>
          </a:p>
          <a:p>
            <a:r>
              <a:rPr lang="en-US" dirty="0">
                <a:solidFill>
                  <a:srgbClr val="FF0000"/>
                </a:solidFill>
                <a:effectLst>
                  <a:outerShdw blurRad="38100" dist="38100" dir="2700000" algn="tl">
                    <a:srgbClr val="000000">
                      <a:alpha val="43137"/>
                    </a:srgbClr>
                  </a:outerShdw>
                </a:effectLst>
              </a:rPr>
              <a:t>∂E/∂W = ∂E/∂O . ∂O/∂Z</a:t>
            </a:r>
            <a:r>
              <a:rPr lang="en-US" baseline="-25000" dirty="0">
                <a:solidFill>
                  <a:srgbClr val="FF0000"/>
                </a:solidFill>
                <a:effectLst>
                  <a:outerShdw blurRad="38100" dist="38100" dir="2700000" algn="tl">
                    <a:srgbClr val="000000">
                      <a:alpha val="43137"/>
                    </a:srgbClr>
                  </a:outerShdw>
                </a:effectLst>
              </a:rPr>
              <a:t>2</a:t>
            </a:r>
            <a:r>
              <a:rPr lang="en-US" dirty="0">
                <a:solidFill>
                  <a:srgbClr val="FF0000"/>
                </a:solidFill>
                <a:effectLst>
                  <a:outerShdw blurRad="38100" dist="38100" dir="2700000" algn="tl">
                    <a:srgbClr val="000000">
                      <a:alpha val="43137"/>
                    </a:srgbClr>
                  </a:outerShdw>
                </a:effectLst>
              </a:rPr>
              <a:t>. ∂Z</a:t>
            </a:r>
            <a:r>
              <a:rPr lang="en-US" baseline="-25000" dirty="0">
                <a:solidFill>
                  <a:srgbClr val="FF0000"/>
                </a:solidFill>
                <a:effectLst>
                  <a:outerShdw blurRad="38100" dist="38100" dir="2700000" algn="tl">
                    <a:srgbClr val="000000">
                      <a:alpha val="43137"/>
                    </a:srgbClr>
                  </a:outerShdw>
                </a:effectLst>
              </a:rPr>
              <a:t>2</a:t>
            </a:r>
            <a:r>
              <a:rPr lang="en-US" dirty="0">
                <a:solidFill>
                  <a:srgbClr val="FF0000"/>
                </a:solidFill>
                <a:effectLst>
                  <a:outerShdw blurRad="38100" dist="38100" dir="2700000" algn="tl">
                    <a:srgbClr val="000000">
                      <a:alpha val="43137"/>
                    </a:srgbClr>
                  </a:outerShdw>
                </a:effectLst>
              </a:rPr>
              <a:t>/∂W</a:t>
            </a:r>
          </a:p>
          <a:p>
            <a:r>
              <a:rPr lang="en-US" dirty="0">
                <a:solidFill>
                  <a:srgbClr val="FF0000"/>
                </a:solidFill>
                <a:effectLst>
                  <a:outerShdw blurRad="38100" dist="38100" dir="2700000" algn="tl">
                    <a:srgbClr val="000000">
                      <a:alpha val="43137"/>
                    </a:srgbClr>
                  </a:outerShdw>
                </a:effectLst>
              </a:rPr>
              <a:t>∂E/∂W = -(y'-o) . sigmoid'. A</a:t>
            </a:r>
            <a:r>
              <a:rPr lang="en-US" baseline="-25000" dirty="0">
                <a:solidFill>
                  <a:srgbClr val="FF0000"/>
                </a:solidFill>
                <a:effectLst>
                  <a:outerShdw blurRad="38100" dist="38100" dir="2700000" algn="tl">
                    <a:srgbClr val="000000">
                      <a:alpha val="43137"/>
                    </a:srgbClr>
                  </a:outerShdw>
                </a:effectLst>
              </a:rPr>
              <a:t>1</a:t>
            </a:r>
            <a:endParaRPr lang="tr-TR" baseline="-25000" dirty="0">
              <a:solidFill>
                <a:srgbClr val="FF0000"/>
              </a:solidFill>
              <a:effectLst>
                <a:outerShdw blurRad="38100" dist="38100" dir="2700000" algn="tl">
                  <a:srgbClr val="000000">
                    <a:alpha val="43137"/>
                  </a:srgbClr>
                </a:outerShdw>
              </a:effectLst>
            </a:endParaRPr>
          </a:p>
          <a:p>
            <a:r>
              <a:rPr lang="en-US" dirty="0"/>
              <a:t>The shape of ∂E/∂W will be the same as the weight matrix W. We can update the values in the weight matrix using the following equation:</a:t>
            </a:r>
            <a:endParaRPr lang="tr-TR" dirty="0"/>
          </a:p>
          <a:p>
            <a:r>
              <a:rPr lang="en-US" dirty="0" err="1">
                <a:solidFill>
                  <a:srgbClr val="FF0000"/>
                </a:solidFill>
                <a:effectLst>
                  <a:outerShdw blurRad="38100" dist="38100" dir="2700000" algn="tl">
                    <a:srgbClr val="000000">
                      <a:alpha val="43137"/>
                    </a:srgbClr>
                  </a:outerShdw>
                </a:effectLst>
              </a:rPr>
              <a:t>W_new</a:t>
            </a:r>
            <a:r>
              <a:rPr lang="en-US" dirty="0">
                <a:solidFill>
                  <a:srgbClr val="FF0000"/>
                </a:solidFill>
                <a:effectLst>
                  <a:outerShdw blurRad="38100" dist="38100" dir="2700000" algn="tl">
                    <a:srgbClr val="000000">
                      <a:alpha val="43137"/>
                    </a:srgbClr>
                  </a:outerShdw>
                </a:effectLst>
              </a:rPr>
              <a:t> = </a:t>
            </a:r>
            <a:r>
              <a:rPr lang="en-US" dirty="0" err="1">
                <a:solidFill>
                  <a:srgbClr val="FF0000"/>
                </a:solidFill>
                <a:effectLst>
                  <a:outerShdw blurRad="38100" dist="38100" dir="2700000" algn="tl">
                    <a:srgbClr val="000000">
                      <a:alpha val="43137"/>
                    </a:srgbClr>
                  </a:outerShdw>
                </a:effectLst>
              </a:rPr>
              <a:t>W_old</a:t>
            </a:r>
            <a:r>
              <a:rPr lang="en-US" dirty="0">
                <a:solidFill>
                  <a:srgbClr val="FF0000"/>
                </a:solidFill>
                <a:effectLst>
                  <a:outerShdw blurRad="38100" dist="38100" dir="2700000" algn="tl">
                    <a:srgbClr val="000000">
                      <a:alpha val="43137"/>
                    </a:srgbClr>
                  </a:outerShdw>
                </a:effectLst>
              </a:rPr>
              <a:t> - </a:t>
            </a:r>
            <a:r>
              <a:rPr lang="en-US" dirty="0" err="1">
                <a:solidFill>
                  <a:srgbClr val="FF0000"/>
                </a:solidFill>
                <a:effectLst>
                  <a:outerShdw blurRad="38100" dist="38100" dir="2700000" algn="tl">
                    <a:srgbClr val="000000">
                      <a:alpha val="43137"/>
                    </a:srgbClr>
                  </a:outerShdw>
                </a:effectLst>
              </a:rPr>
              <a:t>lr</a:t>
            </a:r>
            <a:r>
              <a:rPr lang="en-US" dirty="0">
                <a:solidFill>
                  <a:srgbClr val="FF0000"/>
                </a:solidFill>
                <a:effectLst>
                  <a:outerShdw blurRad="38100" dist="38100" dir="2700000" algn="tl">
                    <a:srgbClr val="000000">
                      <a:alpha val="43137"/>
                    </a:srgbClr>
                  </a:outerShdw>
                </a:effectLst>
              </a:rPr>
              <a:t>*∂E/∂W</a:t>
            </a:r>
            <a:endParaRPr lang="tr-TR" dirty="0">
              <a:solidFill>
                <a:srgbClr val="FF0000"/>
              </a:solidFill>
              <a:effectLst>
                <a:outerShdw blurRad="38100" dist="38100" dir="2700000" algn="tl">
                  <a:srgbClr val="000000">
                    <a:alpha val="43137"/>
                  </a:srgbClr>
                </a:outerShdw>
              </a:effectLst>
            </a:endParaRPr>
          </a:p>
          <a:p>
            <a:r>
              <a:rPr lang="en-US" dirty="0"/>
              <a:t>Updating the bias matrix follows the same procedure.</a:t>
            </a: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97</a:t>
            </a:fld>
            <a:endParaRPr lang="tr-TR"/>
          </a:p>
        </p:txBody>
      </p:sp>
    </p:spTree>
    <p:extLst>
      <p:ext uri="{BB962C8B-B14F-4D97-AF65-F5344CB8AC3E}">
        <p14:creationId xmlns:p14="http://schemas.microsoft.com/office/powerpoint/2010/main" val="403053929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844472"/>
          </a:xfrm>
        </p:spPr>
        <p:txBody>
          <a:bodyPr>
            <a:normAutofit fontScale="90000"/>
          </a:bodyPr>
          <a:lstStyle/>
          <a:p>
            <a:r>
              <a:rPr lang="tr-TR" b="1" dirty="0"/>
              <a:t>Backward Propagation: Convolution Layer</a:t>
            </a:r>
            <a:br>
              <a:rPr lang="tr-TR" b="1" dirty="0"/>
            </a:br>
            <a:endParaRPr lang="en-US" dirty="0"/>
          </a:p>
        </p:txBody>
      </p:sp>
      <p:sp>
        <p:nvSpPr>
          <p:cNvPr id="3" name="Content Placeholder 2"/>
          <p:cNvSpPr>
            <a:spLocks noGrp="1"/>
          </p:cNvSpPr>
          <p:nvPr>
            <p:ph idx="1"/>
          </p:nvPr>
        </p:nvSpPr>
        <p:spPr/>
        <p:txBody>
          <a:bodyPr/>
          <a:lstStyle/>
          <a:p>
            <a:r>
              <a:rPr lang="en-US" dirty="0"/>
              <a:t>For the convolution layer, we had the filter matrix as our parameter. </a:t>
            </a:r>
            <a:endParaRPr lang="tr-TR" dirty="0"/>
          </a:p>
          <a:p>
            <a:r>
              <a:rPr lang="en-US" dirty="0"/>
              <a:t>During the forward propagation process, we randomly initialized the filter matrix. </a:t>
            </a:r>
            <a:endParaRPr lang="tr-TR" dirty="0"/>
          </a:p>
          <a:p>
            <a:r>
              <a:rPr lang="en-US" dirty="0"/>
              <a:t>We will now update these values using the following equation:</a:t>
            </a:r>
            <a:endParaRPr lang="tr-TR" dirty="0"/>
          </a:p>
          <a:p>
            <a:r>
              <a:rPr lang="en-US" dirty="0" err="1">
                <a:solidFill>
                  <a:srgbClr val="FF0000"/>
                </a:solidFill>
                <a:effectLst>
                  <a:outerShdw blurRad="38100" dist="38100" dir="2700000" algn="tl">
                    <a:srgbClr val="000000">
                      <a:alpha val="43137"/>
                    </a:srgbClr>
                  </a:outerShdw>
                </a:effectLst>
              </a:rPr>
              <a:t>new_parameter</a:t>
            </a:r>
            <a:r>
              <a:rPr lang="en-US" dirty="0">
                <a:solidFill>
                  <a:srgbClr val="FF0000"/>
                </a:solidFill>
                <a:effectLst>
                  <a:outerShdw blurRad="38100" dist="38100" dir="2700000" algn="tl">
                    <a:srgbClr val="000000">
                      <a:alpha val="43137"/>
                    </a:srgbClr>
                  </a:outerShdw>
                </a:effectLst>
              </a:rPr>
              <a:t> = </a:t>
            </a:r>
            <a:r>
              <a:rPr lang="en-US" dirty="0" err="1">
                <a:solidFill>
                  <a:srgbClr val="FF0000"/>
                </a:solidFill>
                <a:effectLst>
                  <a:outerShdw blurRad="38100" dist="38100" dir="2700000" algn="tl">
                    <a:srgbClr val="000000">
                      <a:alpha val="43137"/>
                    </a:srgbClr>
                  </a:outerShdw>
                </a:effectLst>
              </a:rPr>
              <a:t>old_parameter</a:t>
            </a:r>
            <a:r>
              <a:rPr lang="en-US" dirty="0">
                <a:solidFill>
                  <a:srgbClr val="FF0000"/>
                </a:solidFill>
                <a:effectLst>
                  <a:outerShdw blurRad="38100" dist="38100" dir="2700000" algn="tl">
                    <a:srgbClr val="000000">
                      <a:alpha val="43137"/>
                    </a:srgbClr>
                  </a:outerShdw>
                </a:effectLst>
              </a:rPr>
              <a:t> - (</a:t>
            </a:r>
            <a:r>
              <a:rPr lang="en-US" dirty="0" err="1">
                <a:solidFill>
                  <a:srgbClr val="FF0000"/>
                </a:solidFill>
                <a:effectLst>
                  <a:outerShdw blurRad="38100" dist="38100" dir="2700000" algn="tl">
                    <a:srgbClr val="000000">
                      <a:alpha val="43137"/>
                    </a:srgbClr>
                  </a:outerShdw>
                </a:effectLst>
              </a:rPr>
              <a:t>learning_rate</a:t>
            </a:r>
            <a:r>
              <a:rPr lang="en-US" dirty="0">
                <a:solidFill>
                  <a:srgbClr val="FF0000"/>
                </a:solidFill>
                <a:effectLst>
                  <a:outerShdw blurRad="38100" dist="38100" dir="2700000" algn="tl">
                    <a:srgbClr val="000000">
                      <a:alpha val="43137"/>
                    </a:srgbClr>
                  </a:outerShdw>
                </a:effectLst>
              </a:rPr>
              <a:t> * </a:t>
            </a:r>
            <a:r>
              <a:rPr lang="en-US" dirty="0" err="1">
                <a:solidFill>
                  <a:srgbClr val="FF0000"/>
                </a:solidFill>
                <a:effectLst>
                  <a:outerShdw blurRad="38100" dist="38100" dir="2700000" algn="tl">
                    <a:srgbClr val="000000">
                      <a:alpha val="43137"/>
                    </a:srgbClr>
                  </a:outerShdw>
                </a:effectLst>
              </a:rPr>
              <a:t>gradient_of_parameter</a:t>
            </a:r>
            <a:r>
              <a:rPr lang="en-US" dirty="0">
                <a:solidFill>
                  <a:srgbClr val="FF0000"/>
                </a:solidFill>
                <a:effectLst>
                  <a:outerShdw blurRad="38100" dist="38100" dir="2700000" algn="tl">
                    <a:srgbClr val="000000">
                      <a:alpha val="43137"/>
                    </a:srgbClr>
                  </a:outerShdw>
                </a:effectLst>
              </a:rPr>
              <a:t>)</a:t>
            </a:r>
            <a:endParaRPr lang="tr-TR" dirty="0">
              <a:solidFill>
                <a:srgbClr val="FF0000"/>
              </a:solidFill>
              <a:effectLst>
                <a:outerShdw blurRad="38100" dist="38100" dir="2700000" algn="tl">
                  <a:srgbClr val="000000">
                    <a:alpha val="43137"/>
                  </a:srgbClr>
                </a:outerShdw>
              </a:effectLst>
            </a:endParaRPr>
          </a:p>
          <a:p>
            <a:r>
              <a:rPr lang="en-US" dirty="0"/>
              <a:t>To update the filter matrix, we need to find the gradient of the parameter – </a:t>
            </a:r>
            <a:r>
              <a:rPr lang="en-US" dirty="0" err="1">
                <a:solidFill>
                  <a:srgbClr val="FF0000"/>
                </a:solidFill>
                <a:effectLst>
                  <a:outerShdw blurRad="38100" dist="38100" dir="2700000" algn="tl">
                    <a:srgbClr val="000000">
                      <a:alpha val="43137"/>
                    </a:srgbClr>
                  </a:outerShdw>
                </a:effectLst>
              </a:rPr>
              <a:t>dE</a:t>
            </a:r>
            <a:r>
              <a:rPr lang="en-US" dirty="0">
                <a:solidFill>
                  <a:srgbClr val="FF0000"/>
                </a:solidFill>
                <a:effectLst>
                  <a:outerShdw blurRad="38100" dist="38100" dir="2700000" algn="tl">
                    <a:srgbClr val="000000">
                      <a:alpha val="43137"/>
                    </a:srgbClr>
                  </a:outerShdw>
                </a:effectLst>
              </a:rPr>
              <a:t>/</a:t>
            </a:r>
            <a:r>
              <a:rPr lang="en-US" dirty="0" err="1">
                <a:solidFill>
                  <a:srgbClr val="FF0000"/>
                </a:solidFill>
                <a:effectLst>
                  <a:outerShdw blurRad="38100" dist="38100" dir="2700000" algn="tl">
                    <a:srgbClr val="000000">
                      <a:alpha val="43137"/>
                    </a:srgbClr>
                  </a:outerShdw>
                </a:effectLst>
              </a:rPr>
              <a:t>df</a:t>
            </a:r>
            <a:r>
              <a:rPr lang="en-US" dirty="0"/>
              <a:t>. </a:t>
            </a:r>
            <a:endParaRPr lang="tr-TR" dirty="0"/>
          </a:p>
          <a:p>
            <a:r>
              <a:rPr lang="en-US" dirty="0"/>
              <a:t>Here is the computation graph for backward propagation:</a:t>
            </a:r>
            <a:endParaRPr lang="en-US" dirty="0">
              <a:solidFill>
                <a:srgbClr val="FF0000"/>
              </a:solidFill>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98</a:t>
            </a:fld>
            <a:endParaRPr lang="tr-TR"/>
          </a:p>
        </p:txBody>
      </p:sp>
    </p:spTree>
    <p:extLst>
      <p:ext uri="{BB962C8B-B14F-4D97-AF65-F5344CB8AC3E}">
        <p14:creationId xmlns:p14="http://schemas.microsoft.com/office/powerpoint/2010/main" val="257096349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787782"/>
            <a:ext cx="8915400" cy="5123440"/>
          </a:xfrm>
        </p:spPr>
        <p:txBody>
          <a:bodyPr/>
          <a:lstStyle/>
          <a:p>
            <a:endParaRPr lang="tr-TR" dirty="0"/>
          </a:p>
          <a:p>
            <a:endParaRPr lang="tr-TR" dirty="0"/>
          </a:p>
          <a:p>
            <a:endParaRPr lang="tr-TR" dirty="0"/>
          </a:p>
          <a:p>
            <a:endParaRPr lang="tr-TR" dirty="0"/>
          </a:p>
          <a:p>
            <a:endParaRPr lang="tr-TR" dirty="0"/>
          </a:p>
          <a:p>
            <a:endParaRPr lang="tr-TR" dirty="0"/>
          </a:p>
          <a:p>
            <a:endParaRPr lang="tr-TR" dirty="0"/>
          </a:p>
          <a:p>
            <a:endParaRPr lang="tr-TR" dirty="0"/>
          </a:p>
          <a:p>
            <a:r>
              <a:rPr lang="en-US" dirty="0"/>
              <a:t>From the above graph we can define the derivative ∂E/∂</a:t>
            </a:r>
            <a:r>
              <a:rPr lang="en-US" i="1" dirty="0"/>
              <a:t>f</a:t>
            </a:r>
            <a:r>
              <a:rPr lang="en-US" dirty="0"/>
              <a:t> as:</a:t>
            </a:r>
            <a:endParaRPr lang="tr-TR" dirty="0"/>
          </a:p>
          <a:p>
            <a:r>
              <a:rPr lang="en-US" dirty="0">
                <a:solidFill>
                  <a:srgbClr val="FF0000"/>
                </a:solidFill>
                <a:effectLst>
                  <a:outerShdw blurRad="38100" dist="38100" dir="2700000" algn="tl">
                    <a:srgbClr val="000000">
                      <a:alpha val="43137"/>
                    </a:srgbClr>
                  </a:outerShdw>
                </a:effectLst>
              </a:rPr>
              <a:t>∂E/∂f = ∂E/∂O.∂O/∂Z</a:t>
            </a:r>
            <a:r>
              <a:rPr lang="en-US" baseline="-25000" dirty="0">
                <a:solidFill>
                  <a:srgbClr val="FF0000"/>
                </a:solidFill>
                <a:effectLst>
                  <a:outerShdw blurRad="38100" dist="38100" dir="2700000" algn="tl">
                    <a:srgbClr val="000000">
                      <a:alpha val="43137"/>
                    </a:srgbClr>
                  </a:outerShdw>
                </a:effectLst>
              </a:rPr>
              <a:t>2</a:t>
            </a:r>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2</a:t>
            </a:r>
            <a:r>
              <a:rPr lang="en-US" dirty="0">
                <a:solidFill>
                  <a:srgbClr val="FF0000"/>
                </a:solidFill>
                <a:effectLst>
                  <a:outerShdw blurRad="38100" dist="38100" dir="2700000" algn="tl">
                    <a:srgbClr val="000000">
                      <a:alpha val="43137"/>
                    </a:srgbClr>
                  </a:outerShdw>
                </a:effectLst>
              </a:rPr>
              <a:t>/∂A</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 .∂A</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/∂f</a:t>
            </a:r>
            <a:endParaRPr lang="tr-TR" dirty="0">
              <a:solidFill>
                <a:srgbClr val="FF0000"/>
              </a:solidFill>
              <a:effectLst>
                <a:outerShdw blurRad="38100" dist="38100" dir="2700000" algn="tl">
                  <a:srgbClr val="000000">
                    <a:alpha val="43137"/>
                  </a:srgbClr>
                </a:outerShdw>
              </a:effectLst>
            </a:endParaRPr>
          </a:p>
          <a:p>
            <a:r>
              <a:rPr lang="en-US" dirty="0"/>
              <a:t>We have already determined the values for </a:t>
            </a:r>
            <a:r>
              <a:rPr lang="en-US" dirty="0">
                <a:solidFill>
                  <a:srgbClr val="FF0000"/>
                </a:solidFill>
                <a:effectLst>
                  <a:outerShdw blurRad="38100" dist="38100" dir="2700000" algn="tl">
                    <a:srgbClr val="000000">
                      <a:alpha val="43137"/>
                    </a:srgbClr>
                  </a:outerShdw>
                </a:effectLst>
              </a:rPr>
              <a:t>∂E/∂O</a:t>
            </a:r>
            <a:r>
              <a:rPr lang="en-US" dirty="0"/>
              <a:t> and </a:t>
            </a:r>
            <a:r>
              <a:rPr lang="en-US" dirty="0">
                <a:solidFill>
                  <a:srgbClr val="FF0000"/>
                </a:solidFill>
                <a:effectLst>
                  <a:outerShdw blurRad="38100" dist="38100" dir="2700000" algn="tl">
                    <a:srgbClr val="000000">
                      <a:alpha val="43137"/>
                    </a:srgbClr>
                  </a:outerShdw>
                </a:effectLst>
              </a:rPr>
              <a:t>∂O/∂Z2</a:t>
            </a:r>
            <a:r>
              <a:rPr lang="en-US" dirty="0"/>
              <a:t>. Let us find the values for the remaining derivatives.</a:t>
            </a:r>
            <a:endParaRPr lang="en-US" dirty="0">
              <a:solidFill>
                <a:srgbClr val="FF0000"/>
              </a:solidFill>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99</a:t>
            </a:fld>
            <a:endParaRPr lang="tr-TR"/>
          </a:p>
        </p:txBody>
      </p:sp>
      <p:pic>
        <p:nvPicPr>
          <p:cNvPr id="6" name="Picture 5"/>
          <p:cNvPicPr>
            <a:picLocks noChangeAspect="1"/>
          </p:cNvPicPr>
          <p:nvPr/>
        </p:nvPicPr>
        <p:blipFill>
          <a:blip r:embed="rId2"/>
          <a:stretch>
            <a:fillRect/>
          </a:stretch>
        </p:blipFill>
        <p:spPr>
          <a:xfrm>
            <a:off x="3570287" y="787782"/>
            <a:ext cx="6953250" cy="2828925"/>
          </a:xfrm>
          <a:prstGeom prst="rect">
            <a:avLst/>
          </a:prstGeom>
        </p:spPr>
      </p:pic>
    </p:spTree>
    <p:extLst>
      <p:ext uri="{BB962C8B-B14F-4D97-AF65-F5344CB8AC3E}">
        <p14:creationId xmlns:p14="http://schemas.microsoft.com/office/powerpoint/2010/main" val="6984768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Change in Z</a:t>
            </a:r>
            <a:r>
              <a:rPr lang="en-US" b="1" baseline="-25000" dirty="0"/>
              <a:t>2</a:t>
            </a:r>
            <a:r>
              <a:rPr lang="en-US" b="1" dirty="0"/>
              <a:t> with respect to A</a:t>
            </a:r>
            <a:r>
              <a:rPr lang="en-US" b="1" baseline="-25000" dirty="0"/>
              <a:t>1</a:t>
            </a:r>
            <a:br>
              <a:rPr lang="en-US" b="1" dirty="0"/>
            </a:br>
            <a:endParaRPr lang="en-US" dirty="0"/>
          </a:p>
        </p:txBody>
      </p:sp>
      <p:sp>
        <p:nvSpPr>
          <p:cNvPr id="3" name="Content Placeholder 2"/>
          <p:cNvSpPr>
            <a:spLocks noGrp="1"/>
          </p:cNvSpPr>
          <p:nvPr>
            <p:ph idx="1"/>
          </p:nvPr>
        </p:nvSpPr>
        <p:spPr/>
        <p:txBody>
          <a:bodyPr/>
          <a:lstStyle/>
          <a:p>
            <a:r>
              <a:rPr lang="en-US" dirty="0"/>
              <a:t>To find the value for </a:t>
            </a:r>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2</a:t>
            </a:r>
            <a:r>
              <a:rPr lang="en-US" dirty="0">
                <a:solidFill>
                  <a:srgbClr val="FF0000"/>
                </a:solidFill>
                <a:effectLst>
                  <a:outerShdw blurRad="38100" dist="38100" dir="2700000" algn="tl">
                    <a:srgbClr val="000000">
                      <a:alpha val="43137"/>
                    </a:srgbClr>
                  </a:outerShdw>
                </a:effectLst>
              </a:rPr>
              <a:t>/∂A</a:t>
            </a:r>
            <a:r>
              <a:rPr lang="en-US" baseline="-25000" dirty="0">
                <a:solidFill>
                  <a:srgbClr val="FF0000"/>
                </a:solidFill>
                <a:effectLst>
                  <a:outerShdw blurRad="38100" dist="38100" dir="2700000" algn="tl">
                    <a:srgbClr val="000000">
                      <a:alpha val="43137"/>
                    </a:srgbClr>
                  </a:outerShdw>
                </a:effectLst>
              </a:rPr>
              <a:t>1</a:t>
            </a:r>
            <a:r>
              <a:rPr lang="en-US" dirty="0"/>
              <a:t> , we need to have the equation for </a:t>
            </a:r>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2</a:t>
            </a:r>
            <a:r>
              <a:rPr lang="en-US" dirty="0"/>
              <a:t> in terms of </a:t>
            </a:r>
            <a:r>
              <a:rPr lang="en-US" dirty="0">
                <a:solidFill>
                  <a:srgbClr val="FF0000"/>
                </a:solidFill>
                <a:effectLst>
                  <a:outerShdw blurRad="38100" dist="38100" dir="2700000" algn="tl">
                    <a:srgbClr val="000000">
                      <a:alpha val="43137"/>
                    </a:srgbClr>
                  </a:outerShdw>
                </a:effectLst>
              </a:rPr>
              <a:t>A</a:t>
            </a:r>
            <a:r>
              <a:rPr lang="en-US" baseline="-25000" dirty="0">
                <a:solidFill>
                  <a:srgbClr val="FF0000"/>
                </a:solidFill>
                <a:effectLst>
                  <a:outerShdw blurRad="38100" dist="38100" dir="2700000" algn="tl">
                    <a:srgbClr val="000000">
                      <a:alpha val="43137"/>
                    </a:srgbClr>
                  </a:outerShdw>
                </a:effectLst>
              </a:rPr>
              <a:t>1</a:t>
            </a:r>
            <a:r>
              <a:rPr lang="en-US" dirty="0"/>
              <a:t>:</a:t>
            </a:r>
            <a:endParaRPr lang="tr-TR" dirty="0"/>
          </a:p>
          <a:p>
            <a:endParaRPr lang="tr-TR" dirty="0"/>
          </a:p>
          <a:p>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2</a:t>
            </a:r>
            <a:r>
              <a:rPr lang="en-US" dirty="0">
                <a:solidFill>
                  <a:srgbClr val="FF0000"/>
                </a:solidFill>
                <a:effectLst>
                  <a:outerShdw blurRad="38100" dist="38100" dir="2700000" algn="tl">
                    <a:srgbClr val="000000">
                      <a:alpha val="43137"/>
                    </a:srgbClr>
                  </a:outerShdw>
                </a:effectLst>
              </a:rPr>
              <a:t> = W</a:t>
            </a:r>
            <a:r>
              <a:rPr lang="en-US" baseline="30000" dirty="0">
                <a:solidFill>
                  <a:srgbClr val="FF0000"/>
                </a:solidFill>
                <a:effectLst>
                  <a:outerShdw blurRad="38100" dist="38100" dir="2700000" algn="tl">
                    <a:srgbClr val="000000">
                      <a:alpha val="43137"/>
                    </a:srgbClr>
                  </a:outerShdw>
                </a:effectLst>
              </a:rPr>
              <a:t>T</a:t>
            </a:r>
            <a:r>
              <a:rPr lang="en-US" dirty="0">
                <a:solidFill>
                  <a:srgbClr val="FF0000"/>
                </a:solidFill>
                <a:effectLst>
                  <a:outerShdw blurRad="38100" dist="38100" dir="2700000" algn="tl">
                    <a:srgbClr val="000000">
                      <a:alpha val="43137"/>
                    </a:srgbClr>
                  </a:outerShdw>
                </a:effectLst>
              </a:rPr>
              <a:t>.A</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 + b</a:t>
            </a:r>
            <a:endParaRPr lang="tr-TR" dirty="0">
              <a:solidFill>
                <a:srgbClr val="FF0000"/>
              </a:solidFill>
              <a:effectLst>
                <a:outerShdw blurRad="38100" dist="38100" dir="2700000" algn="tl">
                  <a:srgbClr val="000000">
                    <a:alpha val="43137"/>
                  </a:srgbClr>
                </a:outerShdw>
              </a:effectLst>
            </a:endParaRPr>
          </a:p>
          <a:p>
            <a:endParaRPr lang="tr-TR" dirty="0">
              <a:solidFill>
                <a:srgbClr val="FF0000"/>
              </a:solidFill>
              <a:effectLst>
                <a:outerShdw blurRad="38100" dist="38100" dir="2700000" algn="tl">
                  <a:srgbClr val="000000">
                    <a:alpha val="43137"/>
                  </a:srgbClr>
                </a:outerShdw>
              </a:effectLst>
            </a:endParaRPr>
          </a:p>
          <a:p>
            <a:r>
              <a:rPr lang="en-US" dirty="0"/>
              <a:t>On differentiating the above equation with respect to </a:t>
            </a:r>
            <a:r>
              <a:rPr lang="en-US" dirty="0">
                <a:solidFill>
                  <a:srgbClr val="FF0000"/>
                </a:solidFill>
                <a:effectLst>
                  <a:outerShdw blurRad="38100" dist="38100" dir="2700000" algn="tl">
                    <a:srgbClr val="000000">
                      <a:alpha val="43137"/>
                    </a:srgbClr>
                  </a:outerShdw>
                </a:effectLst>
              </a:rPr>
              <a:t>A</a:t>
            </a:r>
            <a:r>
              <a:rPr lang="en-US" baseline="-25000" dirty="0">
                <a:solidFill>
                  <a:srgbClr val="FF0000"/>
                </a:solidFill>
                <a:effectLst>
                  <a:outerShdw blurRad="38100" dist="38100" dir="2700000" algn="tl">
                    <a:srgbClr val="000000">
                      <a:alpha val="43137"/>
                    </a:srgbClr>
                  </a:outerShdw>
                </a:effectLst>
              </a:rPr>
              <a:t>1</a:t>
            </a:r>
            <a:r>
              <a:rPr lang="en-US" dirty="0"/>
              <a:t>, we get </a:t>
            </a:r>
            <a:r>
              <a:rPr lang="en-US" dirty="0">
                <a:solidFill>
                  <a:srgbClr val="FF0000"/>
                </a:solidFill>
                <a:effectLst>
                  <a:outerShdw blurRad="38100" dist="38100" dir="2700000" algn="tl">
                    <a:srgbClr val="000000">
                      <a:alpha val="43137"/>
                    </a:srgbClr>
                  </a:outerShdw>
                </a:effectLst>
              </a:rPr>
              <a:t>W</a:t>
            </a:r>
            <a:r>
              <a:rPr lang="en-US" baseline="30000" dirty="0">
                <a:solidFill>
                  <a:srgbClr val="FF0000"/>
                </a:solidFill>
                <a:effectLst>
                  <a:outerShdw blurRad="38100" dist="38100" dir="2700000" algn="tl">
                    <a:srgbClr val="000000">
                      <a:alpha val="43137"/>
                    </a:srgbClr>
                  </a:outerShdw>
                </a:effectLst>
              </a:rPr>
              <a:t>T</a:t>
            </a:r>
            <a:r>
              <a:rPr lang="en-US" dirty="0"/>
              <a:t> as the result:</a:t>
            </a:r>
            <a:endParaRPr lang="tr-TR" dirty="0"/>
          </a:p>
          <a:p>
            <a:endParaRPr lang="tr-TR" dirty="0"/>
          </a:p>
          <a:p>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2</a:t>
            </a:r>
            <a:r>
              <a:rPr lang="en-US" dirty="0">
                <a:solidFill>
                  <a:srgbClr val="FF0000"/>
                </a:solidFill>
                <a:effectLst>
                  <a:outerShdw blurRad="38100" dist="38100" dir="2700000" algn="tl">
                    <a:srgbClr val="000000">
                      <a:alpha val="43137"/>
                    </a:srgbClr>
                  </a:outerShdw>
                </a:effectLst>
              </a:rPr>
              <a:t>/∂A</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  = W</a:t>
            </a:r>
            <a:r>
              <a:rPr lang="en-US" baseline="30000" dirty="0">
                <a:solidFill>
                  <a:srgbClr val="FF0000"/>
                </a:solidFill>
                <a:effectLst>
                  <a:outerShdw blurRad="38100" dist="38100" dir="2700000" algn="tl">
                    <a:srgbClr val="000000">
                      <a:alpha val="43137"/>
                    </a:srgbClr>
                  </a:outerShdw>
                </a:effectLst>
              </a:rPr>
              <a:t>T</a:t>
            </a: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100</a:t>
            </a:fld>
            <a:endParaRPr lang="tr-TR"/>
          </a:p>
        </p:txBody>
      </p:sp>
    </p:spTree>
    <p:extLst>
      <p:ext uri="{BB962C8B-B14F-4D97-AF65-F5344CB8AC3E}">
        <p14:creationId xmlns:p14="http://schemas.microsoft.com/office/powerpoint/2010/main" val="424613282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Change in A</a:t>
            </a:r>
            <a:r>
              <a:rPr lang="en-US" b="1" baseline="-25000" dirty="0"/>
              <a:t>1</a:t>
            </a:r>
            <a:r>
              <a:rPr lang="en-US" b="1" dirty="0"/>
              <a:t> with respect to Z</a:t>
            </a:r>
            <a:r>
              <a:rPr lang="en-US" b="1" baseline="-25000" dirty="0"/>
              <a:t>1</a:t>
            </a:r>
            <a:br>
              <a:rPr lang="en-US" b="1" dirty="0"/>
            </a:br>
            <a:endParaRPr lang="en-US" dirty="0"/>
          </a:p>
        </p:txBody>
      </p:sp>
      <p:sp>
        <p:nvSpPr>
          <p:cNvPr id="3" name="Content Placeholder 2"/>
          <p:cNvSpPr>
            <a:spLocks noGrp="1"/>
          </p:cNvSpPr>
          <p:nvPr>
            <p:ph idx="1"/>
          </p:nvPr>
        </p:nvSpPr>
        <p:spPr/>
        <p:txBody>
          <a:bodyPr/>
          <a:lstStyle/>
          <a:p>
            <a:r>
              <a:rPr lang="en-US" dirty="0"/>
              <a:t>The next value that we need to determine is </a:t>
            </a:r>
            <a:r>
              <a:rPr lang="en-US" dirty="0">
                <a:solidFill>
                  <a:srgbClr val="FF0000"/>
                </a:solidFill>
                <a:effectLst>
                  <a:outerShdw blurRad="38100" dist="38100" dir="2700000" algn="tl">
                    <a:srgbClr val="000000">
                      <a:alpha val="43137"/>
                    </a:srgbClr>
                  </a:outerShdw>
                </a:effectLst>
              </a:rPr>
              <a:t>∂A</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1</a:t>
            </a:r>
            <a:r>
              <a:rPr lang="en-US" dirty="0"/>
              <a:t>. Have a look at the equation of </a:t>
            </a:r>
            <a:r>
              <a:rPr lang="en-US" dirty="0">
                <a:solidFill>
                  <a:srgbClr val="FF0000"/>
                </a:solidFill>
                <a:effectLst>
                  <a:outerShdw blurRad="38100" dist="38100" dir="2700000" algn="tl">
                    <a:srgbClr val="000000">
                      <a:alpha val="43137"/>
                    </a:srgbClr>
                  </a:outerShdw>
                </a:effectLst>
              </a:rPr>
              <a:t>A</a:t>
            </a:r>
            <a:r>
              <a:rPr lang="en-US" baseline="-25000" dirty="0">
                <a:solidFill>
                  <a:srgbClr val="FF0000"/>
                </a:solidFill>
                <a:effectLst>
                  <a:outerShdw blurRad="38100" dist="38100" dir="2700000" algn="tl">
                    <a:srgbClr val="000000">
                      <a:alpha val="43137"/>
                    </a:srgbClr>
                  </a:outerShdw>
                </a:effectLst>
              </a:rPr>
              <a:t>1</a:t>
            </a:r>
            <a:endParaRPr lang="tr-TR" baseline="-25000" dirty="0">
              <a:solidFill>
                <a:srgbClr val="FF0000"/>
              </a:solidFill>
              <a:effectLst>
                <a:outerShdw blurRad="38100" dist="38100" dir="2700000" algn="tl">
                  <a:srgbClr val="000000">
                    <a:alpha val="43137"/>
                  </a:srgbClr>
                </a:outerShdw>
              </a:effectLst>
            </a:endParaRPr>
          </a:p>
          <a:p>
            <a:endParaRPr lang="tr-TR" baseline="-25000" dirty="0">
              <a:solidFill>
                <a:srgbClr val="FF0000"/>
              </a:solidFill>
              <a:effectLst>
                <a:outerShdw blurRad="38100" dist="38100" dir="2700000" algn="tl">
                  <a:srgbClr val="000000">
                    <a:alpha val="43137"/>
                  </a:srgbClr>
                </a:outerShdw>
              </a:effectLst>
            </a:endParaRPr>
          </a:p>
          <a:p>
            <a:r>
              <a:rPr lang="en-US" dirty="0">
                <a:solidFill>
                  <a:srgbClr val="FF0000"/>
                </a:solidFill>
                <a:effectLst>
                  <a:outerShdw blurRad="38100" dist="38100" dir="2700000" algn="tl">
                    <a:srgbClr val="000000">
                      <a:alpha val="43137"/>
                    </a:srgbClr>
                  </a:outerShdw>
                </a:effectLst>
              </a:rPr>
              <a:t>A</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 = sigmoid(Z</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a:t>
            </a:r>
            <a:endParaRPr lang="tr-TR" dirty="0">
              <a:solidFill>
                <a:srgbClr val="FF0000"/>
              </a:solidFill>
              <a:effectLst>
                <a:outerShdw blurRad="38100" dist="38100" dir="2700000" algn="tl">
                  <a:srgbClr val="000000">
                    <a:alpha val="43137"/>
                  </a:srgbClr>
                </a:outerShdw>
              </a:effectLst>
            </a:endParaRPr>
          </a:p>
          <a:p>
            <a:endParaRPr lang="tr-TR" dirty="0">
              <a:solidFill>
                <a:srgbClr val="FF0000"/>
              </a:solidFill>
              <a:effectLst>
                <a:outerShdw blurRad="38100" dist="38100" dir="2700000" algn="tl">
                  <a:srgbClr val="000000">
                    <a:alpha val="43137"/>
                  </a:srgbClr>
                </a:outerShdw>
              </a:effectLst>
            </a:endParaRPr>
          </a:p>
          <a:p>
            <a:r>
              <a:rPr lang="en-US" dirty="0"/>
              <a:t>This is simply the Sigmoid function. The derivative of Sigmoid would be:</a:t>
            </a:r>
            <a:endParaRPr lang="tr-TR" dirty="0"/>
          </a:p>
          <a:p>
            <a:endParaRPr lang="tr-TR" dirty="0"/>
          </a:p>
          <a:p>
            <a:r>
              <a:rPr lang="en-US" dirty="0">
                <a:solidFill>
                  <a:srgbClr val="FF0000"/>
                </a:solidFill>
                <a:effectLst>
                  <a:outerShdw blurRad="38100" dist="38100" dir="2700000" algn="tl">
                    <a:srgbClr val="000000">
                      <a:alpha val="43137"/>
                    </a:srgbClr>
                  </a:outerShdw>
                </a:effectLst>
              </a:rPr>
              <a:t>∂A</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 = (A</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)(1-A</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a:t>
            </a: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101</a:t>
            </a:fld>
            <a:endParaRPr lang="tr-TR"/>
          </a:p>
        </p:txBody>
      </p:sp>
    </p:spTree>
    <p:extLst>
      <p:ext uri="{BB962C8B-B14F-4D97-AF65-F5344CB8AC3E}">
        <p14:creationId xmlns:p14="http://schemas.microsoft.com/office/powerpoint/2010/main" val="151370929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 Change in Z</a:t>
            </a:r>
            <a:r>
              <a:rPr lang="en-US" b="1" baseline="-25000" dirty="0"/>
              <a:t>1</a:t>
            </a:r>
            <a:r>
              <a:rPr lang="en-US" b="1" dirty="0"/>
              <a:t> with respect to filter </a:t>
            </a:r>
            <a:r>
              <a:rPr lang="en-US" b="1" i="1" dirty="0"/>
              <a:t>f</a:t>
            </a:r>
            <a:br>
              <a:rPr lang="en-US" b="1" dirty="0"/>
            </a:br>
            <a:endParaRPr lang="en-US" dirty="0"/>
          </a:p>
        </p:txBody>
      </p:sp>
      <p:sp>
        <p:nvSpPr>
          <p:cNvPr id="3" name="Content Placeholder 2"/>
          <p:cNvSpPr>
            <a:spLocks noGrp="1"/>
          </p:cNvSpPr>
          <p:nvPr>
            <p:ph idx="1"/>
          </p:nvPr>
        </p:nvSpPr>
        <p:spPr>
          <a:xfrm>
            <a:off x="2589212" y="1607127"/>
            <a:ext cx="8915400" cy="4627417"/>
          </a:xfrm>
        </p:spPr>
        <p:txBody>
          <a:bodyPr>
            <a:normAutofit/>
          </a:bodyPr>
          <a:lstStyle/>
          <a:p>
            <a:r>
              <a:rPr lang="en-US" dirty="0"/>
              <a:t>Finally, we need the value for </a:t>
            </a:r>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a:t>
            </a:r>
            <a:r>
              <a:rPr lang="en-US" i="1" dirty="0">
                <a:solidFill>
                  <a:srgbClr val="FF0000"/>
                </a:solidFill>
                <a:effectLst>
                  <a:outerShdw blurRad="38100" dist="38100" dir="2700000" algn="tl">
                    <a:srgbClr val="000000">
                      <a:alpha val="43137"/>
                    </a:srgbClr>
                  </a:outerShdw>
                </a:effectLst>
              </a:rPr>
              <a:t>f</a:t>
            </a:r>
            <a:r>
              <a:rPr lang="en-US" i="1" dirty="0"/>
              <a:t>.</a:t>
            </a:r>
            <a:r>
              <a:rPr lang="en-US" dirty="0"/>
              <a:t> Here’s the equation for </a:t>
            </a:r>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1</a:t>
            </a:r>
            <a:endParaRPr lang="tr-TR" baseline="-25000" dirty="0">
              <a:solidFill>
                <a:srgbClr val="FF0000"/>
              </a:solidFill>
              <a:effectLst>
                <a:outerShdw blurRad="38100" dist="38100" dir="2700000" algn="tl">
                  <a:srgbClr val="000000">
                    <a:alpha val="43137"/>
                  </a:srgbClr>
                </a:outerShdw>
              </a:effectLst>
            </a:endParaRPr>
          </a:p>
          <a:p>
            <a:endParaRPr lang="tr-TR" baseline="-25000" dirty="0"/>
          </a:p>
          <a:p>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 = X * f</a:t>
            </a:r>
            <a:endParaRPr lang="tr-TR" dirty="0">
              <a:solidFill>
                <a:srgbClr val="FF0000"/>
              </a:solidFill>
              <a:effectLst>
                <a:outerShdw blurRad="38100" dist="38100" dir="2700000" algn="tl">
                  <a:srgbClr val="000000">
                    <a:alpha val="43137"/>
                  </a:srgbClr>
                </a:outerShdw>
              </a:effectLst>
            </a:endParaRPr>
          </a:p>
          <a:p>
            <a:endParaRPr lang="tr-TR" dirty="0">
              <a:solidFill>
                <a:srgbClr val="FF0000"/>
              </a:solidFill>
              <a:effectLst>
                <a:outerShdw blurRad="38100" dist="38100" dir="2700000" algn="tl">
                  <a:srgbClr val="000000">
                    <a:alpha val="43137"/>
                  </a:srgbClr>
                </a:outerShdw>
              </a:effectLst>
            </a:endParaRPr>
          </a:p>
          <a:p>
            <a:r>
              <a:rPr lang="en-US" dirty="0"/>
              <a:t>Differentiating</a:t>
            </a:r>
            <a:r>
              <a:rPr lang="en-US" dirty="0">
                <a:effectLst>
                  <a:outerShdw blurRad="38100" dist="38100" dir="2700000" algn="tl">
                    <a:srgbClr val="000000">
                      <a:alpha val="43137"/>
                    </a:srgbClr>
                  </a:outerShdw>
                </a:effectLst>
              </a:rPr>
              <a:t> </a:t>
            </a:r>
            <a:r>
              <a:rPr lang="en-US" dirty="0">
                <a:solidFill>
                  <a:srgbClr val="FF0000"/>
                </a:solidFill>
                <a:effectLst>
                  <a:outerShdw blurRad="38100" dist="38100" dir="2700000" algn="tl">
                    <a:srgbClr val="000000">
                      <a:alpha val="43137"/>
                    </a:srgbClr>
                  </a:outerShdw>
                </a:effectLst>
              </a:rPr>
              <a:t>Z</a:t>
            </a:r>
            <a:r>
              <a:rPr lang="en-US" dirty="0">
                <a:effectLst>
                  <a:outerShdw blurRad="38100" dist="38100" dir="2700000" algn="tl">
                    <a:srgbClr val="000000">
                      <a:alpha val="43137"/>
                    </a:srgbClr>
                  </a:outerShdw>
                </a:effectLst>
              </a:rPr>
              <a:t> </a:t>
            </a:r>
            <a:r>
              <a:rPr lang="en-US" dirty="0"/>
              <a:t>with respect to</a:t>
            </a:r>
            <a:r>
              <a:rPr lang="en-US" dirty="0">
                <a:solidFill>
                  <a:srgbClr val="FF0000"/>
                </a:solidFill>
              </a:rPr>
              <a:t> </a:t>
            </a:r>
            <a:r>
              <a:rPr lang="tr-TR" dirty="0">
                <a:solidFill>
                  <a:srgbClr val="FF0000"/>
                </a:solidFill>
                <a:effectLst>
                  <a:outerShdw blurRad="38100" dist="38100" dir="2700000" algn="tl">
                    <a:srgbClr val="000000">
                      <a:alpha val="43137"/>
                    </a:srgbClr>
                  </a:outerShdw>
                </a:effectLst>
              </a:rPr>
              <a:t>f</a:t>
            </a:r>
            <a:r>
              <a:rPr lang="en-US" dirty="0">
                <a:solidFill>
                  <a:srgbClr val="FF0000"/>
                </a:solidFill>
              </a:rPr>
              <a:t> </a:t>
            </a:r>
            <a:r>
              <a:rPr lang="en-US" dirty="0"/>
              <a:t>will simply give us </a:t>
            </a:r>
            <a:r>
              <a:rPr lang="en-US" dirty="0">
                <a:solidFill>
                  <a:srgbClr val="FF0000"/>
                </a:solidFill>
                <a:effectLst>
                  <a:outerShdw blurRad="38100" dist="38100" dir="2700000" algn="tl">
                    <a:srgbClr val="000000">
                      <a:alpha val="43137"/>
                    </a:srgbClr>
                  </a:outerShdw>
                </a:effectLst>
              </a:rPr>
              <a:t>X</a:t>
            </a:r>
            <a:r>
              <a:rPr lang="en-US" dirty="0"/>
              <a:t>:</a:t>
            </a:r>
            <a:endParaRPr lang="tr-TR" dirty="0"/>
          </a:p>
          <a:p>
            <a:endParaRPr lang="tr-TR" dirty="0"/>
          </a:p>
          <a:p>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/∂f = X</a:t>
            </a:r>
            <a:endParaRPr lang="tr-TR" dirty="0">
              <a:solidFill>
                <a:srgbClr val="FF0000"/>
              </a:solidFill>
              <a:effectLst>
                <a:outerShdw blurRad="38100" dist="38100" dir="2700000" algn="tl">
                  <a:srgbClr val="000000">
                    <a:alpha val="43137"/>
                  </a:srgbClr>
                </a:outerShdw>
              </a:effectLst>
            </a:endParaRPr>
          </a:p>
          <a:p>
            <a:endParaRPr lang="tr-TR" dirty="0">
              <a:solidFill>
                <a:srgbClr val="FF0000"/>
              </a:solidFill>
              <a:effectLst>
                <a:outerShdw blurRad="38100" dist="38100" dir="2700000" algn="tl">
                  <a:srgbClr val="000000">
                    <a:alpha val="43137"/>
                  </a:srgbClr>
                </a:outerShdw>
              </a:effectLst>
            </a:endParaRPr>
          </a:p>
          <a:p>
            <a:r>
              <a:rPr lang="en-US" dirty="0"/>
              <a:t>Now that we have all the required values, let’s find the overall change in error with respect to the filter:</a:t>
            </a:r>
            <a:endParaRPr lang="tr-TR" dirty="0"/>
          </a:p>
          <a:p>
            <a:endParaRPr lang="tr-TR" dirty="0"/>
          </a:p>
          <a:p>
            <a:r>
              <a:rPr lang="en-US" dirty="0">
                <a:solidFill>
                  <a:srgbClr val="FF0000"/>
                </a:solidFill>
                <a:effectLst>
                  <a:outerShdw blurRad="38100" dist="38100" dir="2700000" algn="tl">
                    <a:srgbClr val="000000">
                      <a:alpha val="43137"/>
                    </a:srgbClr>
                  </a:outerShdw>
                </a:effectLst>
              </a:rPr>
              <a:t>∂E/∂f  = ∂E/∂O.∂O/∂Z</a:t>
            </a:r>
            <a:r>
              <a:rPr lang="en-US" baseline="-25000" dirty="0">
                <a:solidFill>
                  <a:srgbClr val="FF0000"/>
                </a:solidFill>
                <a:effectLst>
                  <a:outerShdw blurRad="38100" dist="38100" dir="2700000" algn="tl">
                    <a:srgbClr val="000000">
                      <a:alpha val="43137"/>
                    </a:srgbClr>
                  </a:outerShdw>
                </a:effectLst>
              </a:rPr>
              <a:t>2</a:t>
            </a:r>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2</a:t>
            </a:r>
            <a:r>
              <a:rPr lang="en-US" dirty="0">
                <a:solidFill>
                  <a:srgbClr val="FF0000"/>
                </a:solidFill>
                <a:effectLst>
                  <a:outerShdw blurRad="38100" dist="38100" dir="2700000" algn="tl">
                    <a:srgbClr val="000000">
                      <a:alpha val="43137"/>
                    </a:srgbClr>
                  </a:outerShdw>
                </a:effectLst>
              </a:rPr>
              <a:t>/∂A</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 .∂A</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 * ∂Z</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/∂f</a:t>
            </a: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102</a:t>
            </a:fld>
            <a:endParaRPr lang="tr-TR"/>
          </a:p>
        </p:txBody>
      </p:sp>
    </p:spTree>
    <p:extLst>
      <p:ext uri="{BB962C8B-B14F-4D97-AF65-F5344CB8AC3E}">
        <p14:creationId xmlns:p14="http://schemas.microsoft.com/office/powerpoint/2010/main" val="334722997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92495" y="787782"/>
            <a:ext cx="8915400" cy="5072691"/>
          </a:xfrm>
        </p:spPr>
        <p:txBody>
          <a:bodyPr>
            <a:normAutofit/>
          </a:bodyPr>
          <a:lstStyle/>
          <a:p>
            <a:r>
              <a:rPr lang="en-US" dirty="0"/>
              <a:t>Notice that in the equation above, the value </a:t>
            </a:r>
            <a:r>
              <a:rPr lang="en-US" dirty="0">
                <a:solidFill>
                  <a:srgbClr val="FF0000"/>
                </a:solidFill>
                <a:effectLst>
                  <a:outerShdw blurRad="38100" dist="38100" dir="2700000" algn="tl">
                    <a:srgbClr val="000000">
                      <a:alpha val="43137"/>
                    </a:srgbClr>
                  </a:outerShdw>
                </a:effectLst>
              </a:rPr>
              <a:t>(∂E/∂O.∂O/∂Z</a:t>
            </a:r>
            <a:r>
              <a:rPr lang="en-US" baseline="-25000" dirty="0">
                <a:solidFill>
                  <a:srgbClr val="FF0000"/>
                </a:solidFill>
                <a:effectLst>
                  <a:outerShdw blurRad="38100" dist="38100" dir="2700000" algn="tl">
                    <a:srgbClr val="000000">
                      <a:alpha val="43137"/>
                    </a:srgbClr>
                  </a:outerShdw>
                </a:effectLst>
              </a:rPr>
              <a:t>2</a:t>
            </a:r>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2</a:t>
            </a:r>
            <a:r>
              <a:rPr lang="en-US" dirty="0">
                <a:solidFill>
                  <a:srgbClr val="FF0000"/>
                </a:solidFill>
                <a:effectLst>
                  <a:outerShdw blurRad="38100" dist="38100" dir="2700000" algn="tl">
                    <a:srgbClr val="000000">
                      <a:alpha val="43137"/>
                    </a:srgbClr>
                  </a:outerShdw>
                </a:effectLst>
              </a:rPr>
              <a:t>/∂A</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 .∂A</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/∂Z)</a:t>
            </a:r>
            <a:r>
              <a:rPr lang="en-US" dirty="0"/>
              <a:t> is convolved with </a:t>
            </a:r>
            <a:r>
              <a:rPr lang="en-US" dirty="0">
                <a:solidFill>
                  <a:srgbClr val="FF0000"/>
                </a:solidFill>
                <a:effectLst>
                  <a:outerShdw blurRad="38100" dist="38100" dir="2700000" algn="tl">
                    <a:srgbClr val="000000">
                      <a:alpha val="43137"/>
                    </a:srgbClr>
                  </a:outerShdw>
                </a:effectLst>
              </a:rPr>
              <a:t>∂Z</a:t>
            </a:r>
            <a:r>
              <a:rPr lang="en-US" baseline="-25000" dirty="0">
                <a:solidFill>
                  <a:srgbClr val="FF0000"/>
                </a:solidFill>
                <a:effectLst>
                  <a:outerShdw blurRad="38100" dist="38100" dir="2700000" algn="tl">
                    <a:srgbClr val="000000">
                      <a:alpha val="43137"/>
                    </a:srgbClr>
                  </a:outerShdw>
                </a:effectLst>
              </a:rPr>
              <a:t>1</a:t>
            </a:r>
            <a:r>
              <a:rPr lang="en-US" dirty="0">
                <a:solidFill>
                  <a:srgbClr val="FF0000"/>
                </a:solidFill>
                <a:effectLst>
                  <a:outerShdw blurRad="38100" dist="38100" dir="2700000" algn="tl">
                    <a:srgbClr val="000000">
                      <a:alpha val="43137"/>
                    </a:srgbClr>
                  </a:outerShdw>
                </a:effectLst>
              </a:rPr>
              <a:t>/∂</a:t>
            </a:r>
            <a:r>
              <a:rPr lang="en-US" i="1" dirty="0">
                <a:solidFill>
                  <a:srgbClr val="FF0000"/>
                </a:solidFill>
                <a:effectLst>
                  <a:outerShdw blurRad="38100" dist="38100" dir="2700000" algn="tl">
                    <a:srgbClr val="000000">
                      <a:alpha val="43137"/>
                    </a:srgbClr>
                  </a:outerShdw>
                </a:effectLst>
              </a:rPr>
              <a:t>f</a:t>
            </a:r>
            <a:r>
              <a:rPr lang="en-US" dirty="0"/>
              <a:t> instead of using a simple dot product.</a:t>
            </a:r>
            <a:endParaRPr lang="tr-TR" dirty="0"/>
          </a:p>
          <a:p>
            <a:r>
              <a:rPr lang="en-US" dirty="0"/>
              <a:t>Why? The main reason is that during forward propagation, we perform a convolution operation for the images and filters.</a:t>
            </a:r>
          </a:p>
          <a:p>
            <a:r>
              <a:rPr lang="en-US" dirty="0"/>
              <a:t>This is repeated in the backward propagation process. </a:t>
            </a:r>
            <a:endParaRPr lang="tr-TR" dirty="0"/>
          </a:p>
          <a:p>
            <a:r>
              <a:rPr lang="en-US" dirty="0"/>
              <a:t>Once we have the value for </a:t>
            </a:r>
            <a:r>
              <a:rPr lang="en-US" dirty="0">
                <a:solidFill>
                  <a:srgbClr val="FF0000"/>
                </a:solidFill>
                <a:effectLst>
                  <a:outerShdw blurRad="38100" dist="38100" dir="2700000" algn="tl">
                    <a:srgbClr val="000000">
                      <a:alpha val="43137"/>
                    </a:srgbClr>
                  </a:outerShdw>
                </a:effectLst>
              </a:rPr>
              <a:t>∂E/∂f</a:t>
            </a:r>
            <a:r>
              <a:rPr lang="en-US" dirty="0"/>
              <a:t>, we will use this value to update the original filter value:</a:t>
            </a:r>
            <a:endParaRPr lang="tr-TR" dirty="0"/>
          </a:p>
          <a:p>
            <a:endParaRPr lang="en-US" dirty="0"/>
          </a:p>
          <a:p>
            <a:r>
              <a:rPr lang="en-US" dirty="0">
                <a:solidFill>
                  <a:srgbClr val="FF0000"/>
                </a:solidFill>
                <a:effectLst>
                  <a:outerShdw blurRad="38100" dist="38100" dir="2700000" algn="tl">
                    <a:srgbClr val="000000">
                      <a:alpha val="43137"/>
                    </a:srgbClr>
                  </a:outerShdw>
                </a:effectLst>
              </a:rPr>
              <a:t>f = f - </a:t>
            </a:r>
            <a:r>
              <a:rPr lang="en-US" dirty="0" err="1">
                <a:solidFill>
                  <a:srgbClr val="FF0000"/>
                </a:solidFill>
                <a:effectLst>
                  <a:outerShdw blurRad="38100" dist="38100" dir="2700000" algn="tl">
                    <a:srgbClr val="000000">
                      <a:alpha val="43137"/>
                    </a:srgbClr>
                  </a:outerShdw>
                </a:effectLst>
              </a:rPr>
              <a:t>lr</a:t>
            </a:r>
            <a:r>
              <a:rPr lang="en-US" dirty="0">
                <a:solidFill>
                  <a:srgbClr val="FF0000"/>
                </a:solidFill>
                <a:effectLst>
                  <a:outerShdw blurRad="38100" dist="38100" dir="2700000" algn="tl">
                    <a:srgbClr val="000000">
                      <a:alpha val="43137"/>
                    </a:srgbClr>
                  </a:outerShdw>
                </a:effectLst>
              </a:rPr>
              <a:t>*(∂E/∂f)</a:t>
            </a:r>
            <a:endParaRPr lang="tr-TR" dirty="0">
              <a:solidFill>
                <a:srgbClr val="FF0000"/>
              </a:solidFill>
              <a:effectLst>
                <a:outerShdw blurRad="38100" dist="38100" dir="2700000" algn="tl">
                  <a:srgbClr val="000000">
                    <a:alpha val="43137"/>
                  </a:srgbClr>
                </a:outerShdw>
              </a:effectLst>
            </a:endParaRPr>
          </a:p>
          <a:p>
            <a:endParaRPr lang="tr-TR" dirty="0"/>
          </a:p>
          <a:p>
            <a:r>
              <a:rPr lang="en-US" sz="2800" dirty="0"/>
              <a:t>This completes the backpropagation section for convolutional neural networks.</a:t>
            </a:r>
          </a:p>
        </p:txBody>
      </p:sp>
      <p:sp>
        <p:nvSpPr>
          <p:cNvPr id="4" name="Date Placeholder 3"/>
          <p:cNvSpPr>
            <a:spLocks noGrp="1"/>
          </p:cNvSpPr>
          <p:nvPr>
            <p:ph type="dt" sz="half" idx="10"/>
          </p:nvPr>
        </p:nvSpPr>
        <p:spPr/>
        <p:txBody>
          <a:bodyPr/>
          <a:lstStyle/>
          <a:p>
            <a:fld id="{86AAA835-FC82-4210-8D70-92D097771B3E}" type="datetime1">
              <a:rPr lang="tr-TR" smtClean="0"/>
              <a:t>16.05.2025</a:t>
            </a:fld>
            <a:endParaRPr lang="tr-TR"/>
          </a:p>
        </p:txBody>
      </p:sp>
      <p:sp>
        <p:nvSpPr>
          <p:cNvPr id="5" name="Slide Number Placeholder 4"/>
          <p:cNvSpPr>
            <a:spLocks noGrp="1"/>
          </p:cNvSpPr>
          <p:nvPr>
            <p:ph type="sldNum" sz="quarter" idx="12"/>
          </p:nvPr>
        </p:nvSpPr>
        <p:spPr/>
        <p:txBody>
          <a:bodyPr/>
          <a:lstStyle/>
          <a:p>
            <a:fld id="{4C61373B-6CD7-433C-9DE2-D4B638969085}" type="slidenum">
              <a:rPr lang="tr-TR" smtClean="0"/>
              <a:t>103</a:t>
            </a:fld>
            <a:endParaRPr lang="tr-TR"/>
          </a:p>
        </p:txBody>
      </p:sp>
    </p:spTree>
    <p:extLst>
      <p:ext uri="{BB962C8B-B14F-4D97-AF65-F5344CB8AC3E}">
        <p14:creationId xmlns:p14="http://schemas.microsoft.com/office/powerpoint/2010/main" val="112926565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B177CC2-F784-4FDB-A81A-05589320B41B}"/>
              </a:ext>
            </a:extLst>
          </p:cNvPr>
          <p:cNvSpPr>
            <a:spLocks noGrp="1"/>
          </p:cNvSpPr>
          <p:nvPr>
            <p:ph type="title"/>
          </p:nvPr>
        </p:nvSpPr>
        <p:spPr/>
        <p:txBody>
          <a:bodyPr/>
          <a:lstStyle/>
          <a:p>
            <a:r>
              <a:rPr lang="tr-TR" b="1" dirty="0" err="1">
                <a:solidFill>
                  <a:srgbClr val="FF0000"/>
                </a:solidFill>
                <a:effectLst>
                  <a:outerShdw blurRad="38100" dist="38100" dir="2700000" algn="tl">
                    <a:srgbClr val="000000">
                      <a:alpha val="43137"/>
                    </a:srgbClr>
                  </a:outerShdw>
                </a:effectLst>
              </a:rPr>
              <a:t>Feed</a:t>
            </a:r>
            <a:r>
              <a:rPr lang="tr-TR" b="1" dirty="0">
                <a:solidFill>
                  <a:srgbClr val="FF0000"/>
                </a:solidFill>
                <a:effectLst>
                  <a:outerShdw blurRad="38100" dist="38100" dir="2700000" algn="tl">
                    <a:srgbClr val="000000">
                      <a:alpha val="43137"/>
                    </a:srgbClr>
                  </a:outerShdw>
                </a:effectLst>
              </a:rPr>
              <a:t> </a:t>
            </a:r>
            <a:r>
              <a:rPr lang="tr-TR" b="1" dirty="0" err="1">
                <a:solidFill>
                  <a:srgbClr val="FF0000"/>
                </a:solidFill>
                <a:effectLst>
                  <a:outerShdw blurRad="38100" dist="38100" dir="2700000" algn="tl">
                    <a:srgbClr val="000000">
                      <a:alpha val="43137"/>
                    </a:srgbClr>
                  </a:outerShdw>
                </a:effectLst>
              </a:rPr>
              <a:t>forward</a:t>
            </a:r>
            <a:r>
              <a:rPr lang="tr-TR" b="1" dirty="0">
                <a:solidFill>
                  <a:srgbClr val="FF0000"/>
                </a:solidFill>
                <a:effectLst>
                  <a:outerShdw blurRad="38100" dist="38100" dir="2700000" algn="tl">
                    <a:srgbClr val="000000">
                      <a:alpha val="43137"/>
                    </a:srgbClr>
                  </a:outerShdw>
                </a:effectLst>
              </a:rPr>
              <a:t> </a:t>
            </a:r>
            <a:r>
              <a:rPr lang="tr-TR" b="1" dirty="0" err="1">
                <a:solidFill>
                  <a:srgbClr val="FF0000"/>
                </a:solidFill>
                <a:effectLst>
                  <a:outerShdw blurRad="38100" dist="38100" dir="2700000" algn="tl">
                    <a:srgbClr val="000000">
                      <a:alpha val="43137"/>
                    </a:srgbClr>
                  </a:outerShdw>
                </a:effectLst>
              </a:rPr>
              <a:t>and</a:t>
            </a:r>
            <a:r>
              <a:rPr lang="tr-TR" b="1" dirty="0">
                <a:solidFill>
                  <a:srgbClr val="FF0000"/>
                </a:solidFill>
                <a:effectLst>
                  <a:outerShdw blurRad="38100" dist="38100" dir="2700000" algn="tl">
                    <a:srgbClr val="000000">
                      <a:alpha val="43137"/>
                    </a:srgbClr>
                  </a:outerShdw>
                </a:effectLst>
              </a:rPr>
              <a:t> </a:t>
            </a:r>
            <a:r>
              <a:rPr lang="tr-TR" b="1" dirty="0" err="1">
                <a:solidFill>
                  <a:srgbClr val="FF0000"/>
                </a:solidFill>
                <a:effectLst>
                  <a:outerShdw blurRad="38100" dist="38100" dir="2700000" algn="tl">
                    <a:srgbClr val="000000">
                      <a:alpha val="43137"/>
                    </a:srgbClr>
                  </a:outerShdw>
                </a:effectLst>
              </a:rPr>
              <a:t>Back</a:t>
            </a:r>
            <a:r>
              <a:rPr lang="tr-TR" b="1" dirty="0">
                <a:solidFill>
                  <a:srgbClr val="FF0000"/>
                </a:solidFill>
                <a:effectLst>
                  <a:outerShdw blurRad="38100" dist="38100" dir="2700000" algn="tl">
                    <a:srgbClr val="000000">
                      <a:alpha val="43137"/>
                    </a:srgbClr>
                  </a:outerShdw>
                </a:effectLst>
              </a:rPr>
              <a:t> </a:t>
            </a:r>
            <a:r>
              <a:rPr lang="tr-TR" b="1" dirty="0" err="1">
                <a:solidFill>
                  <a:srgbClr val="FF0000"/>
                </a:solidFill>
                <a:effectLst>
                  <a:outerShdw blurRad="38100" dist="38100" dir="2700000" algn="tl">
                    <a:srgbClr val="000000">
                      <a:alpha val="43137"/>
                    </a:srgbClr>
                  </a:outerShdw>
                </a:effectLst>
              </a:rPr>
              <a:t>propagation</a:t>
            </a:r>
            <a:endParaRPr lang="tr-TR" b="1" dirty="0">
              <a:solidFill>
                <a:srgbClr val="FF0000"/>
              </a:solidFill>
              <a:effectLst>
                <a:outerShdw blurRad="38100" dist="38100" dir="2700000" algn="tl">
                  <a:srgbClr val="000000">
                    <a:alpha val="43137"/>
                  </a:srgbClr>
                </a:outerShdw>
              </a:effectLst>
            </a:endParaRPr>
          </a:p>
        </p:txBody>
      </p:sp>
      <p:pic>
        <p:nvPicPr>
          <p:cNvPr id="7" name="İçerik Yer Tutucusu 6">
            <a:extLst>
              <a:ext uri="{FF2B5EF4-FFF2-40B4-BE49-F238E27FC236}">
                <a16:creationId xmlns:a16="http://schemas.microsoft.com/office/drawing/2014/main" id="{A14794A9-948E-43FE-8A27-8FE558AA9284}"/>
              </a:ext>
            </a:extLst>
          </p:cNvPr>
          <p:cNvPicPr>
            <a:picLocks noGrp="1" noChangeAspect="1"/>
          </p:cNvPicPr>
          <p:nvPr>
            <p:ph idx="1"/>
          </p:nvPr>
        </p:nvPicPr>
        <p:blipFill>
          <a:blip r:embed="rId2"/>
          <a:stretch>
            <a:fillRect/>
          </a:stretch>
        </p:blipFill>
        <p:spPr>
          <a:xfrm>
            <a:off x="3044546" y="1904999"/>
            <a:ext cx="7094536" cy="3753847"/>
          </a:xfrm>
        </p:spPr>
      </p:pic>
      <p:sp>
        <p:nvSpPr>
          <p:cNvPr id="4" name="Veri Yer Tutucusu 3">
            <a:extLst>
              <a:ext uri="{FF2B5EF4-FFF2-40B4-BE49-F238E27FC236}">
                <a16:creationId xmlns:a16="http://schemas.microsoft.com/office/drawing/2014/main" id="{0993052F-C8D2-4D10-AFAA-FC1A5FC47876}"/>
              </a:ext>
            </a:extLst>
          </p:cNvPr>
          <p:cNvSpPr>
            <a:spLocks noGrp="1"/>
          </p:cNvSpPr>
          <p:nvPr>
            <p:ph type="dt" sz="half" idx="10"/>
          </p:nvPr>
        </p:nvSpPr>
        <p:spPr/>
        <p:txBody>
          <a:bodyPr/>
          <a:lstStyle/>
          <a:p>
            <a:fld id="{86AAA835-FC82-4210-8D70-92D097771B3E}" type="datetime1">
              <a:rPr lang="tr-TR" smtClean="0"/>
              <a:t>16.05.2025</a:t>
            </a:fld>
            <a:endParaRPr lang="tr-TR"/>
          </a:p>
        </p:txBody>
      </p:sp>
      <p:sp>
        <p:nvSpPr>
          <p:cNvPr id="5" name="Slayt Numarası Yer Tutucusu 4">
            <a:extLst>
              <a:ext uri="{FF2B5EF4-FFF2-40B4-BE49-F238E27FC236}">
                <a16:creationId xmlns:a16="http://schemas.microsoft.com/office/drawing/2014/main" id="{BC511ACD-6BC0-409B-AA4F-E424A50FB6D1}"/>
              </a:ext>
            </a:extLst>
          </p:cNvPr>
          <p:cNvSpPr>
            <a:spLocks noGrp="1"/>
          </p:cNvSpPr>
          <p:nvPr>
            <p:ph type="sldNum" sz="quarter" idx="12"/>
          </p:nvPr>
        </p:nvSpPr>
        <p:spPr/>
        <p:txBody>
          <a:bodyPr/>
          <a:lstStyle/>
          <a:p>
            <a:fld id="{4C61373B-6CD7-433C-9DE2-D4B638969085}" type="slidenum">
              <a:rPr lang="tr-TR" smtClean="0"/>
              <a:t>104</a:t>
            </a:fld>
            <a:endParaRPr lang="tr-TR"/>
          </a:p>
        </p:txBody>
      </p:sp>
    </p:spTree>
    <p:extLst>
      <p:ext uri="{BB962C8B-B14F-4D97-AF65-F5344CB8AC3E}">
        <p14:creationId xmlns:p14="http://schemas.microsoft.com/office/powerpoint/2010/main" val="17109520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1367</TotalTime>
  <Words>8878</Words>
  <Application>Microsoft Office PowerPoint</Application>
  <PresentationFormat>Geniş ekran</PresentationFormat>
  <Paragraphs>948</Paragraphs>
  <Slides>104</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104</vt:i4>
      </vt:variant>
    </vt:vector>
  </HeadingPairs>
  <TitlesOfParts>
    <vt:vector size="109" baseType="lpstr">
      <vt:lpstr>Arial</vt:lpstr>
      <vt:lpstr>Calibri</vt:lpstr>
      <vt:lpstr>Century Gothic</vt:lpstr>
      <vt:lpstr>Wingdings 3</vt:lpstr>
      <vt:lpstr>Wisp</vt:lpstr>
      <vt:lpstr>WHAT IS CNN</vt:lpstr>
      <vt:lpstr>What is different in CNN?</vt:lpstr>
      <vt:lpstr>So what changes?</vt:lpstr>
      <vt:lpstr>Architecture Overview </vt:lpstr>
      <vt:lpstr>Regular Neural Nets for images</vt:lpstr>
      <vt:lpstr>Understanding of Convolutional Neural Network (CNN) </vt:lpstr>
      <vt:lpstr>RGB (red-green-blue) images</vt:lpstr>
      <vt:lpstr>3D volumes of neurons</vt:lpstr>
      <vt:lpstr>PowerPoint Sunusu</vt:lpstr>
      <vt:lpstr>PowerPoint Sunusu</vt:lpstr>
      <vt:lpstr>PowerPoint Sunusu</vt:lpstr>
      <vt:lpstr>Convolution Layer</vt:lpstr>
      <vt:lpstr>PowerPoint Sunusu</vt:lpstr>
      <vt:lpstr>Convolution</vt:lpstr>
      <vt:lpstr>Convolution</vt:lpstr>
      <vt:lpstr>Convolution</vt:lpstr>
      <vt:lpstr>PowerPoint Sunusu</vt:lpstr>
      <vt:lpstr>Deeper understanding of CNN</vt:lpstr>
      <vt:lpstr>Edge Detection Example </vt:lpstr>
      <vt:lpstr>PowerPoint Sunusu</vt:lpstr>
      <vt:lpstr>PowerPoint Sunusu</vt:lpstr>
      <vt:lpstr>PowerPoint Sunusu</vt:lpstr>
      <vt:lpstr>PowerPoint Sunusu</vt:lpstr>
      <vt:lpstr>Consider one more example: </vt:lpstr>
      <vt:lpstr>More Edge Detection </vt:lpstr>
      <vt:lpstr>Padding </vt:lpstr>
      <vt:lpstr>PowerPoint Sunusu</vt:lpstr>
      <vt:lpstr>PowerPoint Sunusu</vt:lpstr>
      <vt:lpstr>PowerPoint Sunusu</vt:lpstr>
      <vt:lpstr>Strided Convolutıions </vt:lpstr>
      <vt:lpstr>Convolutions Over Volume </vt:lpstr>
      <vt:lpstr>PowerPoint Sunusu</vt:lpstr>
      <vt:lpstr>PowerPoint Sunusu</vt:lpstr>
      <vt:lpstr>Generalized dimensions</vt:lpstr>
      <vt:lpstr>One Layer of a Convolutional Network </vt:lpstr>
      <vt:lpstr>PowerPoint Sunusu</vt:lpstr>
      <vt:lpstr>PowerPoint Sunusu</vt:lpstr>
      <vt:lpstr>Simple Convolutional Network Example </vt:lpstr>
      <vt:lpstr>PowerPoint Sunusu</vt:lpstr>
      <vt:lpstr>Hyperparameters of CNN</vt:lpstr>
      <vt:lpstr>Pooling Layers</vt:lpstr>
      <vt:lpstr>PowerPoint Sunusu</vt:lpstr>
      <vt:lpstr>Rectified Linear Unit-ReLU</vt:lpstr>
      <vt:lpstr>How does ReLU compare </vt:lpstr>
      <vt:lpstr>Sparsity </vt:lpstr>
      <vt:lpstr>CNN Example </vt:lpstr>
      <vt:lpstr>PowerPoint Sunusu</vt:lpstr>
      <vt:lpstr>Why Convolutions? </vt:lpstr>
      <vt:lpstr>PowerPoint Sunusu</vt:lpstr>
      <vt:lpstr>PowerPoint Sunusu</vt:lpstr>
      <vt:lpstr>Classic Networks </vt:lpstr>
      <vt:lpstr>LeNet-5</vt:lpstr>
      <vt:lpstr>AlexNet</vt:lpstr>
      <vt:lpstr>VGG-16</vt:lpstr>
      <vt:lpstr>ResNet </vt:lpstr>
      <vt:lpstr>Residual Blocks</vt:lpstr>
      <vt:lpstr>PowerPoint Sunusu</vt:lpstr>
      <vt:lpstr>PowerPoint Sunusu</vt:lpstr>
      <vt:lpstr>Why ResNets Work? </vt:lpstr>
      <vt:lpstr>PowerPoint Sunusu</vt:lpstr>
      <vt:lpstr>Networks in Networks and 1×1 Convolutions </vt:lpstr>
      <vt:lpstr>The Motivation Behind Inception Networks </vt:lpstr>
      <vt:lpstr>PowerPoint Sunusu</vt:lpstr>
      <vt:lpstr>PowerPoint Sunusu</vt:lpstr>
      <vt:lpstr>Inception Networks </vt:lpstr>
      <vt:lpstr>Transfer Learning: </vt:lpstr>
      <vt:lpstr>Data Augmentation: </vt:lpstr>
      <vt:lpstr>The Mathematics Behind Convolutional Neural Networks (CNNs) </vt:lpstr>
      <vt:lpstr>Introduction to Neural Networks </vt:lpstr>
      <vt:lpstr>Forward Propagation </vt:lpstr>
      <vt:lpstr>Backward Propagation </vt:lpstr>
      <vt:lpstr>Convolutional Neural Network (CNN) Architecture </vt:lpstr>
      <vt:lpstr>PowerPoint Sunusu</vt:lpstr>
      <vt:lpstr>Convolutional Neural Network (CNN): Forward Propagation   </vt:lpstr>
      <vt:lpstr>PowerPoint Sunusu</vt:lpstr>
      <vt:lpstr>PowerPoint Sunusu</vt:lpstr>
      <vt:lpstr>PowerPoint Sunusu</vt:lpstr>
      <vt:lpstr>PowerPoint Sunusu</vt:lpstr>
      <vt:lpstr>Fully Connected Layer </vt:lpstr>
      <vt:lpstr>PowerPoint Sunusu</vt:lpstr>
      <vt:lpstr>PowerPoint Sunusu</vt:lpstr>
      <vt:lpstr>PowerPoint Sunusu</vt:lpstr>
      <vt:lpstr>PowerPoint Sunusu</vt:lpstr>
      <vt:lpstr>PowerPoint Sunusu</vt:lpstr>
      <vt:lpstr>Non-Linear transformation </vt:lpstr>
      <vt:lpstr>PowerPoint Sunusu</vt:lpstr>
      <vt:lpstr>Forward Propagation Summary </vt:lpstr>
      <vt:lpstr>PowerPoint Sunusu</vt:lpstr>
      <vt:lpstr>Convolutional Neural Network (CNN): Backward Propagation </vt:lpstr>
      <vt:lpstr>PowerPoint Sunusu</vt:lpstr>
      <vt:lpstr>PowerPoint Sunusu</vt:lpstr>
      <vt:lpstr>PowerPoint Sunusu</vt:lpstr>
      <vt:lpstr>Backward Propagation: Fully Connected Layer </vt:lpstr>
      <vt:lpstr>PowerPoint Sunusu</vt:lpstr>
      <vt:lpstr>1. Change in error with respect to output </vt:lpstr>
      <vt:lpstr>2. Change in output with respect to Z2 (linear transformation output) </vt:lpstr>
      <vt:lpstr>3. Change in Z2 with respect to W (Weights) </vt:lpstr>
      <vt:lpstr>Backward Propagation: Convolution Layer </vt:lpstr>
      <vt:lpstr>PowerPoint Sunusu</vt:lpstr>
      <vt:lpstr>1. Change in Z2 with respect to A1 </vt:lpstr>
      <vt:lpstr>2. Change in A1 with respect to Z1 </vt:lpstr>
      <vt:lpstr>3. Change in Z1 with respect to filter f </vt:lpstr>
      <vt:lpstr>PowerPoint Sunusu</vt:lpstr>
      <vt:lpstr>Feed forward and Back propagation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CNN</dc:title>
  <dc:creator>sami ekici</dc:creator>
  <cp:lastModifiedBy>sami ekici</cp:lastModifiedBy>
  <cp:revision>189</cp:revision>
  <cp:lastPrinted>2025-05-16T10:10:32Z</cp:lastPrinted>
  <dcterms:created xsi:type="dcterms:W3CDTF">2020-05-04T21:03:41Z</dcterms:created>
  <dcterms:modified xsi:type="dcterms:W3CDTF">2025-05-16T10:10:35Z</dcterms:modified>
</cp:coreProperties>
</file>